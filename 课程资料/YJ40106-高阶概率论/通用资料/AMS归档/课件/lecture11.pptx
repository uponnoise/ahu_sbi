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73" r:id="rId2"/>
    <p:sldId id="474" r:id="rId3"/>
    <p:sldId id="475" r:id="rId4"/>
    <p:sldId id="476" r:id="rId5"/>
    <p:sldId id="477" r:id="rId6"/>
    <p:sldId id="478" r:id="rId7"/>
    <p:sldId id="479" r:id="rId8"/>
    <p:sldId id="480" r:id="rId9"/>
    <p:sldId id="481" r:id="rId10"/>
    <p:sldId id="482" r:id="rId11"/>
    <p:sldId id="483" r:id="rId12"/>
    <p:sldId id="484" r:id="rId13"/>
    <p:sldId id="485" r:id="rId14"/>
    <p:sldId id="486" r:id="rId15"/>
    <p:sldId id="487" r:id="rId16"/>
  </p:sldIdLst>
  <p:sldSz cx="9144000" cy="6858000" type="screen4x3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7A5C3-0C48-4A28-9B54-580079D6ADA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47487-FE42-471D-BE12-B804E3F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8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5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2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3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8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4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6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8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9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7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0228-ABE1-4604-A714-F25D34DAF5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9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BE3EB8-04E6-4A39-BB6F-A624F76A5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Section 7.2 Expectation of sums of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39B283-FD4A-4B50-9E77-B3F6A707E7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Proposition: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have a joint </a:t>
                </a:r>
                <a:r>
                  <a:rPr lang="en-US" altLang="zh-CN" dirty="0" err="1"/>
                  <a:t>pmf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then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have a joint pdf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∞ 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𝑑𝑥𝑑𝑦</m:t>
                              </m:r>
                            </m:e>
                          </m:nary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Corollary: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In general: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39B283-FD4A-4B50-9E77-B3F6A707E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2878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892D5-F0B5-4977-ACF7-AAE8D4574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D054BB-8580-4D57-9A65-5881C5599E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An accident occurs at a point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that is uniformly distributed on a road of length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dirty="0"/>
                  <a:t>. At the time of the accident, an ambulance is at a location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that is also uniformly distributed on the road. Assume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independent, find the expected distance between the ambulance and the point of the accident.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D054BB-8580-4D57-9A65-5881C5599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808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830A15-EA32-4CFC-ACE2-F4C433E1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A22B91-C1CF-41A0-BC7C-E47212D7CB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independent and identically distributed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having distribution function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the expected value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/>
                  <a:t>. The quantity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sample mean. Compute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A22B91-C1CF-41A0-BC7C-E47212D7CB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635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DB504-68CD-4E69-9E74-3FB8D876B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Expectations of common discrete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DD86108-088D-4207-B223-F064563BF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Example 3. Boole’s inequality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DD86108-088D-4207-B223-F064563BF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346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CBDD1-59D5-4D4D-963B-4788EBD95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Expectations of common discrete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F7BFCF-2117-48B9-A9F3-DA4D080C36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AutoNum type="arabicPeriod"/>
                </a:pPr>
                <a:r>
                  <a:rPr lang="en-US" altLang="zh-CN" dirty="0"/>
                  <a:t>Binomial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parameter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514350" indent="-514350">
                  <a:buAutoNum type="arabicPeriod"/>
                </a:pPr>
                <a:r>
                  <a:rPr lang="en-US" altLang="zh-CN" dirty="0"/>
                  <a:t>Negative binomial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</a:t>
                </a:r>
              </a:p>
              <a:p>
                <a:pPr marL="514350" indent="-514350">
                  <a:buAutoNum type="arabicPeriod"/>
                </a:pPr>
                <a:r>
                  <a:rPr lang="en-US" altLang="zh-CN" dirty="0"/>
                  <a:t>Hypergeometric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balls are randomly selected from an urn containing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balls of which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white, find the expected number of white balls selected.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F7BFCF-2117-48B9-A9F3-DA4D080C36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26" t="-2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574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B978A-07B6-49CE-B779-32D6C85E0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Example 3. Expected number of matches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9377BBE-A612-4BB7-A834-E5B72B2AFC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Suppose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people throw their hats into the center of a room. The hats are mixed up and each person randomly selected one. Find the expected number of people who select their own hat.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9377BBE-A612-4BB7-A834-E5B72B2AFC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3907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C4D30-7483-4403-BEA7-B439D8FE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4 Coupon collecting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8D465B-066D-4D08-BC33-BE97B0348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Suppose that there are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types of coupons, and each time one obtains a coupon, it is equally likely to be any of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types. Find the expected number of coupons one needs to amass before obtaining a complete set of at least one of each type.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8D465B-066D-4D08-BC33-BE97B0348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715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62708-46CA-4ECE-8E6F-A2EBDD80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Example 5 Expected number of runs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BC073F-F5A7-436A-8CF8-B7C643DB2F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Suppose that a sequence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1’s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0’s is randomly permuted so that each of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possible arrangements is equally likely. Any consecutive string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is said to constitute a run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dirty="0"/>
                  <a:t>, for example. 1, 1, 1, 0, 1, 1, 0, 0, 1, 0, then there are 3 runs of 1’s. We are interested in computing the mean number of </a:t>
                </a:r>
                <a:r>
                  <a:rPr lang="en-US" altLang="zh-CN"/>
                  <a:t>such runs.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BC073F-F5A7-436A-8CF8-B7C643DB2F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2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854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1B77E-15DE-4BC6-8D3A-F0F97E40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6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521926-1814-4489-90F6-573426D20A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denote events.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b="0" dirty="0">
                    <a:latin typeface="Cambria Math" panose="02040503050406030204" pitchFamily="18" charset="0"/>
                  </a:rPr>
                  <a:t>let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∈ 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⋂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Define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consider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1−</m:t>
                    </m:r>
                    <m:nary>
                      <m:naryPr>
                        <m:chr m:val="∏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521926-1814-4489-90F6-573426D20A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022" r="-444"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184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53D41-991B-40CB-9786-34FE9754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6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4FA9205-8FF5-4781-AC32-5493335C6D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? 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Condition  1: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is nonnegative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Condition 2: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nary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finite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4FA9205-8FF5-4781-AC32-5493335C6D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617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A1272-4177-48F0-9E00-4223A05C8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7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0DF730B-F237-4664-965B-E795B1A1E1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A useful inequality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Assume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a random value taking nonnegative integer values. 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1,  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0DF730B-F237-4664-965B-E795B1A1E1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1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6566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165C32-47A1-4F45-9290-D2199F4A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7.2.1</a:t>
            </a:r>
            <a:br>
              <a:rPr lang="en-US" altLang="zh-CN" dirty="0"/>
            </a:b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526E4F-EDBB-422D-B6AC-3BB8995E45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90600"/>
                <a:ext cx="82296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Obtain bounds from expectations via the probabilistic method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Problem: 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a set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a function.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Goal: Lower bound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lim>
                        </m:limLow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Idea: randomly choose an element from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consider the random variable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estimate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526E4F-EDBB-422D-B6AC-3BB8995E45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90600"/>
                <a:ext cx="8229600" cy="4525963"/>
              </a:xfrm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491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49447-9A1E-4E11-8A18-0CFDB7F03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BFA0B8-9F45-436F-BBC2-BBF4EDD9B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The maximum number of Hamilton paths in a tournament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3408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E9342-5AA1-4A20-8D9A-9B818EE0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F662F9-289B-4CD4-8DAD-6932A17D7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000" dirty="0"/>
              <a:t>A grove of 52 trees is arranged in a circular fashion. If 15 chipmunks live in these trees, show that there is a group of 7 consecutive trees that together house at lease 3 chipmunks. 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846531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20086-8EB5-4874-9C05-2D73FD18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3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9411CC-33BF-4B4F-B31F-6D19FB0557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2800" dirty="0"/>
                  <a:t>Definition: The van der </a:t>
                </a:r>
                <a:r>
                  <a:rPr lang="en-US" altLang="zh-CN" sz="2800" dirty="0" err="1"/>
                  <a:t>Waerden</a:t>
                </a:r>
                <a:r>
                  <a:rPr lang="en-US" altLang="zh-CN" sz="2800" dirty="0"/>
                  <a:t> number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(2,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 is the smallest 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 such that any red/blue coloring of  {1,2,…,n} contains a monochromatic 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800" dirty="0"/>
                  <a:t>-term arithmetic progression.</a:t>
                </a:r>
              </a:p>
              <a:p>
                <a:pPr marL="0" indent="0">
                  <a:buNone/>
                </a:pPr>
                <a:r>
                  <a:rPr lang="en-US" altLang="zh-CN" sz="2800" dirty="0"/>
                  <a:t>Theorem: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US" altLang="zh-CN" dirty="0"/>
                  <a:t>.</a:t>
                </a:r>
                <a:br>
                  <a:rPr lang="en-US" altLang="zh-CN"/>
                </a:b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9411CC-33BF-4B4F-B31F-6D19FB055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348" r="-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1923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76020</TotalTime>
  <Words>625</Words>
  <Application>Microsoft Office PowerPoint</Application>
  <PresentationFormat>全屏显示(4:3)</PresentationFormat>
  <Paragraphs>50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宋体</vt:lpstr>
      <vt:lpstr>Arial</vt:lpstr>
      <vt:lpstr>Calibri</vt:lpstr>
      <vt:lpstr>Cambria Math</vt:lpstr>
      <vt:lpstr>Office Theme</vt:lpstr>
      <vt:lpstr>Section 7.2 Expectation of sums of r.v.</vt:lpstr>
      <vt:lpstr>Example 1</vt:lpstr>
      <vt:lpstr>Example 2</vt:lpstr>
      <vt:lpstr>Expectations of common discrete r.v.</vt:lpstr>
      <vt:lpstr>Expectations of common discrete r.v.</vt:lpstr>
      <vt:lpstr>Example 3. Expected number of matches</vt:lpstr>
      <vt:lpstr>Example 4 Coupon collecting </vt:lpstr>
      <vt:lpstr>Example 5 Expected number of runs</vt:lpstr>
      <vt:lpstr>Example 6 </vt:lpstr>
      <vt:lpstr>Example 6 </vt:lpstr>
      <vt:lpstr>Example 7 </vt:lpstr>
      <vt:lpstr>7.2.1 </vt:lpstr>
      <vt:lpstr>Example 1</vt:lpstr>
      <vt:lpstr>Example 2</vt:lpstr>
      <vt:lpstr>Example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311</dc:title>
  <dc:creator>Joe</dc:creator>
  <cp:lastModifiedBy>xing</cp:lastModifiedBy>
  <cp:revision>241</cp:revision>
  <cp:lastPrinted>2026-05-10T06:30:12Z</cp:lastPrinted>
  <dcterms:created xsi:type="dcterms:W3CDTF">2013-08-27T21:54:20Z</dcterms:created>
  <dcterms:modified xsi:type="dcterms:W3CDTF">2026-05-10T06:30:47Z</dcterms:modified>
</cp:coreProperties>
</file>