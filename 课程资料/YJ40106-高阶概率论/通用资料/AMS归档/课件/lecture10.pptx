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466" r:id="rId2"/>
    <p:sldId id="467" r:id="rId3"/>
    <p:sldId id="468" r:id="rId4"/>
    <p:sldId id="469" r:id="rId5"/>
    <p:sldId id="470" r:id="rId6"/>
    <p:sldId id="453" r:id="rId7"/>
    <p:sldId id="454" r:id="rId8"/>
    <p:sldId id="455" r:id="rId9"/>
    <p:sldId id="471" r:id="rId10"/>
    <p:sldId id="472" r:id="rId11"/>
    <p:sldId id="456" r:id="rId12"/>
    <p:sldId id="457" r:id="rId13"/>
    <p:sldId id="458" r:id="rId14"/>
    <p:sldId id="473" r:id="rId15"/>
    <p:sldId id="474" r:id="rId16"/>
    <p:sldId id="475" r:id="rId17"/>
    <p:sldId id="476" r:id="rId18"/>
    <p:sldId id="477" r:id="rId19"/>
    <p:sldId id="478" r:id="rId20"/>
    <p:sldId id="479" r:id="rId21"/>
    <p:sldId id="480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47A5C3-0C48-4A28-9B54-580079D6ADAF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947487-FE42-471D-BE12-B804E3F12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188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556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925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333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681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546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165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389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197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362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619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071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BA0228-ABE1-4604-A714-F25D34DAF5CE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098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F93E5A-F08F-4864-80B9-7C252FD06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3600" dirty="0"/>
              <a:t>Section 6.5 Conditional distributions</a:t>
            </a:r>
            <a:br>
              <a:rPr lang="en-US" altLang="zh-CN" sz="3600" dirty="0"/>
            </a:br>
            <a:r>
              <a:rPr lang="en-US" altLang="zh-CN" sz="3600" dirty="0"/>
              <a:t> Continuous Case</a:t>
            </a:r>
            <a:endParaRPr lang="zh-CN" altLang="en-US" sz="3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AC8E6FF-709D-457F-A917-9EFF50493D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altLang="zh-CN" dirty="0"/>
                  <a:t>If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have a joint pdf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, then the conditional pdf of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given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(here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&gt;0) </m:t>
                    </m:r>
                  </m:oMath>
                </a14:m>
                <a:r>
                  <a:rPr lang="en-US" altLang="zh-CN" dirty="0"/>
                  <a:t>is defined as: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Conditional </a:t>
                </a:r>
                <a:r>
                  <a:rPr lang="en-US" altLang="zh-CN" dirty="0" err="1"/>
                  <a:t>cmf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If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are independent,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AC8E6FF-709D-457F-A917-9EFF50493D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35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5285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A080AF-C582-4442-BCC6-C33F3581B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1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AD5A104-0AE9-454A-AA3D-E31F86E86A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The joint density of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is given by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num>
                                <m:den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2−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0&lt;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&lt;1, 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0,      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𝑜𝑡h𝑒𝑟𝑤𝑖𝑠𝑒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Compute the conditional density of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given that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zh-CN" dirty="0"/>
                  <a:t>, where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0&lt;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US" altLang="zh-CN" dirty="0"/>
                  <a:t>.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AD5A104-0AE9-454A-AA3D-E31F86E86A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617" r="-1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5680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EDC25B-0007-4ED2-89CD-66EE78D47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Example 2. the bivariate normal distribution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BFE51E9-DBE2-464E-80C7-9C6F4BF8B0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altLang="zh-CN" dirty="0"/>
                  <a:t>The density function is given by </a:t>
                </a:r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Find the conditional density of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given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zh-CN" dirty="0"/>
                  <a:t>.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BFE51E9-DBE2-464E-80C7-9C6F4BF8B0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28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3">
            <a:extLst>
              <a:ext uri="{FF2B5EF4-FFF2-40B4-BE49-F238E27FC236}">
                <a16:creationId xmlns:a16="http://schemas.microsoft.com/office/drawing/2014/main" id="{373FC20B-3076-4C2C-B2D7-7117DCEBA0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218148"/>
            <a:ext cx="8229600" cy="296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862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D07CE2E-084A-4F9E-B504-47F931AD4B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1000" y="533400"/>
                <a:ext cx="8229600" cy="5715000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altLang="zh-CN" dirty="0"/>
                  <a:t>Suppose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is continuous with density function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zh-CN" dirty="0"/>
                  <a:t> and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is discrete. Consider the conditional distribution of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given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dirty="0"/>
                  <a:t>.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</m:oMath>
                  </m:oMathPara>
                </a14:m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e>
                          </m:d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</m:oMath>
                  </m:oMathPara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b="0" dirty="0"/>
                  <a:t>Let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→0,</m:t>
                    </m:r>
                  </m:oMath>
                </a14:m>
                <a:r>
                  <a:rPr lang="en-US" altLang="zh-CN" b="0" dirty="0"/>
                  <a:t> we get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b="0" dirty="0"/>
              </a:p>
              <a:p>
                <a:pPr marL="0" indent="0">
                  <a:buNone/>
                </a:pPr>
                <a:endParaRPr lang="en-US" altLang="zh-CN" b="0" dirty="0"/>
              </a:p>
              <a:p>
                <a:pPr marL="0" indent="0">
                  <a:buNone/>
                </a:pPr>
                <a:endParaRPr lang="en-US" altLang="zh-CN" b="0" dirty="0"/>
              </a:p>
              <a:p>
                <a:pPr marL="0" indent="0">
                  <a:buNone/>
                </a:pPr>
                <a:endParaRPr lang="en-US" altLang="zh-CN" b="0" dirty="0"/>
              </a:p>
              <a:p>
                <a:pPr marL="0" indent="0">
                  <a:buNone/>
                </a:pPr>
                <a:endParaRPr lang="en-US" altLang="zh-CN" b="0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b="0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D07CE2E-084A-4F9E-B504-47F931AD4B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533400"/>
                <a:ext cx="8229600" cy="5715000"/>
              </a:xfrm>
              <a:blipFill>
                <a:blip r:embed="rId2"/>
                <a:stretch>
                  <a:fillRect l="-1778" t="-21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7680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704B8B-77CD-4A0F-80D3-6DD8DB436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3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CDBB830-A09C-41E0-829D-7ECA012B7F6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Consider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trials having a common probability of success. Suppose that the success probability is choose uniformly from (0,1). What is the conditional distribution of the success probability given that the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zh-CN" dirty="0"/>
                  <a:t> trials results in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dirty="0"/>
                  <a:t> success?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CDBB830-A09C-41E0-829D-7ECA012B7F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617" r="-1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0339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Section 6.7 Joint Probability Distribution of Functions of </a:t>
            </a:r>
            <a:r>
              <a:rPr lang="en-US" dirty="0" err="1"/>
              <a:t>rv’s</a:t>
            </a:r>
            <a:r>
              <a:rPr lang="en-US" dirty="0"/>
              <a:t>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X, Y jointly continuous with joint </a:t>
            </a:r>
            <a:r>
              <a:rPr lang="en-US" dirty="0" err="1"/>
              <a:t>pdf</a:t>
            </a:r>
            <a:r>
              <a:rPr lang="en-US" dirty="0"/>
              <a:t> f(</a:t>
            </a:r>
            <a:r>
              <a:rPr lang="en-US" dirty="0" err="1"/>
              <a:t>x,y</a:t>
            </a:r>
            <a:r>
              <a:rPr lang="en-US" dirty="0"/>
              <a:t>).</a:t>
            </a:r>
          </a:p>
          <a:p>
            <a:r>
              <a:rPr lang="en-US" dirty="0"/>
              <a:t>Let U=g</a:t>
            </a:r>
            <a:r>
              <a:rPr lang="en-US" baseline="-25000" dirty="0"/>
              <a:t>1</a:t>
            </a:r>
            <a:r>
              <a:rPr lang="en-US" dirty="0"/>
              <a:t>(X,Y), and V=g</a:t>
            </a:r>
            <a:r>
              <a:rPr lang="en-US" baseline="-25000" dirty="0"/>
              <a:t>2</a:t>
            </a:r>
            <a:r>
              <a:rPr lang="en-US" dirty="0"/>
              <a:t>(X,Y) be functions of X,Y</a:t>
            </a:r>
          </a:p>
          <a:p>
            <a:r>
              <a:rPr lang="en-US" dirty="0"/>
              <a:t>Find joint </a:t>
            </a:r>
            <a:r>
              <a:rPr lang="en-US" dirty="0" err="1"/>
              <a:t>pdf</a:t>
            </a:r>
            <a:r>
              <a:rPr lang="en-US" dirty="0"/>
              <a:t> of U, V.</a:t>
            </a:r>
          </a:p>
        </p:txBody>
      </p:sp>
    </p:spTree>
    <p:extLst>
      <p:ext uri="{BB962C8B-B14F-4D97-AF65-F5344CB8AC3E}">
        <p14:creationId xmlns:p14="http://schemas.microsoft.com/office/powerpoint/2010/main" val="929011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Joint Probability Distribution of Functions of </a:t>
            </a:r>
            <a:r>
              <a:rPr lang="en-US" dirty="0" err="1"/>
              <a:t>rv’s</a:t>
            </a:r>
            <a:r>
              <a:rPr lang="en-US" dirty="0"/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Assume:</a:t>
                </a:r>
              </a:p>
              <a:p>
                <a:pPr lvl="1"/>
                <a:r>
                  <a:rPr lang="en-US" dirty="0"/>
                  <a:t>The equations u=g</a:t>
                </a:r>
                <a:r>
                  <a:rPr lang="en-US" baseline="-25000" dirty="0"/>
                  <a:t>1</a:t>
                </a:r>
                <a:r>
                  <a:rPr lang="en-US" dirty="0"/>
                  <a:t>(</a:t>
                </a:r>
                <a:r>
                  <a:rPr lang="en-US" dirty="0" err="1"/>
                  <a:t>x,y</a:t>
                </a:r>
                <a:r>
                  <a:rPr lang="en-US" dirty="0"/>
                  <a:t>) and v=g</a:t>
                </a:r>
                <a:r>
                  <a:rPr lang="en-US" baseline="-25000" dirty="0"/>
                  <a:t>2</a:t>
                </a:r>
                <a:r>
                  <a:rPr lang="en-US" dirty="0"/>
                  <a:t>(</a:t>
                </a:r>
                <a:r>
                  <a:rPr lang="en-US" dirty="0" err="1"/>
                  <a:t>x,y</a:t>
                </a:r>
                <a:r>
                  <a:rPr lang="en-US" dirty="0"/>
                  <a:t>) can be uniquely solved for x and y in terms of u and v:  x=h</a:t>
                </a:r>
                <a:r>
                  <a:rPr lang="en-US" baseline="-25000" dirty="0"/>
                  <a:t>1</a:t>
                </a:r>
                <a:r>
                  <a:rPr lang="en-US" dirty="0"/>
                  <a:t>(</a:t>
                </a:r>
                <a:r>
                  <a:rPr lang="en-US" dirty="0" err="1"/>
                  <a:t>u,v</a:t>
                </a:r>
                <a:r>
                  <a:rPr lang="en-US" dirty="0"/>
                  <a:t>), y=h</a:t>
                </a:r>
                <a:r>
                  <a:rPr lang="en-US" baseline="-25000" dirty="0"/>
                  <a:t>2</a:t>
                </a:r>
                <a:r>
                  <a:rPr lang="en-US" dirty="0"/>
                  <a:t>(</a:t>
                </a:r>
                <a:r>
                  <a:rPr lang="en-US" dirty="0" err="1"/>
                  <a:t>u,v</a:t>
                </a:r>
                <a:r>
                  <a:rPr lang="en-US" dirty="0"/>
                  <a:t>)</a:t>
                </a:r>
              </a:p>
              <a:p>
                <a:pPr lvl="1"/>
                <a:r>
                  <a:rPr lang="en-US" dirty="0"/>
                  <a:t>The functions g</a:t>
                </a:r>
                <a:r>
                  <a:rPr lang="en-US" baseline="-25000" dirty="0"/>
                  <a:t>1</a:t>
                </a:r>
                <a:r>
                  <a:rPr lang="en-US" dirty="0"/>
                  <a:t> and g</a:t>
                </a:r>
                <a:r>
                  <a:rPr lang="en-US" baseline="-25000" dirty="0"/>
                  <a:t>2</a:t>
                </a:r>
                <a:r>
                  <a:rPr lang="en-US" dirty="0"/>
                  <a:t> have continuous partial derivatives at all points (</a:t>
                </a:r>
                <a:r>
                  <a:rPr lang="en-US" dirty="0" err="1"/>
                  <a:t>x,y</a:t>
                </a:r>
                <a:r>
                  <a:rPr lang="en-US" dirty="0"/>
                  <a:t>) and are such that the 2-by-2 determinant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𝐽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  <m:r>
                          <a:rPr lang="en-US" b="0" i="1" smtClean="0">
                            <a:latin typeface="Cambria Math"/>
                          </a:rPr>
                          <m:t>,</m:t>
                        </m:r>
                        <m:r>
                          <a:rPr lang="en-US" b="0" i="1" smtClean="0">
                            <a:latin typeface="Cambria Math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/>
                                        </a:rPr>
                                        <m:t>𝑔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/>
                                    </a:rPr>
                                    <m:t>𝜕</m:t>
                                  </m:r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𝑔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/>
                                    </a:rPr>
                                    <m:t>𝜕</m:t>
                                  </m:r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𝑦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𝑔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/>
                                        </a:rPr>
                                        <m:t>2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/>
                                    </a:rPr>
                                    <m:t>𝜕</m:t>
                                  </m:r>
                                  <m:r>
                                    <a:rPr lang="en-US" i="1">
                                      <a:latin typeface="Cambria Math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𝑔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/>
                                        </a:rPr>
                                        <m:t>2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/>
                                    </a:rPr>
                                    <m:t>𝜕</m:t>
                                  </m:r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𝑦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brk m:alnAt="7"/>
                          </m:rPr>
                          <a:rPr lang="en-US" i="1">
                            <a:latin typeface="Cambria Math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𝑔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brk m:alnAt="7"/>
                          </m:rPr>
                          <a:rPr lang="en-US" i="1">
                            <a:latin typeface="Cambria Math"/>
                          </a:rPr>
                          <m:t>𝜕</m:t>
                        </m:r>
                        <m:r>
                          <a:rPr lang="en-US" i="1">
                            <a:latin typeface="Cambria Math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brk m:alnAt="7"/>
                          </m:rPr>
                          <a:rPr lang="en-US" i="1">
                            <a:latin typeface="Cambria Math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brk m:alnAt="7"/>
                          </m:rPr>
                          <a:rPr lang="en-US" i="1">
                            <a:latin typeface="Cambria Math"/>
                          </a:rPr>
                          <m:t>𝜕</m:t>
                        </m:r>
                        <m:r>
                          <a:rPr lang="en-US" b="0" i="1" smtClean="0">
                            <a:latin typeface="Cambria Math"/>
                          </a:rPr>
                          <m:t>𝑦</m:t>
                        </m:r>
                      </m:den>
                    </m:f>
                  </m:oMath>
                </a14:m>
                <a:r>
                  <a:rPr lang="en-US" dirty="0"/>
                  <a:t>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brk m:alnAt="7"/>
                          </m:rPr>
                          <a:rPr lang="en-US" i="1">
                            <a:latin typeface="Cambria Math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𝑔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brk m:alnAt="7"/>
                          </m:rPr>
                          <a:rPr lang="en-US" i="1">
                            <a:latin typeface="Cambria Math"/>
                          </a:rPr>
                          <m:t>𝜕</m:t>
                        </m:r>
                        <m:r>
                          <a:rPr lang="en-US" b="0" i="1" smtClean="0">
                            <a:latin typeface="Cambria Math"/>
                          </a:rPr>
                          <m:t>𝑦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brk m:alnAt="7"/>
                          </m:rPr>
                          <a:rPr lang="en-US" i="1">
                            <a:latin typeface="Cambria Math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brk m:alnAt="7"/>
                          </m:rPr>
                          <a:rPr lang="en-US" i="1">
                            <a:latin typeface="Cambria Math"/>
                          </a:rPr>
                          <m:t>𝜕</m:t>
                        </m:r>
                        <m:r>
                          <a:rPr lang="en-US" i="1">
                            <a:latin typeface="Cambria Math"/>
                          </a:rPr>
                          <m:t>𝑥</m:t>
                        </m:r>
                      </m:den>
                    </m:f>
                    <m:r>
                      <a:rPr lang="en-US" i="1" smtClean="0">
                        <a:latin typeface="Cambria Math"/>
                        <a:ea typeface="Cambria Math"/>
                      </a:rPr>
                      <m:t>≠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0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457200" lvl="1" indent="0">
                  <a:buNone/>
                </a:pPr>
                <a:r>
                  <a:rPr lang="en-US" dirty="0"/>
                  <a:t>at all points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(</m:t>
                    </m:r>
                    <m:r>
                      <a:rPr lang="en-US" b="0" i="1" smtClean="0">
                        <a:latin typeface="Cambria Math"/>
                      </a:rPr>
                      <m:t>𝑥</m:t>
                    </m:r>
                    <m:r>
                      <a:rPr lang="en-US" b="0" i="1" smtClean="0">
                        <a:latin typeface="Cambria Math"/>
                      </a:rPr>
                      <m:t>,</m:t>
                    </m:r>
                    <m:r>
                      <a:rPr lang="en-US" b="0" i="1" smtClean="0">
                        <a:latin typeface="Cambria Math"/>
                      </a:rPr>
                      <m:t>𝑦</m:t>
                    </m:r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481" t="-3504" r="-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6705600" y="1066800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[Section 6.7, Ross]</a:t>
            </a:r>
          </a:p>
        </p:txBody>
      </p:sp>
    </p:spTree>
    <p:extLst>
      <p:ext uri="{BB962C8B-B14F-4D97-AF65-F5344CB8AC3E}">
        <p14:creationId xmlns:p14="http://schemas.microsoft.com/office/powerpoint/2010/main" val="12698767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Joint Probability Distribution of Functions of </a:t>
            </a:r>
            <a:r>
              <a:rPr lang="en-US" dirty="0" err="1"/>
              <a:t>rv’s</a:t>
            </a:r>
            <a:r>
              <a:rPr lang="en-US" dirty="0"/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Then, the joint </a:t>
                </a:r>
                <a:r>
                  <a:rPr lang="en-US" dirty="0" err="1"/>
                  <a:t>pdf</a:t>
                </a:r>
                <a:r>
                  <a:rPr lang="en-US" dirty="0"/>
                  <a:t> of U and V is given by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𝑈</m:t>
                        </m:r>
                        <m:r>
                          <a:rPr lang="en-US" b="0" i="1" smtClean="0">
                            <a:latin typeface="Cambria Math"/>
                          </a:rPr>
                          <m:t>,</m:t>
                        </m:r>
                        <m:r>
                          <a:rPr lang="en-US" b="0" i="1" smtClean="0">
                            <a:latin typeface="Cambria Math"/>
                          </a:rPr>
                          <m:t>𝑉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𝑢</m:t>
                        </m:r>
                        <m:r>
                          <a:rPr lang="en-US" b="0" i="1" smtClean="0">
                            <a:latin typeface="Cambria Math"/>
                          </a:rPr>
                          <m:t>,</m:t>
                        </m:r>
                        <m:r>
                          <a:rPr lang="en-US" b="0" i="1" smtClean="0">
                            <a:latin typeface="Cambria Math"/>
                          </a:rPr>
                          <m:t>𝑣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𝑋</m:t>
                            </m:r>
                            <m:r>
                              <a:rPr lang="en-US" i="1">
                                <a:latin typeface="Cambria Math"/>
                              </a:rPr>
                              <m:t>,</m:t>
                            </m:r>
                            <m:r>
                              <a:rPr lang="en-US" i="1">
                                <a:latin typeface="Cambria Math"/>
                              </a:rPr>
                              <m:t>𝑌</m:t>
                            </m:r>
                          </m:sub>
                        </m:sSub>
                        <m:r>
                          <a:rPr lang="en-US" i="1">
                            <a:latin typeface="Cambria Math"/>
                          </a:rPr>
                          <m:t>(</m:t>
                        </m:r>
                        <m:r>
                          <a:rPr lang="en-US" i="1">
                            <a:latin typeface="Cambria Math"/>
                          </a:rPr>
                          <m:t>𝑥</m:t>
                        </m:r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a:rPr lang="en-US" i="1">
                            <a:latin typeface="Cambria Math"/>
                          </a:rPr>
                          <m:t>𝑦</m:t>
                        </m:r>
                        <m:r>
                          <a:rPr lang="en-US" i="1">
                            <a:latin typeface="Cambria Math"/>
                          </a:rPr>
                          <m:t>)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|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𝐽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𝑦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/>
                              </a:rPr>
                              <m:t>|</m:t>
                            </m:r>
                          </m:e>
                          <m:sup/>
                        </m:sSup>
                      </m:den>
                    </m:f>
                  </m:oMath>
                </a14:m>
                <a:r>
                  <a:rPr lang="en-US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𝑋</m:t>
                            </m:r>
                            <m:r>
                              <a:rPr lang="en-US" i="1">
                                <a:latin typeface="Cambria Math"/>
                              </a:rPr>
                              <m:t>,</m:t>
                            </m:r>
                            <m:r>
                              <a:rPr lang="en-US" i="1">
                                <a:latin typeface="Cambria Math"/>
                              </a:rPr>
                              <m:t>𝑌</m:t>
                            </m:r>
                          </m:sub>
                        </m:sSub>
                        <m:r>
                          <a:rPr lang="en-US" i="1">
                            <a:latin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h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/>
                          </a:rPr>
                          <m:t>(</m:t>
                        </m:r>
                        <m:r>
                          <a:rPr lang="en-US" b="0" i="1" smtClean="0">
                            <a:latin typeface="Cambria Math"/>
                          </a:rPr>
                          <m:t>𝑢</m:t>
                        </m:r>
                        <m:r>
                          <a:rPr lang="en-US" b="0" i="1" smtClean="0">
                            <a:latin typeface="Cambria Math"/>
                          </a:rPr>
                          <m:t>,</m:t>
                        </m:r>
                        <m:r>
                          <a:rPr lang="en-US" b="0" i="1" smtClean="0">
                            <a:latin typeface="Cambria Math"/>
                          </a:rPr>
                          <m:t>𝑣</m:t>
                        </m:r>
                        <m:r>
                          <a:rPr lang="en-US" b="0" i="1" smtClean="0">
                            <a:latin typeface="Cambria Math"/>
                          </a:rPr>
                          <m:t>),</m:t>
                        </m:r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h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/>
                          </a:rPr>
                          <m:t>(</m:t>
                        </m:r>
                        <m:r>
                          <a:rPr lang="en-US" b="0" i="1" smtClean="0">
                            <a:latin typeface="Cambria Math"/>
                          </a:rPr>
                          <m:t>𝑢</m:t>
                        </m:r>
                        <m:r>
                          <a:rPr lang="en-US" b="0" i="1" smtClean="0">
                            <a:latin typeface="Cambria Math"/>
                          </a:rPr>
                          <m:t>,</m:t>
                        </m:r>
                        <m:r>
                          <a:rPr lang="en-US" b="0" i="1" smtClean="0">
                            <a:latin typeface="Cambria Math"/>
                          </a:rPr>
                          <m:t>𝑣</m:t>
                        </m:r>
                        <m:r>
                          <a:rPr lang="en-US" b="0" i="1" smtClean="0">
                            <a:latin typeface="Cambria Math"/>
                          </a:rPr>
                          <m:t>))</m:t>
                        </m:r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/>
                              </a:rPr>
                              <m:t>|</m:t>
                            </m:r>
                            <m:r>
                              <a:rPr lang="en-US" i="1">
                                <a:latin typeface="Cambria Math"/>
                              </a:rPr>
                              <m:t>𝐽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𝑢</m:t>
                                    </m:r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𝑣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𝑢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𝑣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)</m:t>
                                </m:r>
                              </m:e>
                            </m:d>
                            <m:r>
                              <a:rPr lang="en-US" i="1">
                                <a:latin typeface="Cambria Math"/>
                              </a:rPr>
                              <m:t>|</m:t>
                            </m:r>
                          </m:e>
                          <m:sup/>
                        </m:sSup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17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6705600" y="1066800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[Section 6.7, Ross]</a:t>
            </a:r>
          </a:p>
        </p:txBody>
      </p:sp>
    </p:spTree>
    <p:extLst>
      <p:ext uri="{BB962C8B-B14F-4D97-AF65-F5344CB8AC3E}">
        <p14:creationId xmlns:p14="http://schemas.microsoft.com/office/powerpoint/2010/main" val="3836300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8ACB5D-28BC-4259-8EA8-EC4B92B8D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4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E569C43-13C4-4CB6-B756-EAA60A07199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altLang="zh-CN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be jointly continuous </a:t>
                </a:r>
                <a:r>
                  <a:rPr lang="en-US" altLang="zh-CN" dirty="0" err="1"/>
                  <a:t>r.v.</a:t>
                </a:r>
                <a:r>
                  <a:rPr lang="en-US" altLang="zh-CN" dirty="0"/>
                  <a:t> with pdf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dirty="0"/>
                  <a:t>.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/>
                  <a:t>. Find the joint density function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/>
                  <a:t>. 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For instance, 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a.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are independent uniform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(0,1)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b.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are independent exponential </a:t>
                </a:r>
                <a:r>
                  <a:rPr lang="en-US" altLang="zh-CN" dirty="0" err="1"/>
                  <a:t>r.v.</a:t>
                </a:r>
                <a:r>
                  <a:rPr lang="en-US" altLang="zh-CN" dirty="0"/>
                  <a:t> with parameters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/>
                  <a:t>. 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c.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are independent standard normal </a:t>
                </a:r>
                <a:r>
                  <a:rPr lang="en-US" altLang="zh-CN" dirty="0" err="1"/>
                  <a:t>r.v.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E569C43-13C4-4CB6-B756-EAA60A0719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2695" r="-1407" b="-32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2427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F04529-2837-4109-8919-A9D6F0970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5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4455FB9-366C-44B5-B2A6-1E511B8E9E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Let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denote a random point in the plane, and assume that the rectangular coordinates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are independent standard normal </a:t>
                </a:r>
                <a:r>
                  <a:rPr lang="en-US" altLang="zh-CN" dirty="0" err="1"/>
                  <a:t>r.v.</a:t>
                </a:r>
                <a:r>
                  <a:rPr lang="en-US" altLang="zh-CN" dirty="0"/>
                  <a:t>. We are interested in the joint distribution of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altLang="zh-CN" dirty="0"/>
                  <a:t>, the polar coordinate representation of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.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4455FB9-366C-44B5-B2A6-1E511B8E9E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617" r="-17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22218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Example6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785" y="1371600"/>
            <a:ext cx="5944430" cy="2257740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1206" y="4562346"/>
            <a:ext cx="6001588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1409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7975" y="519112"/>
            <a:ext cx="5852025" cy="5805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581400" y="685800"/>
            <a:ext cx="838200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v=x/y</a:t>
            </a:r>
          </a:p>
        </p:txBody>
      </p:sp>
    </p:spTree>
    <p:extLst>
      <p:ext uri="{BB962C8B-B14F-4D97-AF65-F5344CB8AC3E}">
        <p14:creationId xmlns:p14="http://schemas.microsoft.com/office/powerpoint/2010/main" val="23300202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828800"/>
            <a:ext cx="5998845" cy="313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613321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BE3EB8-04E6-4A39-BB6F-A624F76A5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Section 7.2 Expectation of sums of </a:t>
            </a:r>
            <a:r>
              <a:rPr lang="en-US" altLang="zh-CN" dirty="0" err="1"/>
              <a:t>r.v.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039B283-FD4A-4B50-9E77-B3F6A707E7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Proposition: If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have a joint </a:t>
                </a:r>
                <a:r>
                  <a:rPr lang="en-US" altLang="zh-CN" dirty="0" err="1"/>
                  <a:t>pmf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then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d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  <m:sup/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e>
                    </m:nary>
                  </m:oMath>
                </a14:m>
                <a:r>
                  <a:rPr lang="en-US" altLang="zh-CN" dirty="0"/>
                  <a:t>.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If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have a joint pdf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, then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∞ </m:t>
                          </m:r>
                        </m:sup>
                        <m:e>
                          <m:nary>
                            <m:nary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𝑑𝑥𝑑𝑦</m:t>
                              </m:r>
                            </m:e>
                          </m:nary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</m:nary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Corollary: 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In general: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+⋯+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039B283-FD4A-4B50-9E77-B3F6A707E7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6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28788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4892D5-F0B5-4977-ACF7-AAE8D4574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1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0D054BB-8580-4D57-9A65-5881C5599E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An accident occurs at a point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that is uniformly distributed on a road of length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altLang="zh-CN" dirty="0"/>
                  <a:t>. At the time of the accident, an ambulance is at a location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that is also uniformly distributed on the road. Assume that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are independent, find the expected distance between the ambulance and the point of the accident.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0D054BB-8580-4D57-9A65-5881C5599E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617" r="-1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28087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830A15-EA32-4CFC-ACE2-F4C433E1F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2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BA22B91-C1CF-41A0-BC7C-E47212D7CB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be independent and identically distributed </a:t>
                </a:r>
                <a:r>
                  <a:rPr lang="en-US" altLang="zh-CN" dirty="0" err="1"/>
                  <a:t>r.v.</a:t>
                </a:r>
                <a:r>
                  <a:rPr lang="en-US" altLang="zh-CN" dirty="0"/>
                  <a:t> having distribution function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 the expected value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altLang="zh-CN" dirty="0"/>
                  <a:t>. The quantity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nary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is the sample mean. Compute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BA22B91-C1CF-41A0-BC7C-E47212D7CB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6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96354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5DB504-68CD-4E69-9E74-3FB8D876B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Expectations of common discrete </a:t>
            </a:r>
            <a:r>
              <a:rPr lang="en-US" altLang="zh-CN" dirty="0" err="1"/>
              <a:t>r.v.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DD86108-088D-4207-B223-F064563BF4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Example 3. Boole’s inequality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⋃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≤</m:t>
                      </m:r>
                      <m:nary>
                        <m:naryPr>
                          <m:chr m:val="∑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DD86108-088D-4207-B223-F064563BF4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7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34629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0CBDD1-59D5-4D4D-963B-4788EBD95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Expectations of common discrete </a:t>
            </a:r>
            <a:r>
              <a:rPr lang="en-US" altLang="zh-CN" dirty="0" err="1"/>
              <a:t>r.v.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7F7BFCF-2117-48B9-A9F3-DA4D080C36E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AutoNum type="arabicPeriod"/>
                </a:pPr>
                <a:r>
                  <a:rPr lang="en-US" altLang="zh-CN" dirty="0"/>
                  <a:t>Binomial </a:t>
                </a:r>
                <a:r>
                  <a:rPr lang="en-US" altLang="zh-CN" dirty="0" err="1"/>
                  <a:t>r.v.</a:t>
                </a:r>
                <a:r>
                  <a:rPr lang="en-US" altLang="zh-CN" dirty="0"/>
                  <a:t> with parameter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pPr marL="514350" indent="-514350">
                  <a:buAutoNum type="arabicPeriod"/>
                </a:pPr>
                <a:r>
                  <a:rPr lang="en-US" altLang="zh-CN" dirty="0"/>
                  <a:t>Negative binomial </a:t>
                </a:r>
                <a:r>
                  <a:rPr lang="en-US" altLang="zh-CN" dirty="0" err="1"/>
                  <a:t>r.v.</a:t>
                </a:r>
                <a:r>
                  <a:rPr lang="en-US" altLang="zh-CN" dirty="0"/>
                  <a:t> </a:t>
                </a:r>
              </a:p>
              <a:p>
                <a:pPr marL="514350" indent="-514350">
                  <a:buAutoNum type="arabicPeriod"/>
                </a:pPr>
                <a:r>
                  <a:rPr lang="en-US" altLang="zh-CN" dirty="0"/>
                  <a:t>Hypergeometric </a:t>
                </a:r>
                <a:r>
                  <a:rPr lang="en-US" altLang="zh-CN" dirty="0" err="1"/>
                  <a:t>r.v.</a:t>
                </a:r>
                <a:r>
                  <a:rPr lang="en-US" altLang="zh-CN" dirty="0"/>
                  <a:t> If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balls are randomly selected from an urn containing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balls of which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are white, find the expected number of white balls selected.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7F7BFCF-2117-48B9-A9F3-DA4D080C36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926" t="-20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95744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4B978A-07B6-49CE-B779-32D6C85E0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Example 3. Expected number of matches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9377BBE-A612-4BB7-A834-E5B72B2AFC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Suppose that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people throw their hats into the center of a room. The hats are mixed up and each person randomly selected one. Find the expected number of people who select their own hat.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9377BBE-A612-4BB7-A834-E5B72B2AFC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617" r="-18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39078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1C4D30-7483-4403-BEA7-B439D8FE9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4 Coupon collecting 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48D465B-066D-4D08-BC33-BE97B0348C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Suppose that there are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types of coupons, and each time one obtains a coupon, it is equally likely to be any of the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types. Find the expected number of coupons one needs to amass before obtaining a complete set of at least one of each type.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48D465B-066D-4D08-BC33-BE97B0348C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617" r="-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7150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562708-46CA-4ECE-8E6F-A2EBDD805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Example 5 Expected number of runs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1BC073F-F5A7-436A-8CF8-B7C643DB2F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Suppose that a sequence of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1’s and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0’s is randomly permuted so that each of the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possible arrangements is equally likely. Any consecutive string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/>
                  <a:t>is said to constitute a run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zh-CN" dirty="0"/>
                  <a:t>, for example. 1, 1, 1, 0, 1, 1, 0, 0, 1, 0, then there are 3 runs of 1’s. We are interested in computing the mean number of </a:t>
                </a:r>
                <a:r>
                  <a:rPr lang="en-US" altLang="zh-CN"/>
                  <a:t>such runs.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1BC073F-F5A7-436A-8CF8-B7C643DB2F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617" r="-23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68540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75920</TotalTime>
  <Words>992</Words>
  <Application>Microsoft Office PowerPoint</Application>
  <PresentationFormat>全屏显示(4:3)</PresentationFormat>
  <Paragraphs>79</Paragraphs>
  <Slides>21</Slides>
  <Notes>0</Notes>
  <HiddenSlides>2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6" baseType="lpstr">
      <vt:lpstr>宋体</vt:lpstr>
      <vt:lpstr>Arial</vt:lpstr>
      <vt:lpstr>Calibri</vt:lpstr>
      <vt:lpstr>Cambria Math</vt:lpstr>
      <vt:lpstr>Office Theme</vt:lpstr>
      <vt:lpstr>Section 6.5 Conditional distributions  Continuous Case</vt:lpstr>
      <vt:lpstr>Example 1</vt:lpstr>
      <vt:lpstr>Example 2. the bivariate normal distribution</vt:lpstr>
      <vt:lpstr>PowerPoint 演示文稿</vt:lpstr>
      <vt:lpstr>Example 3</vt:lpstr>
      <vt:lpstr>Section 6.7 Joint Probability Distribution of Functions of rv’s  </vt:lpstr>
      <vt:lpstr>Joint Probability Distribution of Functions of rv’s  </vt:lpstr>
      <vt:lpstr>Joint Probability Distribution of Functions of rv’s  </vt:lpstr>
      <vt:lpstr>Example 4</vt:lpstr>
      <vt:lpstr>Example 5</vt:lpstr>
      <vt:lpstr>Example6</vt:lpstr>
      <vt:lpstr>PowerPoint 演示文稿</vt:lpstr>
      <vt:lpstr>PowerPoint 演示文稿</vt:lpstr>
      <vt:lpstr>Section 7.2 Expectation of sums of r.v.</vt:lpstr>
      <vt:lpstr>Example 1</vt:lpstr>
      <vt:lpstr>Example 2</vt:lpstr>
      <vt:lpstr>Expectations of common discrete r.v.</vt:lpstr>
      <vt:lpstr>Expectations of common discrete r.v.</vt:lpstr>
      <vt:lpstr>Example 3. Expected number of matches</vt:lpstr>
      <vt:lpstr>Example 4 Coupon collecting </vt:lpstr>
      <vt:lpstr>Example 5 Expected number of runs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AMS 311</dc:title>
  <dc:creator>Joe</dc:creator>
  <cp:lastModifiedBy>xing</cp:lastModifiedBy>
  <cp:revision>232</cp:revision>
  <dcterms:created xsi:type="dcterms:W3CDTF">2013-08-27T21:54:20Z</dcterms:created>
  <dcterms:modified xsi:type="dcterms:W3CDTF">2026-05-06T06:49:24Z</dcterms:modified>
</cp:coreProperties>
</file>