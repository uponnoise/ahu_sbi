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0" r:id="rId2"/>
    <p:sldId id="275" r:id="rId3"/>
    <p:sldId id="290" r:id="rId4"/>
    <p:sldId id="324" r:id="rId5"/>
    <p:sldId id="325" r:id="rId6"/>
    <p:sldId id="326" r:id="rId7"/>
    <p:sldId id="291" r:id="rId8"/>
    <p:sldId id="327" r:id="rId9"/>
    <p:sldId id="328" r:id="rId10"/>
    <p:sldId id="329" r:id="rId11"/>
    <p:sldId id="301" r:id="rId12"/>
    <p:sldId id="302" r:id="rId13"/>
    <p:sldId id="303" r:id="rId14"/>
    <p:sldId id="304" r:id="rId15"/>
    <p:sldId id="336" r:id="rId16"/>
    <p:sldId id="339" r:id="rId17"/>
    <p:sldId id="340" r:id="rId18"/>
    <p:sldId id="341" r:id="rId19"/>
    <p:sldId id="342" r:id="rId20"/>
    <p:sldId id="343" r:id="rId21"/>
    <p:sldId id="344" r:id="rId22"/>
    <p:sldId id="345" r:id="rId23"/>
    <p:sldId id="34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47A5C3-0C48-4A28-9B54-580079D6ADAF}" type="datetimeFigureOut">
              <a:rPr lang="en-US" smtClean="0"/>
              <a:t>3/6/2026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947487-FE42-471D-BE12-B804E3F12713}" type="slidenum">
              <a:rPr lang="en-US" smtClean="0"/>
              <a:t>‹#›</a:t>
            </a:fld>
            <a:endParaRPr lang="en-US"/>
          </a:p>
        </p:txBody>
      </p:sp>
    </p:spTree>
    <p:extLst>
      <p:ext uri="{BB962C8B-B14F-4D97-AF65-F5344CB8AC3E}">
        <p14:creationId xmlns:p14="http://schemas.microsoft.com/office/powerpoint/2010/main" val="1130188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a:t>
            </a:r>
            <a:r>
              <a:rPr lang="en-US" dirty="0" err="1" smtClean="0"/>
              <a:t>Braingle</a:t>
            </a:r>
            <a:r>
              <a:rPr lang="en-US" dirty="0" smtClean="0"/>
              <a:t>, “Under which cup?”</a:t>
            </a:r>
          </a:p>
          <a:p>
            <a:r>
              <a:rPr lang="en-US" b="1" dirty="0" smtClean="0"/>
              <a:t>Answer</a:t>
            </a:r>
          </a:p>
          <a:p>
            <a:r>
              <a:rPr lang="en-US" dirty="0" smtClean="0"/>
              <a:t>The rightmost cup. </a:t>
            </a:r>
            <a:br>
              <a:rPr lang="en-US" dirty="0" smtClean="0"/>
            </a:br>
            <a:r>
              <a:rPr lang="en-US" dirty="0" smtClean="0"/>
              <a:t/>
            </a:r>
            <a:br>
              <a:rPr lang="en-US" dirty="0" smtClean="0"/>
            </a:br>
            <a:r>
              <a:rPr lang="en-US" dirty="0" smtClean="0"/>
              <a:t>The rightmost cup has a half chance of holding the coin, and the other cups have a quarter chance.</a:t>
            </a:r>
            <a:br>
              <a:rPr lang="en-US" dirty="0" smtClean="0"/>
            </a:br>
            <a:r>
              <a:rPr lang="en-US" dirty="0" smtClean="0"/>
              <a:t/>
            </a:r>
            <a:br>
              <a:rPr lang="en-US" dirty="0" smtClean="0"/>
            </a:br>
            <a:r>
              <a:rPr lang="en-US" dirty="0" smtClean="0"/>
              <a:t>Pretend that </a:t>
            </a:r>
            <a:r>
              <a:rPr lang="en-US" dirty="0" err="1" smtClean="0"/>
              <a:t>Os</a:t>
            </a:r>
            <a:r>
              <a:rPr lang="en-US" dirty="0" smtClean="0"/>
              <a:t> represent cups, and Q represents the cup with the coin.</a:t>
            </a:r>
            <a:br>
              <a:rPr lang="en-US" dirty="0" smtClean="0"/>
            </a:br>
            <a:r>
              <a:rPr lang="en-US" dirty="0" smtClean="0"/>
              <a:t/>
            </a:r>
            <a:br>
              <a:rPr lang="en-US" dirty="0" smtClean="0"/>
            </a:br>
            <a:r>
              <a:rPr lang="en-US" dirty="0" smtClean="0"/>
              <a:t>The game starts like this:</a:t>
            </a:r>
            <a:br>
              <a:rPr lang="en-US" dirty="0" smtClean="0"/>
            </a:br>
            <a:r>
              <a:rPr lang="en-US" dirty="0" smtClean="0"/>
              <a:t/>
            </a:r>
            <a:br>
              <a:rPr lang="en-US" dirty="0" smtClean="0"/>
            </a:br>
            <a:r>
              <a:rPr lang="en-US" dirty="0" smtClean="0"/>
              <a:t>OOQ</a:t>
            </a:r>
            <a:br>
              <a:rPr lang="en-US" dirty="0" smtClean="0"/>
            </a:br>
            <a:r>
              <a:rPr lang="en-US" dirty="0" smtClean="0"/>
              <a:t/>
            </a:r>
            <a:br>
              <a:rPr lang="en-US" dirty="0" smtClean="0"/>
            </a:br>
            <a:r>
              <a:rPr lang="en-US" dirty="0" smtClean="0"/>
              <a:t>Then your friend switches the rightmost cup with another, giving two possibilities, with equal chance:</a:t>
            </a:r>
            <a:br>
              <a:rPr lang="en-US" dirty="0" smtClean="0"/>
            </a:br>
            <a:r>
              <a:rPr lang="en-US" dirty="0" smtClean="0"/>
              <a:t/>
            </a:r>
            <a:br>
              <a:rPr lang="en-US" dirty="0" smtClean="0"/>
            </a:br>
            <a:r>
              <a:rPr lang="en-US" dirty="0" smtClean="0"/>
              <a:t>OQO</a:t>
            </a:r>
            <a:br>
              <a:rPr lang="en-US" dirty="0" smtClean="0"/>
            </a:br>
            <a:r>
              <a:rPr lang="en-US" dirty="0" smtClean="0"/>
              <a:t>QOO</a:t>
            </a:r>
            <a:br>
              <a:rPr lang="en-US" dirty="0" smtClean="0"/>
            </a:br>
            <a:r>
              <a:rPr lang="en-US" dirty="0" smtClean="0"/>
              <a:t/>
            </a:r>
            <a:br>
              <a:rPr lang="en-US" dirty="0" smtClean="0"/>
            </a:br>
            <a:r>
              <a:rPr lang="en-US" dirty="0" smtClean="0"/>
              <a:t>Your friend then moves the cups again, but doesn't touch the rightmost cup. The only switch possible is with the leftmost cup and the middle cup. This gives two possibilities with equal chance:</a:t>
            </a:r>
            <a:br>
              <a:rPr lang="en-US" dirty="0" smtClean="0"/>
            </a:br>
            <a:r>
              <a:rPr lang="en-US" dirty="0" smtClean="0"/>
              <a:t/>
            </a:r>
            <a:br>
              <a:rPr lang="en-US" dirty="0" smtClean="0"/>
            </a:br>
            <a:r>
              <a:rPr lang="en-US" dirty="0" smtClean="0"/>
              <a:t>QOO</a:t>
            </a:r>
            <a:br>
              <a:rPr lang="en-US" dirty="0" smtClean="0"/>
            </a:br>
            <a:r>
              <a:rPr lang="en-US" dirty="0" smtClean="0"/>
              <a:t>OQO</a:t>
            </a:r>
            <a:br>
              <a:rPr lang="en-US" dirty="0" smtClean="0"/>
            </a:br>
            <a:r>
              <a:rPr lang="en-US" dirty="0" smtClean="0"/>
              <a:t/>
            </a:r>
            <a:br>
              <a:rPr lang="en-US" dirty="0" smtClean="0"/>
            </a:br>
            <a:r>
              <a:rPr lang="en-US" dirty="0" smtClean="0"/>
              <a:t>Lastly, your friend switches the rightmost cup with another cup. If the first possibility shown above was true, there would be two possibilities, with equal chance:</a:t>
            </a:r>
            <a:br>
              <a:rPr lang="en-US" dirty="0" smtClean="0"/>
            </a:br>
            <a:r>
              <a:rPr lang="en-US" dirty="0" smtClean="0"/>
              <a:t/>
            </a:r>
            <a:br>
              <a:rPr lang="en-US" dirty="0" smtClean="0"/>
            </a:br>
            <a:r>
              <a:rPr lang="en-US" dirty="0" smtClean="0"/>
              <a:t>OOQ</a:t>
            </a:r>
            <a:br>
              <a:rPr lang="en-US" dirty="0" smtClean="0"/>
            </a:br>
            <a:r>
              <a:rPr lang="en-US" dirty="0" smtClean="0"/>
              <a:t>QOO</a:t>
            </a:r>
            <a:br>
              <a:rPr lang="en-US" dirty="0" smtClean="0"/>
            </a:br>
            <a:r>
              <a:rPr lang="en-US" dirty="0" smtClean="0"/>
              <a:t/>
            </a:r>
            <a:br>
              <a:rPr lang="en-US" dirty="0" smtClean="0"/>
            </a:br>
            <a:r>
              <a:rPr lang="en-US" dirty="0" smtClean="0"/>
              <a:t>If the second possibility shown above (In the second switch) was true, there would be two possibilities with equal chance:</a:t>
            </a:r>
            <a:br>
              <a:rPr lang="en-US" dirty="0" smtClean="0"/>
            </a:br>
            <a:r>
              <a:rPr lang="en-US" dirty="0" smtClean="0"/>
              <a:t/>
            </a:r>
            <a:br>
              <a:rPr lang="en-US" dirty="0" smtClean="0"/>
            </a:br>
            <a:r>
              <a:rPr lang="en-US" dirty="0" smtClean="0"/>
              <a:t>OOQ</a:t>
            </a:r>
            <a:br>
              <a:rPr lang="en-US" dirty="0" smtClean="0"/>
            </a:br>
            <a:r>
              <a:rPr lang="en-US" dirty="0" smtClean="0"/>
              <a:t>OQO</a:t>
            </a:r>
            <a:br>
              <a:rPr lang="en-US" dirty="0" smtClean="0"/>
            </a:br>
            <a:r>
              <a:rPr lang="en-US" dirty="0" smtClean="0"/>
              <a:t/>
            </a:r>
            <a:br>
              <a:rPr lang="en-US" dirty="0" smtClean="0"/>
            </a:br>
            <a:r>
              <a:rPr lang="en-US" dirty="0" smtClean="0"/>
              <a:t>This means there are four possibilities altogether, with equal chance:</a:t>
            </a:r>
            <a:br>
              <a:rPr lang="en-US" dirty="0" smtClean="0"/>
            </a:br>
            <a:r>
              <a:rPr lang="en-US" dirty="0" smtClean="0"/>
              <a:t/>
            </a:r>
            <a:br>
              <a:rPr lang="en-US" dirty="0" smtClean="0"/>
            </a:br>
            <a:r>
              <a:rPr lang="en-US" dirty="0" smtClean="0"/>
              <a:t>OOQ</a:t>
            </a:r>
            <a:br>
              <a:rPr lang="en-US" dirty="0" smtClean="0"/>
            </a:br>
            <a:r>
              <a:rPr lang="en-US" dirty="0" smtClean="0"/>
              <a:t>QOO</a:t>
            </a:r>
            <a:br>
              <a:rPr lang="en-US" dirty="0" smtClean="0"/>
            </a:br>
            <a:r>
              <a:rPr lang="en-US" dirty="0" smtClean="0"/>
              <a:t>OOQ</a:t>
            </a:r>
            <a:br>
              <a:rPr lang="en-US" dirty="0" smtClean="0"/>
            </a:br>
            <a:r>
              <a:rPr lang="en-US" dirty="0" smtClean="0"/>
              <a:t>OQO</a:t>
            </a:r>
            <a:br>
              <a:rPr lang="en-US" dirty="0" smtClean="0"/>
            </a:br>
            <a:r>
              <a:rPr lang="en-US" dirty="0" smtClean="0"/>
              <a:t/>
            </a:r>
            <a:br>
              <a:rPr lang="en-US" dirty="0" smtClean="0"/>
            </a:br>
            <a:r>
              <a:rPr lang="en-US" dirty="0" smtClean="0"/>
              <a:t>This means each possibility equals to a quarter chance, and because there are two possibilities with the rightmost cup having the coin, there is a half chance that the coin is there.</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1</a:t>
            </a:fld>
            <a:endParaRPr lang="en-US"/>
          </a:p>
        </p:txBody>
      </p:sp>
    </p:spTree>
    <p:extLst>
      <p:ext uri="{BB962C8B-B14F-4D97-AF65-F5344CB8AC3E}">
        <p14:creationId xmlns:p14="http://schemas.microsoft.com/office/powerpoint/2010/main" val="2032835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#31, p59, Ross7</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5</a:t>
            </a:fld>
            <a:endParaRPr lang="en-US"/>
          </a:p>
        </p:txBody>
      </p:sp>
    </p:spTree>
    <p:extLst>
      <p:ext uri="{BB962C8B-B14F-4D97-AF65-F5344CB8AC3E}">
        <p14:creationId xmlns:p14="http://schemas.microsoft.com/office/powerpoint/2010/main" val="3580690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Example 5n, Ross7</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6</a:t>
            </a:fld>
            <a:endParaRPr lang="en-US"/>
          </a:p>
        </p:txBody>
      </p:sp>
    </p:spTree>
    <p:extLst>
      <p:ext uri="{BB962C8B-B14F-4D97-AF65-F5344CB8AC3E}">
        <p14:creationId xmlns:p14="http://schemas.microsoft.com/office/powerpoint/2010/main" val="990279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25604" name="Slide Number Placeholder 3"/>
          <p:cNvSpPr>
            <a:spLocks noGrp="1"/>
          </p:cNvSpPr>
          <p:nvPr>
            <p:ph type="sldNum" sz="quarter" idx="5"/>
          </p:nvPr>
        </p:nvSpPr>
        <p:spPr/>
        <p:txBody>
          <a:bodyPr/>
          <a:lstStyle/>
          <a:p>
            <a:pPr>
              <a:defRPr/>
            </a:pPr>
            <a:fld id="{F12446F5-08BF-43F3-BC2F-5C37F8453F5F}" type="slidenum">
              <a:rPr lang="en-US">
                <a:solidFill>
                  <a:prstClr val="black"/>
                </a:solidFill>
              </a:rPr>
              <a:pPr>
                <a:defRPr/>
              </a:pPr>
              <a:t>11</a:t>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 3.2, </a:t>
            </a:r>
            <a:r>
              <a:rPr lang="en-US" dirty="0" err="1" smtClean="0"/>
              <a:t>Ghah</a:t>
            </a:r>
            <a:r>
              <a:rPr lang="en-US" dirty="0" smtClean="0"/>
              <a:t> 2nd</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15</a:t>
            </a:fld>
            <a:endParaRPr lang="en-US"/>
          </a:p>
        </p:txBody>
      </p:sp>
    </p:spTree>
    <p:extLst>
      <p:ext uri="{BB962C8B-B14F-4D97-AF65-F5344CB8AC3E}">
        <p14:creationId xmlns:p14="http://schemas.microsoft.com/office/powerpoint/2010/main" val="447682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Got to here, 9/5/13</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17</a:t>
            </a:fld>
            <a:endParaRPr lang="en-US"/>
          </a:p>
        </p:txBody>
      </p:sp>
    </p:spTree>
    <p:extLst>
      <p:ext uri="{BB962C8B-B14F-4D97-AF65-F5344CB8AC3E}">
        <p14:creationId xmlns:p14="http://schemas.microsoft.com/office/powerpoint/2010/main" val="2178554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ABA0228-ABE1-4604-A714-F25D34DAF5C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18655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BA0228-ABE1-4604-A714-F25D34DAF5C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851925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BA0228-ABE1-4604-A714-F25D34DAF5C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3043333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ABA0228-ABE1-4604-A714-F25D34DAF5C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303681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ABA0228-ABE1-4604-A714-F25D34DAF5CE}"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660546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ABA0228-ABE1-4604-A714-F25D34DAF5CE}"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452165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BA0228-ABE1-4604-A714-F25D34DAF5CE}" type="datetimeFigureOut">
              <a:rPr lang="en-US" smtClean="0"/>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375938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BA0228-ABE1-4604-A714-F25D34DAF5C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3706197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BA0228-ABE1-4604-A714-F25D34DAF5CE}"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2051362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BA0228-ABE1-4604-A714-F25D34DAF5C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071619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BA0228-ABE1-4604-A714-F25D34DAF5CE}"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99207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BA0228-ABE1-4604-A714-F25D34DAF5CE}" type="datetimeFigureOut">
              <a:rPr lang="en-US" smtClean="0"/>
              <a:t>3/6/2026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CD53E-91A7-4750-8DAF-FC98E89A8DF6}" type="slidenum">
              <a:rPr lang="en-US" smtClean="0"/>
              <a:t>‹#›</a:t>
            </a:fld>
            <a:endParaRPr lang="en-US"/>
          </a:p>
        </p:txBody>
      </p:sp>
    </p:spTree>
    <p:extLst>
      <p:ext uri="{BB962C8B-B14F-4D97-AF65-F5344CB8AC3E}">
        <p14:creationId xmlns:p14="http://schemas.microsoft.com/office/powerpoint/2010/main" val="1821098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smtClean="0"/>
              <a:t>A Puzzle</a:t>
            </a:r>
            <a:endParaRPr lang="en-US" dirty="0"/>
          </a:p>
        </p:txBody>
      </p:sp>
      <p:sp>
        <p:nvSpPr>
          <p:cNvPr id="3" name="Content Placeholder 2"/>
          <p:cNvSpPr>
            <a:spLocks noGrp="1"/>
          </p:cNvSpPr>
          <p:nvPr>
            <p:ph idx="1"/>
          </p:nvPr>
        </p:nvSpPr>
        <p:spPr>
          <a:xfrm>
            <a:off x="228600" y="1066800"/>
            <a:ext cx="8686800" cy="4525963"/>
          </a:xfrm>
        </p:spPr>
        <p:txBody>
          <a:bodyPr>
            <a:noAutofit/>
          </a:bodyPr>
          <a:lstStyle/>
          <a:p>
            <a:pPr marL="0" indent="0">
              <a:buNone/>
            </a:pPr>
            <a:r>
              <a:rPr lang="en-US" sz="2000" dirty="0" smtClean="0"/>
              <a:t>Henry has been caught stealing cattle, and is brought into town for justice. The judge is his ex-wife Gretchen, who wants to show him some sympathy, but the law clearly calls for two shots to be taken at Henry from close range. To make things a little better for Henry, Gretchen tells him she will place two bullets into a six-chambered revolver in successive order. She will spin the chamber, close it, and take one shot. If Henry is still alive, she will then either take another shot, or spin the chamber again before shooting.</a:t>
            </a:r>
            <a:br>
              <a:rPr lang="en-US" sz="2000" dirty="0" smtClean="0"/>
            </a:br>
            <a:r>
              <a:rPr lang="en-US" sz="2000" dirty="0" smtClean="0"/>
              <a:t/>
            </a:r>
            <a:br>
              <a:rPr lang="en-US" sz="2000" dirty="0" smtClean="0"/>
            </a:br>
            <a:r>
              <a:rPr lang="en-US" sz="2000" dirty="0" smtClean="0"/>
              <a:t>Henry is a bit incredulous that his own ex-wife would carry out the punishment, and a bit sad that she was always such a rule follower. He steels himself as Gretchen loads the chambers, spins the revolver, and pulls the trigger. Whew! It was blank. Then Gretchen asks, "Do you want me to pull the trigger again, or should I spin the chamber a second time before pulling the trigger?"</a:t>
            </a:r>
            <a:br>
              <a:rPr lang="en-US" sz="2000" dirty="0" smtClean="0"/>
            </a:br>
            <a:r>
              <a:rPr lang="en-US" sz="2000" dirty="0" smtClean="0"/>
              <a:t/>
            </a:r>
            <a:br>
              <a:rPr lang="en-US" sz="2000" dirty="0" smtClean="0"/>
            </a:br>
            <a:r>
              <a:rPr lang="en-US" sz="2000" dirty="0" smtClean="0"/>
              <a:t>What should Henry choose?</a:t>
            </a:r>
          </a:p>
        </p:txBody>
      </p:sp>
    </p:spTree>
    <p:extLst>
      <p:ext uri="{BB962C8B-B14F-4D97-AF65-F5344CB8AC3E}">
        <p14:creationId xmlns:p14="http://schemas.microsoft.com/office/powerpoint/2010/main" val="36404308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Urn </a:t>
            </a:r>
            <a:r>
              <a:rPr lang="en-US" dirty="0" smtClean="0"/>
              <a:t>Problems</a:t>
            </a:r>
            <a:endParaRPr lang="en-US" dirty="0"/>
          </a:p>
        </p:txBody>
      </p:sp>
      <p:sp>
        <p:nvSpPr>
          <p:cNvPr id="3" name="Content Placeholder 2"/>
          <p:cNvSpPr>
            <a:spLocks noGrp="1"/>
          </p:cNvSpPr>
          <p:nvPr>
            <p:ph idx="1"/>
          </p:nvPr>
        </p:nvSpPr>
        <p:spPr/>
        <p:txBody>
          <a:bodyPr/>
          <a:lstStyle/>
          <a:p>
            <a:r>
              <a:rPr lang="en-US" dirty="0" smtClean="0"/>
              <a:t>Given a box (or “urn”) with r red balls and b blue balls in it, select k balls at random and examine their colors</a:t>
            </a:r>
          </a:p>
          <a:p>
            <a:r>
              <a:rPr lang="en-US" dirty="0" smtClean="0"/>
              <a:t>Without replacement vs. With replacement</a:t>
            </a:r>
            <a:endParaRPr lang="en-US" dirty="0"/>
          </a:p>
        </p:txBody>
      </p:sp>
    </p:spTree>
    <p:extLst>
      <p:ext uri="{BB962C8B-B14F-4D97-AF65-F5344CB8AC3E}">
        <p14:creationId xmlns:p14="http://schemas.microsoft.com/office/powerpoint/2010/main" val="30476487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 </a:t>
            </a:r>
            <a:r>
              <a:rPr lang="en-US" dirty="0" smtClean="0"/>
              <a:t>Urn Problem</a:t>
            </a:r>
            <a:endParaRPr lang="en-US" dirty="0"/>
          </a:p>
        </p:txBody>
      </p:sp>
      <p:sp>
        <p:nvSpPr>
          <p:cNvPr id="3" name="Content Placeholder 2"/>
          <p:cNvSpPr>
            <a:spLocks noGrp="1"/>
          </p:cNvSpPr>
          <p:nvPr>
            <p:ph idx="1"/>
          </p:nvPr>
        </p:nvSpPr>
        <p:spPr/>
        <p:txBody>
          <a:bodyPr>
            <a:normAutofit lnSpcReduction="10000"/>
          </a:bodyPr>
          <a:lstStyle/>
          <a:p>
            <a:r>
              <a:rPr lang="en-US" dirty="0" smtClean="0"/>
              <a:t>Disputed Election:  There is a close election:</a:t>
            </a:r>
          </a:p>
          <a:p>
            <a:pPr marL="457200" lvl="1" indent="0">
              <a:buNone/>
            </a:pPr>
            <a:r>
              <a:rPr lang="en-US" dirty="0" smtClean="0"/>
              <a:t>2656 votes for Al</a:t>
            </a:r>
          </a:p>
          <a:p>
            <a:pPr marL="457200" lvl="1" indent="0">
              <a:buNone/>
            </a:pPr>
            <a:r>
              <a:rPr lang="en-US" dirty="0" smtClean="0"/>
              <a:t>2594 votes for Bob</a:t>
            </a:r>
          </a:p>
          <a:p>
            <a:pPr marL="457200" lvl="1" indent="0">
              <a:buNone/>
            </a:pPr>
            <a:r>
              <a:rPr lang="en-US" dirty="0" smtClean="0"/>
              <a:t>Of the 5250 votes, we learn 136 should not have voted (e.g., they are dead Chicagoans)</a:t>
            </a:r>
          </a:p>
          <a:p>
            <a:pPr marL="457200" lvl="1" indent="0">
              <a:buNone/>
            </a:pPr>
            <a:r>
              <a:rPr lang="en-US" dirty="0" smtClean="0"/>
              <a:t>Assume: each vote is equally likely to be one of the 136.</a:t>
            </a:r>
          </a:p>
          <a:p>
            <a:r>
              <a:rPr lang="en-US" dirty="0" smtClean="0"/>
              <a:t>Find P(“election would be reversed if the bad votes are removed from the count”)</a:t>
            </a:r>
            <a:endParaRPr lang="en-US" dirty="0"/>
          </a:p>
        </p:txBody>
      </p:sp>
    </p:spTree>
    <p:extLst>
      <p:ext uri="{BB962C8B-B14F-4D97-AF65-F5344CB8AC3E}">
        <p14:creationId xmlns:p14="http://schemas.microsoft.com/office/powerpoint/2010/main" val="34876285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r>
              <a:rPr lang="en-US" dirty="0" err="1" smtClean="0"/>
              <a:t>cont</a:t>
            </a:r>
            <a:r>
              <a:rPr lang="en-US" dirty="0" smtClean="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257800"/>
              </a:xfrm>
            </p:spPr>
            <p:txBody>
              <a:bodyPr>
                <a:normAutofit fontScale="92500" lnSpcReduction="10000"/>
              </a:bodyPr>
              <a:lstStyle/>
              <a:p>
                <a:r>
                  <a:rPr lang="en-US" dirty="0" smtClean="0"/>
                  <a:t>Think of removing 136 balls from an urn of 2556 blue balls (“Al”) and 2594 red balls (“Bob”)</a:t>
                </a:r>
              </a:p>
              <a:p>
                <a:r>
                  <a:rPr lang="en-US" dirty="0" smtClean="0"/>
                  <a:t>P(remove exactly m blue and 136-m red) = </a:t>
                </a:r>
              </a:p>
              <a:p>
                <a:pPr marL="457200" lvl="1"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2656</m:t>
                                  </m:r>
                                </m:num>
                                <m:den>
                                  <m:r>
                                    <a:rPr lang="en-US" b="0" i="1" smtClean="0">
                                      <a:latin typeface="Cambria Math"/>
                                    </a:rPr>
                                    <m:t>𝑚</m:t>
                                  </m:r>
                                </m:den>
                              </m:f>
                            </m:e>
                          </m:d>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2594</m:t>
                                  </m:r>
                                </m:num>
                                <m:den>
                                  <m:r>
                                    <a:rPr lang="en-US" b="0" i="1" smtClean="0">
                                      <a:latin typeface="Cambria Math"/>
                                    </a:rPr>
                                    <m:t>136−</m:t>
                                  </m:r>
                                  <m:r>
                                    <a:rPr lang="en-US" b="0" i="1" smtClean="0">
                                      <a:latin typeface="Cambria Math"/>
                                    </a:rPr>
                                    <m:t>𝑚</m:t>
                                  </m:r>
                                </m:den>
                              </m:f>
                            </m:e>
                          </m:d>
                        </m:num>
                        <m:den>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r>
                                    <a:rPr lang="en-US" b="0" i="1" smtClean="0">
                                      <a:latin typeface="Cambria Math"/>
                                    </a:rPr>
                                    <m:t>5250</m:t>
                                  </m:r>
                                </m:num>
                                <m:den>
                                  <m:r>
                                    <a:rPr lang="en-US" b="0" i="1" smtClean="0">
                                      <a:latin typeface="Cambria Math"/>
                                    </a:rPr>
                                    <m:t>136</m:t>
                                  </m:r>
                                </m:den>
                              </m:f>
                            </m:e>
                          </m:d>
                        </m:den>
                      </m:f>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𝑝</m:t>
                          </m:r>
                        </m:e>
                        <m:sub>
                          <m:r>
                            <a:rPr lang="en-US" b="0" i="1" smtClean="0">
                              <a:latin typeface="Cambria Math"/>
                            </a:rPr>
                            <m:t>𝑚</m:t>
                          </m:r>
                        </m:sub>
                      </m:sSub>
                    </m:oMath>
                  </m:oMathPara>
                </a14:m>
                <a:endParaRPr lang="en-US" dirty="0" smtClean="0"/>
              </a:p>
              <a:p>
                <a:pPr marL="457200" lvl="1" indent="0">
                  <a:buNone/>
                </a:pPr>
                <a:r>
                  <a:rPr lang="en-US" dirty="0" smtClean="0"/>
                  <a:t>To reverse election, we need 2656-m ≤ 2594-(136-m), i.e., m≥ 99</a:t>
                </a:r>
              </a:p>
              <a:p>
                <a:pPr marL="457200" lvl="1" indent="0">
                  <a:buNone/>
                </a:pPr>
                <a:r>
                  <a:rPr lang="en-US" dirty="0" smtClean="0"/>
                  <a:t>Thus, P(“election would be reversed if the bad votes are removed from the count”) = </a:t>
                </a:r>
              </a:p>
              <a:p>
                <a:pPr marL="457200" lvl="1" indent="0">
                  <a:buNone/>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a:rPr>
                            <m:t>𝑚</m:t>
                          </m:r>
                          <m:r>
                            <a:rPr lang="en-US" b="0" i="1" smtClean="0">
                              <a:latin typeface="Cambria Math"/>
                            </a:rPr>
                            <m:t>=99</m:t>
                          </m:r>
                        </m:sub>
                        <m:sup>
                          <m:r>
                            <a:rPr lang="en-US" b="0" i="1" smtClean="0">
                              <a:latin typeface="Cambria Math"/>
                            </a:rPr>
                            <m:t>136</m:t>
                          </m:r>
                        </m:sup>
                        <m:e>
                          <m:sSub>
                            <m:sSubPr>
                              <m:ctrlPr>
                                <a:rPr lang="en-US" i="1" smtClean="0">
                                  <a:latin typeface="Cambria Math" panose="02040503050406030204" pitchFamily="18" charset="0"/>
                                </a:rPr>
                              </m:ctrlPr>
                            </m:sSubPr>
                            <m:e>
                              <m:r>
                                <a:rPr lang="en-US" b="0" i="1" smtClean="0">
                                  <a:latin typeface="Cambria Math"/>
                                </a:rPr>
                                <m:t>𝑝</m:t>
                              </m:r>
                            </m:e>
                            <m:sub>
                              <m:r>
                                <a:rPr lang="en-US" b="0" i="1" smtClean="0">
                                  <a:latin typeface="Cambria Math"/>
                                </a:rPr>
                                <m:t>𝑚</m:t>
                              </m:r>
                            </m:sub>
                          </m:sSub>
                        </m:e>
                      </m:nary>
                      <m:r>
                        <a:rPr lang="en-US" b="0" i="1" smtClean="0">
                          <a:latin typeface="Cambria Math"/>
                        </a:rPr>
                        <m:t>=7.492 </m:t>
                      </m:r>
                      <m:r>
                        <a:rPr lang="en-US" b="0" i="1" smtClean="0">
                          <a:latin typeface="Cambria Math"/>
                          <a:ea typeface="Cambria Math"/>
                        </a:rPr>
                        <m:t>× </m:t>
                      </m:r>
                      <m:sSup>
                        <m:sSupPr>
                          <m:ctrlPr>
                            <a:rPr lang="en-US" b="0" i="1" smtClean="0">
                              <a:latin typeface="Cambria Math" panose="02040503050406030204" pitchFamily="18" charset="0"/>
                              <a:ea typeface="Cambria Math"/>
                            </a:rPr>
                          </m:ctrlPr>
                        </m:sSupPr>
                        <m:e>
                          <m:r>
                            <a:rPr lang="en-US" b="0" i="1" smtClean="0">
                              <a:latin typeface="Cambria Math"/>
                              <a:ea typeface="Cambria Math"/>
                            </a:rPr>
                            <m:t>10</m:t>
                          </m:r>
                        </m:e>
                        <m:sup>
                          <m:r>
                            <a:rPr lang="en-US" b="0" i="1" smtClean="0">
                              <a:latin typeface="Cambria Math"/>
                              <a:ea typeface="Cambria Math"/>
                            </a:rPr>
                            <m:t>−8</m:t>
                          </m:r>
                        </m:sup>
                      </m:sSup>
                    </m:oMath>
                  </m:oMathPara>
                </a14:m>
                <a:endParaRPr lang="en-US" dirty="0" smtClean="0"/>
              </a:p>
              <a:p>
                <a:pPr marL="45720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1">
                <a:blip r:embed="rId2"/>
                <a:stretch>
                  <a:fillRect l="-1404" t="-2320"/>
                </a:stretch>
              </a:blipFill>
            </p:spPr>
            <p:txBody>
              <a:bodyPr/>
              <a:lstStyle/>
              <a:p>
                <a:r>
                  <a:rPr lang="en-US">
                    <a:noFill/>
                  </a:rPr>
                  <a:t> </a:t>
                </a:r>
              </a:p>
            </p:txBody>
          </p:sp>
        </mc:Fallback>
      </mc:AlternateContent>
    </p:spTree>
    <p:extLst>
      <p:ext uri="{BB962C8B-B14F-4D97-AF65-F5344CB8AC3E}">
        <p14:creationId xmlns:p14="http://schemas.microsoft.com/office/powerpoint/2010/main" val="11200342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lstStyle/>
          <a:p>
            <a:r>
              <a:rPr lang="en-US" dirty="0" smtClean="0"/>
              <a:t>Basketball: 3 teams, each with 3 players: Guard, Forward, Center</a:t>
            </a:r>
          </a:p>
          <a:p>
            <a:r>
              <a:rPr lang="en-US" dirty="0" smtClean="0"/>
              <a:t>Select one player from each team</a:t>
            </a:r>
          </a:p>
          <a:p>
            <a:r>
              <a:rPr lang="en-US" dirty="0" smtClean="0"/>
              <a:t>(a). Find P(“you get a full team”)</a:t>
            </a:r>
          </a:p>
          <a:p>
            <a:r>
              <a:rPr lang="en-US" dirty="0" smtClean="0"/>
              <a:t>(b). Find P(“you get 3 players of same type”)</a:t>
            </a:r>
            <a:endParaRPr lang="en-US" dirty="0"/>
          </a:p>
        </p:txBody>
      </p:sp>
    </p:spTree>
    <p:extLst>
      <p:ext uri="{BB962C8B-B14F-4D97-AF65-F5344CB8AC3E}">
        <p14:creationId xmlns:p14="http://schemas.microsoft.com/office/powerpoint/2010/main" val="10686368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a:t>
            </a:r>
            <a:endParaRPr lang="en-US" dirty="0"/>
          </a:p>
        </p:txBody>
      </p:sp>
      <p:sp>
        <p:nvSpPr>
          <p:cNvPr id="3" name="Content Placeholder 2"/>
          <p:cNvSpPr>
            <a:spLocks noGrp="1"/>
          </p:cNvSpPr>
          <p:nvPr>
            <p:ph idx="1"/>
          </p:nvPr>
        </p:nvSpPr>
        <p:spPr/>
        <p:txBody>
          <a:bodyPr/>
          <a:lstStyle/>
          <a:p>
            <a:r>
              <a:rPr lang="en-US" dirty="0" smtClean="0"/>
              <a:t>4 married couples sit around a table</a:t>
            </a:r>
          </a:p>
          <a:p>
            <a:r>
              <a:rPr lang="en-US" dirty="0" smtClean="0"/>
              <a:t>Find p = P(“no wife sits next to her husband”)</a:t>
            </a:r>
          </a:p>
          <a:p>
            <a:pPr marL="0" indent="0">
              <a:buNone/>
            </a:pPr>
            <a:r>
              <a:rPr lang="en-US" dirty="0"/>
              <a:t>	</a:t>
            </a:r>
            <a:r>
              <a:rPr lang="en-US" dirty="0" smtClean="0"/>
              <a:t>Let </a:t>
            </a:r>
            <a:r>
              <a:rPr lang="en-US" dirty="0" err="1" smtClean="0"/>
              <a:t>E</a:t>
            </a:r>
            <a:r>
              <a:rPr lang="en-US" baseline="-25000" dirty="0" err="1" smtClean="0"/>
              <a:t>i</a:t>
            </a:r>
            <a:r>
              <a:rPr lang="en-US" dirty="0" smtClean="0"/>
              <a:t> = “couple </a:t>
            </a:r>
            <a:r>
              <a:rPr lang="en-US" dirty="0" err="1" smtClean="0"/>
              <a:t>i</a:t>
            </a:r>
            <a:r>
              <a:rPr lang="en-US" dirty="0" smtClean="0"/>
              <a:t> sits next to each other”</a:t>
            </a:r>
          </a:p>
          <a:p>
            <a:pPr marL="0" indent="0">
              <a:buNone/>
            </a:pPr>
            <a:r>
              <a:rPr lang="en-US" dirty="0"/>
              <a:t>	</a:t>
            </a:r>
            <a:r>
              <a:rPr lang="en-US" dirty="0" smtClean="0"/>
              <a:t>Want p = 1-P(E</a:t>
            </a:r>
            <a:r>
              <a:rPr lang="en-US" baseline="-25000" dirty="0" smtClean="0"/>
              <a:t>1</a:t>
            </a:r>
            <a:r>
              <a:rPr lang="en-US" dirty="0" smtClean="0">
                <a:sym typeface="Symbol"/>
              </a:rPr>
              <a:t>E</a:t>
            </a:r>
            <a:r>
              <a:rPr lang="en-US" baseline="-25000" dirty="0" smtClean="0">
                <a:sym typeface="Symbol"/>
              </a:rPr>
              <a:t>2</a:t>
            </a:r>
            <a:r>
              <a:rPr lang="en-US" dirty="0" smtClean="0">
                <a:sym typeface="Symbol"/>
              </a:rPr>
              <a:t> E</a:t>
            </a:r>
            <a:r>
              <a:rPr lang="en-US" baseline="-25000" dirty="0" smtClean="0">
                <a:sym typeface="Symbol"/>
              </a:rPr>
              <a:t>3</a:t>
            </a:r>
            <a:r>
              <a:rPr lang="en-US" dirty="0" smtClean="0">
                <a:sym typeface="Symbol"/>
              </a:rPr>
              <a:t> E</a:t>
            </a:r>
            <a:r>
              <a:rPr lang="en-US" baseline="-25000" dirty="0" smtClean="0">
                <a:sym typeface="Symbol"/>
              </a:rPr>
              <a:t>4</a:t>
            </a:r>
            <a:r>
              <a:rPr lang="en-US" dirty="0" smtClean="0">
                <a:sym typeface="Symbol"/>
              </a:rPr>
              <a:t>)</a:t>
            </a:r>
          </a:p>
          <a:p>
            <a:pPr marL="0" indent="0">
              <a:buNone/>
            </a:pPr>
            <a:r>
              <a:rPr lang="en-US" dirty="0" smtClean="0">
                <a:sym typeface="Symbol"/>
              </a:rPr>
              <a:t>[inclusion-exclusion]</a:t>
            </a:r>
            <a:endParaRPr lang="en-US" dirty="0"/>
          </a:p>
        </p:txBody>
      </p:sp>
    </p:spTree>
    <p:extLst>
      <p:ext uri="{BB962C8B-B14F-4D97-AF65-F5344CB8AC3E}">
        <p14:creationId xmlns:p14="http://schemas.microsoft.com/office/powerpoint/2010/main" val="5783444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Conditional Probability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Definition of P(E | F):</a:t>
                </a:r>
              </a:p>
              <a:p>
                <a:r>
                  <a:rPr lang="en-US" dirty="0" smtClean="0"/>
                  <a:t>If P(F)&gt;0, then we define the conditional probability of E given F to be</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endChr m:val="|"/>
                          <m:ctrlPr>
                            <a:rPr lang="en-US" b="0" i="1" smtClean="0">
                              <a:latin typeface="Cambria Math" panose="02040503050406030204" pitchFamily="18" charset="0"/>
                            </a:rPr>
                          </m:ctrlPr>
                        </m:dPr>
                        <m:e>
                          <m:r>
                            <a:rPr lang="en-US" b="0" i="1" smtClean="0">
                              <a:latin typeface="Cambria Math"/>
                            </a:rPr>
                            <m:t>𝐸</m:t>
                          </m:r>
                          <m:r>
                            <a:rPr lang="en-US" b="0" i="1" smtClean="0">
                              <a:latin typeface="Cambria Math"/>
                            </a:rPr>
                            <m:t> </m:t>
                          </m:r>
                        </m:e>
                      </m:d>
                      <m:r>
                        <a:rPr lang="en-US" b="0" i="1" smtClean="0">
                          <a:latin typeface="Cambria Math"/>
                        </a:rPr>
                        <m:t>𝐹</m:t>
                      </m:r>
                      <m:r>
                        <a:rPr lang="en-US" b="0" i="1" smtClean="0">
                          <a:latin typeface="Cambria Math"/>
                        </a:rPr>
                        <m:t>)= </m:t>
                      </m:r>
                      <m:f>
                        <m:fPr>
                          <m:ctrlPr>
                            <a:rPr lang="en-US" b="0" i="1" smtClean="0">
                              <a:latin typeface="Cambria Math" panose="02040503050406030204" pitchFamily="18" charset="0"/>
                            </a:rPr>
                          </m:ctrlPr>
                        </m:fPr>
                        <m:num>
                          <m:r>
                            <a:rPr lang="en-US" b="0" i="1" smtClean="0">
                              <a:latin typeface="Cambria Math"/>
                            </a:rPr>
                            <m:t>𝑃</m:t>
                          </m:r>
                          <m:r>
                            <a:rPr lang="en-US" b="0" i="1" smtClean="0">
                              <a:latin typeface="Cambria Math"/>
                            </a:rPr>
                            <m:t>(</m:t>
                          </m:r>
                          <m:r>
                            <a:rPr lang="en-US" b="0" i="1" smtClean="0">
                              <a:latin typeface="Cambria Math"/>
                            </a:rPr>
                            <m:t>𝐸</m:t>
                          </m:r>
                          <m:r>
                            <a:rPr lang="en-US" b="0" i="1" smtClean="0">
                              <a:latin typeface="Cambria Math"/>
                            </a:rPr>
                            <m:t> ∩</m:t>
                          </m:r>
                          <m:r>
                            <a:rPr lang="en-US" b="0" i="1" smtClean="0">
                              <a:latin typeface="Cambria Math"/>
                              <a:ea typeface="Cambria Math"/>
                            </a:rPr>
                            <m:t>𝐹</m:t>
                          </m:r>
                          <m:r>
                            <a:rPr lang="en-US" b="0" i="1" smtClean="0">
                              <a:latin typeface="Cambria Math"/>
                              <a:ea typeface="Cambria Math"/>
                            </a:rPr>
                            <m:t>)</m:t>
                          </m:r>
                        </m:num>
                        <m:den>
                          <m:r>
                            <a:rPr lang="en-US" b="0" i="1" smtClean="0">
                              <a:latin typeface="Cambria Math"/>
                            </a:rPr>
                            <m:t>𝑃</m:t>
                          </m:r>
                          <m:r>
                            <a:rPr lang="en-US" b="0" i="1" smtClean="0">
                              <a:latin typeface="Cambria Math"/>
                            </a:rPr>
                            <m:t>(</m:t>
                          </m:r>
                          <m:r>
                            <a:rPr lang="en-US" b="0" i="1" smtClean="0">
                              <a:latin typeface="Cambria Math"/>
                            </a:rPr>
                            <m:t>𝐹</m:t>
                          </m:r>
                          <m:r>
                            <a:rPr lang="en-US" b="0" i="1" smtClean="0">
                              <a:latin typeface="Cambria Math"/>
                            </a:rPr>
                            <m:t>)</m:t>
                          </m:r>
                        </m:den>
                      </m:f>
                    </m:oMath>
                  </m:oMathPara>
                </a14:m>
                <a:endParaRPr lang="en-US" b="0" dirty="0" smtClean="0"/>
              </a:p>
              <a:p>
                <a:pPr marL="457200" lvl="1" indent="0">
                  <a:buNone/>
                </a:pPr>
                <a:r>
                  <a:rPr lang="en-US" dirty="0" smtClean="0"/>
                  <a:t>	If P(F)=0, then P(E | F) is </a:t>
                </a:r>
                <a:r>
                  <a:rPr lang="en-US" b="1" i="1" dirty="0" smtClean="0"/>
                  <a:t>undefined</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
        <p:nvSpPr>
          <p:cNvPr id="4" name="Rectangle 3"/>
          <p:cNvSpPr/>
          <p:nvPr/>
        </p:nvSpPr>
        <p:spPr>
          <a:xfrm>
            <a:off x="3124200" y="4724400"/>
            <a:ext cx="38100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181600" y="5105400"/>
            <a:ext cx="1447800" cy="1219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3810000" y="5334000"/>
            <a:ext cx="1828800" cy="9906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181600" y="5105400"/>
            <a:ext cx="1447800" cy="1219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179916" y="5536912"/>
            <a:ext cx="838200" cy="584775"/>
          </a:xfrm>
          <a:prstGeom prst="rect">
            <a:avLst/>
          </a:prstGeom>
          <a:noFill/>
        </p:spPr>
        <p:txBody>
          <a:bodyPr wrap="square" rtlCol="0">
            <a:spAutoFit/>
          </a:bodyPr>
          <a:lstStyle/>
          <a:p>
            <a:r>
              <a:rPr lang="en-US" sz="3200" i="1" dirty="0" smtClean="0">
                <a:latin typeface="Times New Roman" pitchFamily="18" charset="0"/>
                <a:cs typeface="Times New Roman" pitchFamily="18" charset="0"/>
              </a:rPr>
              <a:t>E</a:t>
            </a:r>
            <a:endParaRPr lang="en-US" sz="3200" i="1" dirty="0">
              <a:latin typeface="Times New Roman" pitchFamily="18" charset="0"/>
              <a:cs typeface="Times New Roman" pitchFamily="18" charset="0"/>
            </a:endParaRPr>
          </a:p>
        </p:txBody>
      </p:sp>
      <p:sp>
        <p:nvSpPr>
          <p:cNvPr id="9" name="TextBox 8"/>
          <p:cNvSpPr txBox="1"/>
          <p:nvPr/>
        </p:nvSpPr>
        <p:spPr>
          <a:xfrm>
            <a:off x="5705302" y="5349240"/>
            <a:ext cx="838200" cy="584775"/>
          </a:xfrm>
          <a:prstGeom prst="rect">
            <a:avLst/>
          </a:prstGeom>
          <a:noFill/>
        </p:spPr>
        <p:txBody>
          <a:bodyPr wrap="square" rtlCol="0">
            <a:spAutoFit/>
          </a:bodyPr>
          <a:lstStyle/>
          <a:p>
            <a:r>
              <a:rPr lang="en-US" sz="3200" i="1" dirty="0">
                <a:latin typeface="Times New Roman" pitchFamily="18" charset="0"/>
                <a:cs typeface="Times New Roman" pitchFamily="18" charset="0"/>
              </a:rPr>
              <a:t>F</a:t>
            </a:r>
          </a:p>
        </p:txBody>
      </p:sp>
    </p:spTree>
    <p:extLst>
      <p:ext uri="{BB962C8B-B14F-4D97-AF65-F5344CB8AC3E}">
        <p14:creationId xmlns:p14="http://schemas.microsoft.com/office/powerpoint/2010/main" val="1414777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4</a:t>
            </a:r>
            <a:endParaRPr lang="en-US" dirty="0"/>
          </a:p>
        </p:txBody>
      </p:sp>
      <p:sp>
        <p:nvSpPr>
          <p:cNvPr id="3" name="Content Placeholder 2"/>
          <p:cNvSpPr>
            <a:spLocks noGrp="1"/>
          </p:cNvSpPr>
          <p:nvPr>
            <p:ph idx="1"/>
          </p:nvPr>
        </p:nvSpPr>
        <p:spPr/>
        <p:txBody>
          <a:bodyPr/>
          <a:lstStyle/>
          <a:p>
            <a:r>
              <a:rPr lang="en-US" dirty="0" smtClean="0"/>
              <a:t>Toss 2 fair dice.  Observe that the first die is 3.  Given this information, what is probability the sum is 8?</a:t>
            </a:r>
          </a:p>
          <a:p>
            <a:r>
              <a:rPr lang="en-US" dirty="0" smtClean="0"/>
              <a:t>Let E=“first=3” = {(3,1),(3,2),…,(3,6)}</a:t>
            </a:r>
          </a:p>
          <a:p>
            <a:r>
              <a:rPr lang="en-US" dirty="0" smtClean="0"/>
              <a:t>Let F=“sum = 8” = {(2,6),(3,5),(4,4),(5,3),(6,2)}</a:t>
            </a:r>
          </a:p>
          <a:p>
            <a:r>
              <a:rPr lang="en-US" dirty="0" smtClean="0"/>
              <a:t>E</a:t>
            </a:r>
            <a:r>
              <a:rPr lang="en-US" dirty="0" smtClean="0">
                <a:sym typeface="Symbol"/>
              </a:rPr>
              <a:t>F={(3,5)}</a:t>
            </a:r>
            <a:endParaRPr lang="en-US" dirty="0" smtClean="0"/>
          </a:p>
          <a:p>
            <a:r>
              <a:rPr lang="en-US" dirty="0" smtClean="0"/>
              <a:t>Want: P(F | E) = P(F</a:t>
            </a:r>
            <a:r>
              <a:rPr lang="en-US" dirty="0" smtClean="0">
                <a:sym typeface="Symbol"/>
              </a:rPr>
              <a:t>E) / P(E) = (1/36) / (6/36)</a:t>
            </a:r>
            <a:endParaRPr lang="en-US" dirty="0"/>
          </a:p>
        </p:txBody>
      </p:sp>
    </p:spTree>
    <p:extLst>
      <p:ext uri="{BB962C8B-B14F-4D97-AF65-F5344CB8AC3E}">
        <p14:creationId xmlns:p14="http://schemas.microsoft.com/office/powerpoint/2010/main" val="33087487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5</a:t>
            </a:r>
            <a:endParaRPr lang="en-US" dirty="0"/>
          </a:p>
        </p:txBody>
      </p:sp>
      <p:sp>
        <p:nvSpPr>
          <p:cNvPr id="3" name="Content Placeholder 2"/>
          <p:cNvSpPr>
            <a:spLocks noGrp="1"/>
          </p:cNvSpPr>
          <p:nvPr>
            <p:ph idx="1"/>
          </p:nvPr>
        </p:nvSpPr>
        <p:spPr/>
        <p:txBody>
          <a:bodyPr/>
          <a:lstStyle/>
          <a:p>
            <a:r>
              <a:rPr lang="en-US" dirty="0" smtClean="0"/>
              <a:t>Parts Inspection: Manufactured parts are of 3 varieties – Good (90%), Slightly Defective (2%), Obviously Defective (8%)</a:t>
            </a:r>
          </a:p>
          <a:p>
            <a:r>
              <a:rPr lang="en-US" dirty="0" smtClean="0"/>
              <a:t>We select a part at random from the factory</a:t>
            </a:r>
          </a:p>
          <a:p>
            <a:r>
              <a:rPr lang="en-US" dirty="0" smtClean="0"/>
              <a:t>It gets passed to an automatic inspection machine, which detects obviously defective </a:t>
            </a:r>
          </a:p>
          <a:p>
            <a:r>
              <a:rPr lang="en-US" dirty="0" smtClean="0"/>
              <a:t>What is probability that a part that passes the inspection is Good?</a:t>
            </a:r>
            <a:endParaRPr lang="en-US" dirty="0"/>
          </a:p>
        </p:txBody>
      </p:sp>
    </p:spTree>
    <p:extLst>
      <p:ext uri="{BB962C8B-B14F-4D97-AF65-F5344CB8AC3E}">
        <p14:creationId xmlns:p14="http://schemas.microsoft.com/office/powerpoint/2010/main" val="399854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r>
              <a:rPr lang="en-US" dirty="0" err="1" smtClean="0"/>
              <a:t>cont</a:t>
            </a:r>
            <a:r>
              <a:rPr lang="en-US" dirty="0" smtClean="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Let G = “randomly selected part is Good”</a:t>
                </a:r>
              </a:p>
              <a:p>
                <a:r>
                  <a:rPr lang="en-US" dirty="0" smtClean="0"/>
                  <a:t>Let E = “randomly selected part is Slightly Defective”</a:t>
                </a:r>
              </a:p>
              <a:p>
                <a:r>
                  <a:rPr lang="en-US" dirty="0" smtClean="0"/>
                  <a:t>Let F = “randomly selected part is Obviously Defective”</a:t>
                </a:r>
              </a:p>
              <a:p>
                <a:r>
                  <a:rPr lang="en-US" dirty="0" smtClean="0"/>
                  <a:t>Want: P(G | F</a:t>
                </a:r>
                <a:r>
                  <a:rPr lang="en-US" baseline="30000" dirty="0" smtClean="0"/>
                  <a:t>c</a:t>
                </a:r>
                <a:r>
                  <a:rPr lang="en-US" dirty="0" smtClean="0"/>
                  <a:t> ) =</a:t>
                </a:r>
              </a:p>
              <a:p>
                <a:pPr marL="457200" lvl="1"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𝑃</m:t>
                          </m:r>
                          <m:r>
                            <a:rPr lang="en-US" b="0" i="1" smtClean="0">
                              <a:latin typeface="Cambria Math"/>
                            </a:rPr>
                            <m:t>(</m:t>
                          </m:r>
                          <m:r>
                            <a:rPr lang="en-US" b="0" i="1" smtClean="0">
                              <a:latin typeface="Cambria Math"/>
                            </a:rPr>
                            <m:t>𝐺</m:t>
                          </m:r>
                          <m:r>
                            <a:rPr lang="en-US" b="0" i="1" smtClean="0">
                              <a:latin typeface="Cambria Math"/>
                              <a:ea typeface="Cambria Math"/>
                            </a:rPr>
                            <m:t>∩</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𝐹</m:t>
                              </m:r>
                            </m:e>
                            <m:sup>
                              <m:r>
                                <a:rPr lang="en-US" b="0" i="1" smtClean="0">
                                  <a:latin typeface="Cambria Math"/>
                                  <a:ea typeface="Cambria Math"/>
                                </a:rPr>
                                <m:t>𝑐</m:t>
                              </m:r>
                            </m:sup>
                          </m:sSup>
                          <m:r>
                            <a:rPr lang="en-US" b="0" i="1" smtClean="0">
                              <a:latin typeface="Cambria Math"/>
                              <a:ea typeface="Cambria Math"/>
                            </a:rPr>
                            <m:t>)</m:t>
                          </m:r>
                        </m:num>
                        <m:den>
                          <m:r>
                            <a:rPr lang="en-US" b="0" i="1" smtClean="0">
                              <a:latin typeface="Cambria Math"/>
                            </a:rPr>
                            <m:t>𝑃</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𝐹</m:t>
                              </m:r>
                            </m:e>
                            <m:sup>
                              <m:r>
                                <a:rPr lang="en-US" b="0" i="1" smtClean="0">
                                  <a:latin typeface="Cambria Math"/>
                                </a:rPr>
                                <m:t>𝑐</m:t>
                              </m:r>
                            </m:sup>
                          </m:sSup>
                          <m:r>
                            <a:rPr lang="en-US" b="0" i="1" smtClean="0">
                              <a:latin typeface="Cambria Math"/>
                            </a:rPr>
                            <m:t>)</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0.90</m:t>
                          </m:r>
                        </m:num>
                        <m:den>
                          <m:r>
                            <a:rPr lang="en-US" b="0" i="1" smtClean="0">
                              <a:latin typeface="Cambria Math"/>
                            </a:rPr>
                            <m:t>1−0.08</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.90</m:t>
                          </m:r>
                        </m:num>
                        <m:den>
                          <m:r>
                            <a:rPr lang="en-US" b="0" i="1" smtClean="0">
                              <a:latin typeface="Cambria Math"/>
                            </a:rPr>
                            <m:t>.92</m:t>
                          </m:r>
                        </m:den>
                      </m:f>
                      <m:r>
                        <a:rPr lang="en-US" b="0" i="1" smtClean="0">
                          <a:latin typeface="Cambria Math"/>
                        </a:rPr>
                        <m:t>=0.978</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29922013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Conditional Probability</a:t>
            </a:r>
            <a:endParaRPr lang="en-US" dirty="0"/>
          </a:p>
        </p:txBody>
      </p:sp>
      <p:sp>
        <p:nvSpPr>
          <p:cNvPr id="3" name="Content Placeholder 2"/>
          <p:cNvSpPr>
            <a:spLocks noGrp="1"/>
          </p:cNvSpPr>
          <p:nvPr>
            <p:ph idx="1"/>
          </p:nvPr>
        </p:nvSpPr>
        <p:spPr/>
        <p:txBody>
          <a:bodyPr/>
          <a:lstStyle/>
          <a:p>
            <a:pPr>
              <a:defRPr/>
            </a:pPr>
            <a:r>
              <a:rPr lang="en-US" sz="2800" dirty="0" smtClean="0">
                <a:sym typeface="Symbol"/>
              </a:rPr>
              <a:t>Recall Definition:</a:t>
            </a:r>
          </a:p>
        </p:txBody>
      </p:sp>
      <p:sp>
        <p:nvSpPr>
          <p:cNvPr id="4" name="Slide Number Placeholder 3"/>
          <p:cNvSpPr>
            <a:spLocks noGrp="1"/>
          </p:cNvSpPr>
          <p:nvPr>
            <p:ph type="sldNum" sz="quarter" idx="12"/>
          </p:nvPr>
        </p:nvSpPr>
        <p:spPr/>
        <p:txBody>
          <a:bodyPr/>
          <a:lstStyle/>
          <a:p>
            <a:pPr>
              <a:defRPr/>
            </a:pPr>
            <a:fld id="{9BBBB999-3365-40F7-9B5C-FB09472FED8E}" type="slidenum">
              <a:rPr lang="en-US" smtClean="0">
                <a:solidFill>
                  <a:srgbClr val="FFFFFF"/>
                </a:solidFill>
              </a:rPr>
              <a:pPr>
                <a:defRPr/>
              </a:pPr>
              <a:t>11</a:t>
            </a:fld>
            <a:endParaRPr lang="en-US" dirty="0">
              <a:solidFill>
                <a:srgbClr val="FFFFFF"/>
              </a:solidFill>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2133600"/>
            <a:ext cx="6477000"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575" y="3133725"/>
            <a:ext cx="6800850"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3" y="4676775"/>
            <a:ext cx="902017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0293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6</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12</a:t>
            </a:fld>
            <a:endParaRPr lang="en-US">
              <a:solidFill>
                <a:srgbClr val="FFFFFF"/>
              </a:solidFill>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1524000"/>
            <a:ext cx="65055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8738" y="3409950"/>
            <a:ext cx="6486525"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354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7</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13</a:t>
            </a:fld>
            <a:endParaRPr lang="en-US">
              <a:solidFill>
                <a:srgbClr val="FFFFFF"/>
              </a:solidFill>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957" y="2510631"/>
            <a:ext cx="6543675"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332" y="1697832"/>
            <a:ext cx="6972300"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4535579"/>
            <a:ext cx="64484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310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Law of Total Probability: Conditioning</a:t>
            </a:r>
            <a:endParaRPr lang="en-US" dirty="0"/>
          </a:p>
        </p:txBody>
      </p:sp>
      <p:sp>
        <p:nvSpPr>
          <p:cNvPr id="3" name="Content Placeholder 2"/>
          <p:cNvSpPr>
            <a:spLocks noGrp="1"/>
          </p:cNvSpPr>
          <p:nvPr>
            <p:ph idx="1"/>
          </p:nvPr>
        </p:nvSpPr>
        <p:spPr/>
        <p:txBody>
          <a:bodyPr/>
          <a:lstStyle/>
          <a:p>
            <a:r>
              <a:rPr lang="en-US" dirty="0" smtClean="0"/>
              <a:t>Recall:</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14</a:t>
            </a:fld>
            <a:endParaRPr lang="en-US">
              <a:solidFill>
                <a:srgbClr val="FFFFFF"/>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2133600"/>
            <a:ext cx="657225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88" y="3724275"/>
            <a:ext cx="713422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7325" y="4438650"/>
            <a:ext cx="6229350"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687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8</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257800"/>
              </a:xfrm>
            </p:spPr>
            <p:txBody>
              <a:bodyPr>
                <a:normAutofit fontScale="85000" lnSpcReduction="10000"/>
              </a:bodyPr>
              <a:lstStyle/>
              <a:p>
                <a:r>
                  <a:rPr lang="en-US" dirty="0" smtClean="0"/>
                  <a:t>In a trial, the judge is 65% sure Susan is guilty.  A witness (Robert, friend of Susan) knows the truth.  He lies </a:t>
                </a:r>
                <a:r>
                  <a:rPr lang="en-US" dirty="0" err="1" smtClean="0"/>
                  <a:t>w.p</a:t>
                </a:r>
                <a:r>
                  <a:rPr lang="en-US" dirty="0" smtClean="0"/>
                  <a:t>. ¼ if Susan is guilty and </a:t>
                </a:r>
                <a:r>
                  <a:rPr lang="en-US" dirty="0" err="1" smtClean="0"/>
                  <a:t>w.p</a:t>
                </a:r>
                <a:r>
                  <a:rPr lang="en-US" dirty="0" smtClean="0"/>
                  <a:t>. 0 if Susan is innocent.</a:t>
                </a:r>
              </a:p>
              <a:p>
                <a:r>
                  <a:rPr lang="en-US" dirty="0" smtClean="0"/>
                  <a:t>Find P(“Robert lies”)</a:t>
                </a:r>
              </a:p>
              <a:p>
                <a:pPr marL="457200" lvl="1" indent="0">
                  <a:buNone/>
                </a:pPr>
                <a:r>
                  <a:rPr lang="en-US" dirty="0" smtClean="0"/>
                  <a:t>Let L = “Robert lies”, G=“Susan is guilty”</a:t>
                </a:r>
              </a:p>
              <a:p>
                <a:pPr marL="457200" lvl="1" indent="0">
                  <a:buNone/>
                </a:pPr>
                <a:r>
                  <a:rPr lang="en-US" dirty="0" smtClean="0"/>
                  <a:t>Want P(L)</a:t>
                </a:r>
              </a:p>
              <a:p>
                <a:pPr marL="457200" lvl="1" indent="0">
                  <a:buNone/>
                </a:pPr>
                <a:r>
                  <a:rPr lang="en-US" dirty="0" smtClean="0"/>
                  <a:t>Told: </a:t>
                </a:r>
                <a14:m>
                  <m:oMath xmlns:m="http://schemas.openxmlformats.org/officeDocument/2006/math">
                    <m:r>
                      <a:rPr lang="en-US" b="0" i="1" smtClean="0">
                        <a:latin typeface="Cambria Math"/>
                      </a:rPr>
                      <m:t>𝑃</m:t>
                    </m:r>
                    <m:d>
                      <m:dPr>
                        <m:endChr m:val="|"/>
                        <m:ctrlPr>
                          <a:rPr lang="en-US" b="0" i="1" smtClean="0">
                            <a:latin typeface="Cambria Math" panose="02040503050406030204" pitchFamily="18" charset="0"/>
                          </a:rPr>
                        </m:ctrlPr>
                      </m:dPr>
                      <m:e>
                        <m:r>
                          <a:rPr lang="en-US" b="0" i="1" smtClean="0">
                            <a:latin typeface="Cambria Math"/>
                          </a:rPr>
                          <m:t>𝐿</m:t>
                        </m:r>
                        <m:r>
                          <a:rPr lang="en-US" b="0" i="1" smtClean="0">
                            <a:latin typeface="Cambria Math"/>
                          </a:rPr>
                          <m:t> </m:t>
                        </m:r>
                      </m:e>
                    </m:d>
                    <m:r>
                      <a:rPr lang="en-US" b="0" i="1" smtClean="0">
                        <a:latin typeface="Cambria Math"/>
                      </a:rPr>
                      <m:t>𝐺</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m:t>
                    </m:r>
                    <m:f>
                      <m:fPr>
                        <m:ctrlPr>
                          <a:rPr lang="en-US" b="0" i="1" smtClean="0">
                            <a:latin typeface="Cambria Math" panose="02040503050406030204" pitchFamily="18" charset="0"/>
                            <a:ea typeface="Cambria Math"/>
                          </a:rPr>
                        </m:ctrlPr>
                      </m:fPr>
                      <m:num>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𝐿</m:t>
                            </m:r>
                            <m:r>
                              <a:rPr lang="en-US" b="0" i="1" smtClean="0">
                                <a:latin typeface="Cambria Math"/>
                                <a:ea typeface="Cambria Math"/>
                              </a:rPr>
                              <m:t>∩</m:t>
                            </m:r>
                            <m:r>
                              <a:rPr lang="en-US" b="0" i="1" smtClean="0">
                                <a:latin typeface="Cambria Math"/>
                                <a:ea typeface="Cambria Math"/>
                              </a:rPr>
                              <m:t>𝐺</m:t>
                            </m:r>
                          </m:e>
                        </m:d>
                      </m:num>
                      <m:den>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𝐺</m:t>
                            </m:r>
                          </m:e>
                        </m:d>
                      </m:den>
                    </m:f>
                    <m:r>
                      <a:rPr lang="en-US" b="0" i="1" smtClean="0">
                        <a:latin typeface="Cambria Math"/>
                        <a:ea typeface="Cambria Math"/>
                      </a:rPr>
                      <m:t>=</m:t>
                    </m:r>
                    <m:f>
                      <m:fPr>
                        <m:ctrlPr>
                          <a:rPr lang="en-US" b="0" i="1" smtClean="0">
                            <a:latin typeface="Cambria Math" panose="02040503050406030204" pitchFamily="18" charset="0"/>
                            <a:ea typeface="Cambria Math"/>
                          </a:rPr>
                        </m:ctrlPr>
                      </m:fPr>
                      <m:num>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𝐿</m:t>
                            </m:r>
                            <m:r>
                              <a:rPr lang="en-US" b="0" i="1" smtClean="0">
                                <a:latin typeface="Cambria Math"/>
                                <a:ea typeface="Cambria Math"/>
                              </a:rPr>
                              <m:t>∩</m:t>
                            </m:r>
                            <m:r>
                              <a:rPr lang="en-US" b="0" i="1" smtClean="0">
                                <a:latin typeface="Cambria Math"/>
                                <a:ea typeface="Cambria Math"/>
                              </a:rPr>
                              <m:t>𝐺</m:t>
                            </m:r>
                          </m:e>
                        </m:d>
                      </m:num>
                      <m:den>
                        <m:r>
                          <a:rPr lang="en-US" b="0" i="1" smtClean="0">
                            <a:latin typeface="Cambria Math"/>
                            <a:ea typeface="Cambria Math"/>
                          </a:rPr>
                          <m:t>0.65</m:t>
                        </m:r>
                      </m:den>
                    </m:f>
                    <m:r>
                      <a:rPr lang="en-US" b="0" i="1" smtClean="0">
                        <a:latin typeface="Cambria Math"/>
                        <a:ea typeface="Cambria Math"/>
                      </a:rPr>
                      <m:t>, </m:t>
                    </m:r>
                    <m:r>
                      <a:rPr lang="en-US" b="0" i="1" smtClean="0">
                        <a:latin typeface="Cambria Math"/>
                        <a:ea typeface="Cambria Math"/>
                      </a:rPr>
                      <m:t>𝑃</m:t>
                    </m:r>
                    <m:d>
                      <m:dPr>
                        <m:endChr m:val="|"/>
                        <m:ctrlPr>
                          <a:rPr lang="en-US" b="0" i="1" smtClean="0">
                            <a:latin typeface="Cambria Math" panose="02040503050406030204" pitchFamily="18" charset="0"/>
                            <a:ea typeface="Cambria Math"/>
                          </a:rPr>
                        </m:ctrlPr>
                      </m:dPr>
                      <m:e>
                        <m:r>
                          <a:rPr lang="en-US" b="0" i="1" smtClean="0">
                            <a:latin typeface="Cambria Math"/>
                            <a:ea typeface="Cambria Math"/>
                          </a:rPr>
                          <m:t>𝐿</m:t>
                        </m:r>
                        <m:r>
                          <a:rPr lang="en-US" b="0" i="1" smtClean="0">
                            <a:latin typeface="Cambria Math"/>
                            <a:ea typeface="Cambria Math"/>
                          </a:rPr>
                          <m:t> </m:t>
                        </m:r>
                      </m:e>
                    </m:d>
                    <m:sSup>
                      <m:sSupPr>
                        <m:ctrlPr>
                          <a:rPr lang="en-US" b="0" i="1" smtClean="0">
                            <a:latin typeface="Cambria Math" panose="02040503050406030204" pitchFamily="18" charset="0"/>
                            <a:ea typeface="Cambria Math"/>
                          </a:rPr>
                        </m:ctrlPr>
                      </m:sSupPr>
                      <m:e>
                        <m:r>
                          <a:rPr lang="en-US" b="0" i="1" smtClean="0">
                            <a:latin typeface="Cambria Math"/>
                            <a:ea typeface="Cambria Math"/>
                          </a:rPr>
                          <m:t>𝐺</m:t>
                        </m:r>
                      </m:e>
                      <m:sup>
                        <m:r>
                          <a:rPr lang="en-US" b="0" i="1" smtClean="0">
                            <a:latin typeface="Cambria Math"/>
                            <a:ea typeface="Cambria Math"/>
                          </a:rPr>
                          <m:t>𝑐</m:t>
                        </m:r>
                      </m:sup>
                    </m:sSup>
                    <m:r>
                      <a:rPr lang="en-US" b="0" i="1" smtClean="0">
                        <a:latin typeface="Cambria Math"/>
                        <a:ea typeface="Cambria Math"/>
                      </a:rPr>
                      <m:t>)=0=</m:t>
                    </m:r>
                    <m:f>
                      <m:fPr>
                        <m:ctrlPr>
                          <a:rPr lang="en-US" b="0" i="1" smtClean="0">
                            <a:latin typeface="Cambria Math" panose="02040503050406030204" pitchFamily="18" charset="0"/>
                            <a:ea typeface="Cambria Math"/>
                          </a:rPr>
                        </m:ctrlPr>
                      </m:fPr>
                      <m:num>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𝐿</m:t>
                            </m:r>
                            <m:r>
                              <a:rPr lang="en-US" b="0" i="1" smtClean="0">
                                <a:latin typeface="Cambria Math"/>
                                <a:ea typeface="Cambria Math"/>
                              </a:rPr>
                              <m:t>∩</m:t>
                            </m:r>
                            <m:sSup>
                              <m:sSupPr>
                                <m:ctrlPr>
                                  <a:rPr lang="en-US" b="0" i="1" smtClean="0">
                                    <a:latin typeface="Cambria Math" panose="02040503050406030204" pitchFamily="18" charset="0"/>
                                    <a:ea typeface="Cambria Math"/>
                                  </a:rPr>
                                </m:ctrlPr>
                              </m:sSupPr>
                              <m:e>
                                <m:r>
                                  <a:rPr lang="en-US" b="0" i="1" smtClean="0">
                                    <a:latin typeface="Cambria Math"/>
                                    <a:ea typeface="Cambria Math"/>
                                  </a:rPr>
                                  <m:t>𝐺</m:t>
                                </m:r>
                              </m:e>
                              <m:sup>
                                <m:r>
                                  <a:rPr lang="en-US" b="0" i="1" smtClean="0">
                                    <a:latin typeface="Cambria Math"/>
                                    <a:ea typeface="Cambria Math"/>
                                  </a:rPr>
                                  <m:t>𝑐</m:t>
                                </m:r>
                              </m:sup>
                            </m:sSup>
                          </m:e>
                        </m:d>
                      </m:num>
                      <m:den>
                        <m:r>
                          <a:rPr lang="en-US" b="0" i="1" smtClean="0">
                            <a:latin typeface="Cambria Math"/>
                            <a:ea typeface="Cambria Math"/>
                          </a:rPr>
                          <m:t>𝑃</m:t>
                        </m:r>
                        <m:d>
                          <m:dPr>
                            <m:ctrlPr>
                              <a:rPr lang="en-US" b="0" i="1" smtClean="0">
                                <a:latin typeface="Cambria Math" panose="02040503050406030204" pitchFamily="18" charset="0"/>
                                <a:ea typeface="Cambria Math"/>
                              </a:rPr>
                            </m:ctrlPr>
                          </m:dPr>
                          <m:e>
                            <m:sSup>
                              <m:sSupPr>
                                <m:ctrlPr>
                                  <a:rPr lang="en-US" b="0" i="1" smtClean="0">
                                    <a:latin typeface="Cambria Math" panose="02040503050406030204" pitchFamily="18" charset="0"/>
                                    <a:ea typeface="Cambria Math"/>
                                  </a:rPr>
                                </m:ctrlPr>
                              </m:sSupPr>
                              <m:e>
                                <m:r>
                                  <a:rPr lang="en-US" b="0" i="1" smtClean="0">
                                    <a:latin typeface="Cambria Math"/>
                                    <a:ea typeface="Cambria Math"/>
                                  </a:rPr>
                                  <m:t>𝐺</m:t>
                                </m:r>
                              </m:e>
                              <m:sup>
                                <m:r>
                                  <a:rPr lang="en-US" b="0" i="1" smtClean="0">
                                    <a:latin typeface="Cambria Math"/>
                                    <a:ea typeface="Cambria Math"/>
                                  </a:rPr>
                                  <m:t>𝑐</m:t>
                                </m:r>
                              </m:sup>
                            </m:sSup>
                          </m:e>
                        </m:d>
                      </m:den>
                    </m:f>
                    <m:r>
                      <a:rPr lang="en-US" b="0" i="1" smtClean="0">
                        <a:latin typeface="Cambria Math"/>
                        <a:ea typeface="Cambria Math"/>
                      </a:rPr>
                      <m:t>,  </m:t>
                    </m:r>
                    <m:r>
                      <a:rPr lang="en-US" b="0" i="1" smtClean="0">
                        <a:latin typeface="Cambria Math"/>
                        <a:ea typeface="Cambria Math"/>
                      </a:rPr>
                      <m:t>𝑃</m:t>
                    </m:r>
                    <m:d>
                      <m:dPr>
                        <m:ctrlPr>
                          <a:rPr lang="en-US" b="0" i="1" smtClean="0">
                            <a:latin typeface="Cambria Math" panose="02040503050406030204" pitchFamily="18" charset="0"/>
                            <a:ea typeface="Cambria Math"/>
                          </a:rPr>
                        </m:ctrlPr>
                      </m:dPr>
                      <m:e>
                        <m:r>
                          <a:rPr lang="en-US" b="0" i="1" smtClean="0">
                            <a:latin typeface="Cambria Math"/>
                            <a:ea typeface="Cambria Math"/>
                          </a:rPr>
                          <m:t>𝐺</m:t>
                        </m:r>
                      </m:e>
                    </m:d>
                    <m:r>
                      <a:rPr lang="en-US" b="0" i="1" smtClean="0">
                        <a:latin typeface="Cambria Math"/>
                        <a:ea typeface="Cambria Math"/>
                      </a:rPr>
                      <m:t>=0.65</m:t>
                    </m:r>
                  </m:oMath>
                </a14:m>
                <a:endParaRPr lang="en-US" dirty="0" smtClean="0"/>
              </a:p>
              <a:p>
                <a:pPr marL="457200" lvl="1" indent="0">
                  <a:buNone/>
                </a:pPr>
                <a:r>
                  <a:rPr lang="en-US" dirty="0" smtClean="0"/>
                  <a:t>Condition on whether or not Susan is guilty:</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𝐿</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𝐿</m:t>
                          </m:r>
                        </m:e>
                        <m:e>
                          <m:r>
                            <a:rPr lang="en-US" b="0" i="1" smtClean="0">
                              <a:latin typeface="Cambria Math"/>
                            </a:rPr>
                            <m:t>𝐺</m:t>
                          </m:r>
                        </m:e>
                      </m:d>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𝐺</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𝐿</m:t>
                          </m:r>
                        </m:e>
                        <m:e>
                          <m:sSup>
                            <m:sSupPr>
                              <m:ctrlPr>
                                <a:rPr lang="en-US" b="0" i="1" smtClean="0">
                                  <a:latin typeface="Cambria Math" panose="02040503050406030204" pitchFamily="18" charset="0"/>
                                </a:rPr>
                              </m:ctrlPr>
                            </m:sSupPr>
                            <m:e>
                              <m:r>
                                <a:rPr lang="en-US" b="0" i="1" smtClean="0">
                                  <a:latin typeface="Cambria Math"/>
                                </a:rPr>
                                <m:t>𝐺</m:t>
                              </m:r>
                            </m:e>
                            <m:sup>
                              <m:r>
                                <a:rPr lang="en-US" b="0" i="1" smtClean="0">
                                  <a:latin typeface="Cambria Math"/>
                                </a:rPr>
                                <m:t>𝑐</m:t>
                              </m:r>
                            </m:sup>
                          </m:sSup>
                        </m:e>
                      </m:d>
                      <m:r>
                        <a:rPr lang="en-US" b="0" i="1" smtClean="0">
                          <a:latin typeface="Cambria Math"/>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𝐺</m:t>
                              </m:r>
                            </m:e>
                            <m:sup>
                              <m:r>
                                <a:rPr lang="en-US" b="0" i="1" smtClean="0">
                                  <a:latin typeface="Cambria Math"/>
                                </a:rPr>
                                <m:t>𝑐</m:t>
                              </m:r>
                            </m:sup>
                          </m:sSup>
                        </m:e>
                      </m:d>
                      <m:r>
                        <a:rPr lang="en-US" b="0" i="1" smtClean="0">
                          <a:latin typeface="Cambria Math"/>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e>
                      </m:d>
                      <m:d>
                        <m:dPr>
                          <m:ctrlPr>
                            <a:rPr lang="en-US" b="0" i="1" smtClean="0">
                              <a:latin typeface="Cambria Math" panose="02040503050406030204" pitchFamily="18" charset="0"/>
                            </a:rPr>
                          </m:ctrlPr>
                        </m:dPr>
                        <m:e>
                          <m:r>
                            <a:rPr lang="en-US" b="0" i="1" smtClean="0">
                              <a:latin typeface="Cambria Math"/>
                            </a:rPr>
                            <m:t>.65</m:t>
                          </m:r>
                        </m:e>
                      </m:d>
                      <m:r>
                        <a:rPr lang="en-US" b="0" i="1" smtClean="0">
                          <a:latin typeface="Cambria Math"/>
                        </a:rPr>
                        <m:t>+0=.1625</m:t>
                      </m:r>
                    </m:oMath>
                  </m:oMathPara>
                </a14:m>
                <a:endParaRPr lang="en-US" dirty="0" smtClean="0"/>
              </a:p>
              <a:p>
                <a:pPr marL="45720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1">
                <a:blip r:embed="rId3"/>
                <a:stretch>
                  <a:fillRect l="-1123" t="-1740" r="-1123"/>
                </a:stretch>
              </a:blipFill>
            </p:spPr>
            <p:txBody>
              <a:bodyPr/>
              <a:lstStyle/>
              <a:p>
                <a:r>
                  <a:rPr lang="en-US">
                    <a:noFill/>
                  </a:rPr>
                  <a:t> </a:t>
                </a:r>
              </a:p>
            </p:txBody>
          </p:sp>
        </mc:Fallback>
      </mc:AlternateContent>
    </p:spTree>
    <p:extLst>
      <p:ext uri="{BB962C8B-B14F-4D97-AF65-F5344CB8AC3E}">
        <p14:creationId xmlns:p14="http://schemas.microsoft.com/office/powerpoint/2010/main" val="19411258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9 Let’s </a:t>
            </a:r>
            <a:r>
              <a:rPr lang="en-US" dirty="0" smtClean="0"/>
              <a:t>Make A Deal</a:t>
            </a:r>
            <a:endParaRPr lang="en-US" dirty="0"/>
          </a:p>
        </p:txBody>
      </p:sp>
      <p:sp>
        <p:nvSpPr>
          <p:cNvPr id="3" name="Content Placeholder 2"/>
          <p:cNvSpPr>
            <a:spLocks noGrp="1"/>
          </p:cNvSpPr>
          <p:nvPr>
            <p:ph idx="1"/>
          </p:nvPr>
        </p:nvSpPr>
        <p:spPr/>
        <p:txBody>
          <a:bodyPr/>
          <a:lstStyle/>
          <a:p>
            <a:r>
              <a:rPr lang="en-US" dirty="0" smtClean="0"/>
              <a:t>Monty Hall problem:  3 doors: A,B,C.  One has a car (2 have goats).  The car is placed at random (Monty knows where).  You pick a door (say, door A).  Now, Monty opens a door that you did not pick (door B or C), showing you a goat (he definitely picks a goat door, picking at random if both are goats).  Now you have the option to switch (to the </a:t>
            </a:r>
            <a:r>
              <a:rPr lang="en-US" smtClean="0"/>
              <a:t>other </a:t>
            </a:r>
            <a:r>
              <a:rPr lang="en-US" smtClean="0"/>
              <a:t>un open </a:t>
            </a:r>
            <a:r>
              <a:rPr lang="en-US" dirty="0" smtClean="0"/>
              <a:t>door).  Should you?</a:t>
            </a:r>
            <a:endParaRPr lang="en-US" dirty="0"/>
          </a:p>
        </p:txBody>
      </p:sp>
    </p:spTree>
    <p:extLst>
      <p:ext uri="{BB962C8B-B14F-4D97-AF65-F5344CB8AC3E}">
        <p14:creationId xmlns:p14="http://schemas.microsoft.com/office/powerpoint/2010/main" val="12457162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Make A Deal</a:t>
            </a:r>
            <a:endParaRPr lang="en-US" dirty="0"/>
          </a:p>
        </p:txBody>
      </p:sp>
      <p:sp>
        <p:nvSpPr>
          <p:cNvPr id="3" name="Content Placeholder 2"/>
          <p:cNvSpPr>
            <a:spLocks noGrp="1"/>
          </p:cNvSpPr>
          <p:nvPr>
            <p:ph idx="1"/>
          </p:nvPr>
        </p:nvSpPr>
        <p:spPr/>
        <p:txBody>
          <a:bodyPr/>
          <a:lstStyle/>
          <a:p>
            <a:r>
              <a:rPr lang="en-US" dirty="0" smtClean="0"/>
              <a:t>Want P(you win by switching to B | he shows door C) =  … = 2/3 </a:t>
            </a:r>
          </a:p>
          <a:p>
            <a:r>
              <a:rPr lang="en-US" dirty="0" smtClean="0"/>
              <a:t>(we do detailed calculation on board)</a:t>
            </a:r>
            <a:endParaRPr lang="en-US" dirty="0"/>
          </a:p>
        </p:txBody>
      </p:sp>
    </p:spTree>
    <p:extLst>
      <p:ext uri="{BB962C8B-B14F-4D97-AF65-F5344CB8AC3E}">
        <p14:creationId xmlns:p14="http://schemas.microsoft.com/office/powerpoint/2010/main" val="10566292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10</a:t>
            </a:r>
            <a:endParaRPr lang="en-US" dirty="0"/>
          </a:p>
        </p:txBody>
      </p:sp>
      <p:sp>
        <p:nvSpPr>
          <p:cNvPr id="3" name="Content Placeholder 2"/>
          <p:cNvSpPr>
            <a:spLocks noGrp="1"/>
          </p:cNvSpPr>
          <p:nvPr>
            <p:ph idx="1"/>
          </p:nvPr>
        </p:nvSpPr>
        <p:spPr/>
        <p:txBody>
          <a:bodyPr/>
          <a:lstStyle/>
          <a:p>
            <a:r>
              <a:rPr lang="en-US" dirty="0" smtClean="0"/>
              <a:t>Neighbor’s children: Your neighbor has 2 children.  You are now told that one of them is a boy.  What is the probability that the other one is a boy?  </a:t>
            </a:r>
            <a:endParaRPr lang="en-US" dirty="0"/>
          </a:p>
        </p:txBody>
      </p:sp>
    </p:spTree>
    <p:extLst>
      <p:ext uri="{BB962C8B-B14F-4D97-AF65-F5344CB8AC3E}">
        <p14:creationId xmlns:p14="http://schemas.microsoft.com/office/powerpoint/2010/main" val="1511621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Neighbor’s children: Your neighbor has 2 children.  You are now told that one of them is a boy.  What is the probability that the other one is a boy?  </a:t>
            </a:r>
          </a:p>
          <a:p>
            <a:pPr marL="457200" lvl="1" indent="0">
              <a:buNone/>
            </a:pPr>
            <a:r>
              <a:rPr lang="en-US" dirty="0" smtClean="0"/>
              <a:t>S = {BB, BG, GB, GG}, equally likely if boys/girls born each with </a:t>
            </a:r>
            <a:r>
              <a:rPr lang="en-US" dirty="0" err="1" smtClean="0"/>
              <a:t>prob</a:t>
            </a:r>
            <a:r>
              <a:rPr lang="en-US" dirty="0" smtClean="0"/>
              <a:t> 0.5</a:t>
            </a:r>
          </a:p>
          <a:p>
            <a:pPr marL="457200" lvl="1" indent="0">
              <a:buNone/>
            </a:pPr>
            <a:r>
              <a:rPr lang="en-US" dirty="0" smtClean="0"/>
              <a:t>Want: P( {BB} | {BB,BG,GB} ) = (1/4) / (3/4) = 1/3</a:t>
            </a:r>
            <a:endParaRPr lang="en-US" dirty="0"/>
          </a:p>
        </p:txBody>
      </p:sp>
    </p:spTree>
    <p:extLst>
      <p:ext uri="{BB962C8B-B14F-4D97-AF65-F5344CB8AC3E}">
        <p14:creationId xmlns:p14="http://schemas.microsoft.com/office/powerpoint/2010/main" val="24931137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10’</a:t>
            </a:r>
            <a:endParaRPr lang="en-US" dirty="0"/>
          </a:p>
        </p:txBody>
      </p:sp>
      <p:sp>
        <p:nvSpPr>
          <p:cNvPr id="3" name="Content Placeholder 2"/>
          <p:cNvSpPr>
            <a:spLocks noGrp="1"/>
          </p:cNvSpPr>
          <p:nvPr>
            <p:ph idx="1"/>
          </p:nvPr>
        </p:nvSpPr>
        <p:spPr/>
        <p:txBody>
          <a:bodyPr/>
          <a:lstStyle/>
          <a:p>
            <a:r>
              <a:rPr lang="en-US" dirty="0" smtClean="0"/>
              <a:t>Neighbor’s children: Your neighbor has 2 children.  Your neighbor selects one child at random and brings to your house – it is a boy.  What is the probability that the other child is a boy?  </a:t>
            </a:r>
            <a:endParaRPr lang="en-US" dirty="0"/>
          </a:p>
        </p:txBody>
      </p:sp>
    </p:spTree>
    <p:extLst>
      <p:ext uri="{BB962C8B-B14F-4D97-AF65-F5344CB8AC3E}">
        <p14:creationId xmlns:p14="http://schemas.microsoft.com/office/powerpoint/2010/main" val="16357266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257800"/>
              </a:xfrm>
            </p:spPr>
            <p:txBody>
              <a:bodyPr>
                <a:normAutofit fontScale="77500" lnSpcReduction="20000"/>
              </a:bodyPr>
              <a:lstStyle/>
              <a:p>
                <a:r>
                  <a:rPr lang="en-US" dirty="0" smtClean="0"/>
                  <a:t>Neighbor’s children: Your neighbor has 2 children.  Your neighbor selects one child at random and brings to your house – it is a boy.  What is the probability that the other child is a boy?  </a:t>
                </a:r>
              </a:p>
              <a:p>
                <a:pPr marL="457200" lvl="1" indent="0">
                  <a:buNone/>
                </a:pPr>
                <a:r>
                  <a:rPr lang="en-US" dirty="0" smtClean="0"/>
                  <a:t>S = {BB, BG, GB, GG}, equally likely if boys/girls born each with </a:t>
                </a:r>
                <a:r>
                  <a:rPr lang="en-US" dirty="0" err="1" smtClean="0"/>
                  <a:t>prob</a:t>
                </a:r>
                <a:r>
                  <a:rPr lang="en-US" dirty="0" smtClean="0"/>
                  <a:t> 0.5</a:t>
                </a:r>
              </a:p>
              <a:p>
                <a:pPr marL="457200" lvl="1" indent="0">
                  <a:buNone/>
                </a:pPr>
                <a:r>
                  <a:rPr lang="en-US" dirty="0" smtClean="0"/>
                  <a:t>Let E = “the randomly chosen child brought to your house was a boy”</a:t>
                </a:r>
              </a:p>
              <a:p>
                <a:pPr marL="457200" lvl="1" indent="0">
                  <a:buNone/>
                </a:pPr>
                <a:r>
                  <a:rPr lang="en-US" dirty="0" smtClean="0"/>
                  <a:t>Want: P( {BB} |E ) =</a:t>
                </a:r>
              </a:p>
              <a:p>
                <a:pPr marL="457200" lvl="1"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a:rPr>
                                    <m:t>𝐵𝐵</m:t>
                                  </m:r>
                                </m:e>
                              </m:d>
                            </m:e>
                          </m:d>
                        </m:num>
                        <m:den>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e>
                              <m:d>
                                <m:dPr>
                                  <m:begChr m:val="{"/>
                                  <m:endChr m:val="}"/>
                                  <m:ctrlPr>
                                    <a:rPr lang="en-US" b="0" i="1" smtClean="0">
                                      <a:latin typeface="Cambria Math" panose="02040503050406030204" pitchFamily="18" charset="0"/>
                                    </a:rPr>
                                  </m:ctrlPr>
                                </m:dPr>
                                <m:e>
                                  <m:r>
                                    <a:rPr lang="en-US" b="0" i="1" smtClean="0">
                                      <a:latin typeface="Cambria Math"/>
                                    </a:rPr>
                                    <m:t>𝐵𝐵</m:t>
                                  </m:r>
                                </m:e>
                              </m:d>
                            </m:e>
                          </m:d>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e>
                              <m:d>
                                <m:dPr>
                                  <m:begChr m:val="{"/>
                                  <m:endChr m:val="}"/>
                                  <m:ctrlPr>
                                    <a:rPr lang="en-US" b="0" i="1" smtClean="0">
                                      <a:latin typeface="Cambria Math" panose="02040503050406030204" pitchFamily="18" charset="0"/>
                                    </a:rPr>
                                  </m:ctrlPr>
                                </m:dPr>
                                <m:e>
                                  <m:r>
                                    <a:rPr lang="en-US" b="0" i="1" smtClean="0">
                                      <a:latin typeface="Cambria Math"/>
                                    </a:rPr>
                                    <m:t>𝐵𝐺</m:t>
                                  </m:r>
                                </m:e>
                              </m:d>
                            </m:e>
                          </m:d>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e>
                              <m:d>
                                <m:dPr>
                                  <m:begChr m:val="{"/>
                                  <m:endChr m:val="}"/>
                                  <m:ctrlPr>
                                    <a:rPr lang="en-US" b="0" i="1" smtClean="0">
                                      <a:latin typeface="Cambria Math" panose="02040503050406030204" pitchFamily="18" charset="0"/>
                                    </a:rPr>
                                  </m:ctrlPr>
                                </m:dPr>
                                <m:e>
                                  <m:r>
                                    <a:rPr lang="en-US" b="0" i="1" smtClean="0">
                                      <a:latin typeface="Cambria Math"/>
                                    </a:rPr>
                                    <m:t>𝐺𝐵</m:t>
                                  </m:r>
                                </m:e>
                              </m:d>
                            </m:e>
                          </m:d>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e>
                              <m:d>
                                <m:dPr>
                                  <m:begChr m:val="{"/>
                                  <m:endChr m:val="}"/>
                                  <m:ctrlPr>
                                    <a:rPr lang="en-US" b="0" i="1" smtClean="0">
                                      <a:latin typeface="Cambria Math" panose="02040503050406030204" pitchFamily="18" charset="0"/>
                                    </a:rPr>
                                  </m:ctrlPr>
                                </m:dPr>
                                <m:e>
                                  <m:r>
                                    <a:rPr lang="en-US" b="0" i="1" smtClean="0">
                                      <a:latin typeface="Cambria Math"/>
                                    </a:rPr>
                                    <m:t>𝐺𝐺</m:t>
                                  </m:r>
                                </m:e>
                              </m:d>
                            </m:e>
                          </m:d>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e>
                          </m:d>
                        </m:den>
                      </m:f>
                      <m:r>
                        <a:rPr lang="en-US" b="0" i="1" smtClean="0">
                          <a:latin typeface="Cambria Math"/>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num>
                        <m:den>
                          <m:r>
                            <a:rPr lang="en-US" b="0" i="1" smtClean="0">
                              <a:latin typeface="Cambria Math"/>
                            </a:rPr>
                            <m:t>1</m:t>
                          </m:r>
                          <m:r>
                            <a:rPr lang="en-US" b="0" i="1" smtClean="0">
                              <a:latin typeface="Cambria Math"/>
                              <a:ea typeface="Cambria Math"/>
                            </a:rPr>
                            <m:t>×</m:t>
                          </m:r>
                          <m:d>
                            <m:dPr>
                              <m:ctrlPr>
                                <a:rPr lang="en-US" b="0" i="1" smtClean="0">
                                  <a:latin typeface="Cambria Math" panose="02040503050406030204" pitchFamily="18" charset="0"/>
                                  <a:ea typeface="Cambria Math"/>
                                </a:rPr>
                              </m:ctrlPr>
                            </m:dPr>
                            <m:e>
                              <m:f>
                                <m:fPr>
                                  <m:ctrlPr>
                                    <a:rPr lang="en-US" b="0" i="1" smtClean="0">
                                      <a:latin typeface="Cambria Math" panose="02040503050406030204" pitchFamily="18" charset="0"/>
                                      <a:ea typeface="Cambria Math"/>
                                    </a:rPr>
                                  </m:ctrlPr>
                                </m:fPr>
                                <m:num>
                                  <m:r>
                                    <a:rPr lang="en-US" b="0" i="1" smtClean="0">
                                      <a:latin typeface="Cambria Math"/>
                                      <a:ea typeface="Cambria Math"/>
                                    </a:rPr>
                                    <m:t>1</m:t>
                                  </m:r>
                                </m:num>
                                <m:den>
                                  <m:r>
                                    <a:rPr lang="en-US" b="0" i="1" smtClean="0">
                                      <a:latin typeface="Cambria Math"/>
                                      <a:ea typeface="Cambria Math"/>
                                    </a:rPr>
                                    <m:t>4</m:t>
                                  </m:r>
                                </m:den>
                              </m:f>
                            </m:e>
                          </m:d>
                          <m:r>
                            <a:rPr lang="en-US" b="0" i="1" smtClean="0">
                              <a:latin typeface="Cambria Math"/>
                              <a:ea typeface="Cambria Math"/>
                            </a:rPr>
                            <m:t>+</m:t>
                          </m:r>
                          <m:d>
                            <m:dPr>
                              <m:ctrlPr>
                                <a:rPr lang="en-US" b="0" i="1" smtClean="0">
                                  <a:latin typeface="Cambria Math" panose="02040503050406030204" pitchFamily="18" charset="0"/>
                                  <a:ea typeface="Cambria Math"/>
                                </a:rPr>
                              </m:ctrlPr>
                            </m:dPr>
                            <m:e>
                              <m:f>
                                <m:fPr>
                                  <m:ctrlPr>
                                    <a:rPr lang="en-US" b="0" i="1" smtClean="0">
                                      <a:latin typeface="Cambria Math" panose="02040503050406030204" pitchFamily="18" charset="0"/>
                                      <a:ea typeface="Cambria Math"/>
                                    </a:rPr>
                                  </m:ctrlPr>
                                </m:fPr>
                                <m:num>
                                  <m:r>
                                    <a:rPr lang="en-US" b="0" i="1" smtClean="0">
                                      <a:latin typeface="Cambria Math"/>
                                      <a:ea typeface="Cambria Math"/>
                                    </a:rPr>
                                    <m:t>1</m:t>
                                  </m:r>
                                </m:num>
                                <m:den>
                                  <m:r>
                                    <a:rPr lang="en-US" b="0" i="1" smtClean="0">
                                      <a:latin typeface="Cambria Math"/>
                                      <a:ea typeface="Cambria Math"/>
                                    </a:rPr>
                                    <m:t>2</m:t>
                                  </m:r>
                                </m:den>
                              </m:f>
                            </m:e>
                          </m:d>
                          <m:d>
                            <m:dPr>
                              <m:ctrlPr>
                                <a:rPr lang="en-US" b="0" i="1" smtClean="0">
                                  <a:latin typeface="Cambria Math" panose="02040503050406030204" pitchFamily="18" charset="0"/>
                                  <a:ea typeface="Cambria Math"/>
                                </a:rPr>
                              </m:ctrlPr>
                            </m:dPr>
                            <m:e>
                              <m:f>
                                <m:fPr>
                                  <m:ctrlPr>
                                    <a:rPr lang="en-US" b="0" i="1" smtClean="0">
                                      <a:latin typeface="Cambria Math" panose="02040503050406030204" pitchFamily="18" charset="0"/>
                                      <a:ea typeface="Cambria Math"/>
                                    </a:rPr>
                                  </m:ctrlPr>
                                </m:fPr>
                                <m:num>
                                  <m:r>
                                    <a:rPr lang="en-US" b="0" i="1" smtClean="0">
                                      <a:latin typeface="Cambria Math"/>
                                      <a:ea typeface="Cambria Math"/>
                                    </a:rPr>
                                    <m:t>1</m:t>
                                  </m:r>
                                </m:num>
                                <m:den>
                                  <m:r>
                                    <a:rPr lang="en-US" b="0" i="1" smtClean="0">
                                      <a:latin typeface="Cambria Math"/>
                                      <a:ea typeface="Cambria Math"/>
                                    </a:rPr>
                                    <m:t>4</m:t>
                                  </m:r>
                                </m:den>
                              </m:f>
                            </m:e>
                          </m:d>
                          <m:r>
                            <a:rPr lang="en-US" b="0" i="1" smtClean="0">
                              <a:latin typeface="Cambria Math"/>
                              <a:ea typeface="Cambria Math"/>
                            </a:rPr>
                            <m:t>+</m:t>
                          </m:r>
                          <m:d>
                            <m:dPr>
                              <m:ctrlPr>
                                <a:rPr lang="en-US" b="0" i="1" smtClean="0">
                                  <a:latin typeface="Cambria Math" panose="02040503050406030204" pitchFamily="18" charset="0"/>
                                  <a:ea typeface="Cambria Math"/>
                                </a:rPr>
                              </m:ctrlPr>
                            </m:dPr>
                            <m:e>
                              <m:f>
                                <m:fPr>
                                  <m:ctrlPr>
                                    <a:rPr lang="en-US" b="0" i="1" smtClean="0">
                                      <a:latin typeface="Cambria Math" panose="02040503050406030204" pitchFamily="18" charset="0"/>
                                      <a:ea typeface="Cambria Math"/>
                                    </a:rPr>
                                  </m:ctrlPr>
                                </m:fPr>
                                <m:num>
                                  <m:r>
                                    <a:rPr lang="en-US" b="0" i="1" smtClean="0">
                                      <a:latin typeface="Cambria Math"/>
                                      <a:ea typeface="Cambria Math"/>
                                    </a:rPr>
                                    <m:t>1</m:t>
                                  </m:r>
                                </m:num>
                                <m:den>
                                  <m:r>
                                    <a:rPr lang="en-US" b="0" i="1" smtClean="0">
                                      <a:latin typeface="Cambria Math"/>
                                      <a:ea typeface="Cambria Math"/>
                                    </a:rPr>
                                    <m:t>2</m:t>
                                  </m:r>
                                </m:den>
                              </m:f>
                            </m:e>
                          </m:d>
                          <m:d>
                            <m:dPr>
                              <m:ctrlPr>
                                <a:rPr lang="en-US" b="0" i="1" smtClean="0">
                                  <a:latin typeface="Cambria Math" panose="02040503050406030204" pitchFamily="18" charset="0"/>
                                  <a:ea typeface="Cambria Math"/>
                                </a:rPr>
                              </m:ctrlPr>
                            </m:dPr>
                            <m:e>
                              <m:f>
                                <m:fPr>
                                  <m:ctrlPr>
                                    <a:rPr lang="en-US" b="0" i="1" smtClean="0">
                                      <a:latin typeface="Cambria Math" panose="02040503050406030204" pitchFamily="18" charset="0"/>
                                      <a:ea typeface="Cambria Math"/>
                                    </a:rPr>
                                  </m:ctrlPr>
                                </m:fPr>
                                <m:num>
                                  <m:r>
                                    <a:rPr lang="en-US" b="0" i="1" smtClean="0">
                                      <a:latin typeface="Cambria Math"/>
                                      <a:ea typeface="Cambria Math"/>
                                    </a:rPr>
                                    <m:t>1</m:t>
                                  </m:r>
                                </m:num>
                                <m:den>
                                  <m:r>
                                    <a:rPr lang="en-US" b="0" i="1" smtClean="0">
                                      <a:latin typeface="Cambria Math"/>
                                      <a:ea typeface="Cambria Math"/>
                                    </a:rPr>
                                    <m:t>4</m:t>
                                  </m:r>
                                </m:den>
                              </m:f>
                            </m:e>
                          </m:d>
                          <m:r>
                            <a:rPr lang="en-US" b="0" i="1" smtClean="0">
                              <a:latin typeface="Cambria Math"/>
                              <a:ea typeface="Cambria Math"/>
                            </a:rPr>
                            <m:t>+0×</m:t>
                          </m:r>
                          <m:d>
                            <m:dPr>
                              <m:ctrlPr>
                                <a:rPr lang="en-US" b="0" i="1" smtClean="0">
                                  <a:latin typeface="Cambria Math" panose="02040503050406030204" pitchFamily="18" charset="0"/>
                                  <a:ea typeface="Cambria Math"/>
                                </a:rPr>
                              </m:ctrlPr>
                            </m:dPr>
                            <m:e>
                              <m:f>
                                <m:fPr>
                                  <m:ctrlPr>
                                    <a:rPr lang="en-US" b="0" i="1" smtClean="0">
                                      <a:latin typeface="Cambria Math" panose="02040503050406030204" pitchFamily="18" charset="0"/>
                                      <a:ea typeface="Cambria Math"/>
                                    </a:rPr>
                                  </m:ctrlPr>
                                </m:fPr>
                                <m:num>
                                  <m:r>
                                    <a:rPr lang="en-US" b="0" i="1" smtClean="0">
                                      <a:latin typeface="Cambria Math"/>
                                      <a:ea typeface="Cambria Math"/>
                                    </a:rPr>
                                    <m:t>1</m:t>
                                  </m:r>
                                </m:num>
                                <m:den>
                                  <m:r>
                                    <a:rPr lang="en-US" b="0" i="1" smtClean="0">
                                      <a:latin typeface="Cambria Math"/>
                                      <a:ea typeface="Cambria Math"/>
                                    </a:rPr>
                                    <m:t>4</m:t>
                                  </m:r>
                                </m:den>
                              </m:f>
                            </m:e>
                          </m:d>
                        </m:den>
                      </m:f>
                      <m:r>
                        <a:rPr lang="en-US" b="0" i="1" smtClean="0">
                          <a:latin typeface="Cambria Math"/>
                          <a:ea typeface="Cambria Math"/>
                        </a:rPr>
                        <m:t>=</m:t>
                      </m:r>
                      <m:f>
                        <m:fPr>
                          <m:ctrlPr>
                            <a:rPr lang="en-US" b="0" i="1" smtClean="0">
                              <a:latin typeface="Cambria Math" panose="02040503050406030204" pitchFamily="18" charset="0"/>
                              <a:ea typeface="Cambria Math"/>
                            </a:rPr>
                          </m:ctrlPr>
                        </m:fPr>
                        <m:num>
                          <m:r>
                            <a:rPr lang="en-US" b="0" i="1" smtClean="0">
                              <a:latin typeface="Cambria Math"/>
                              <a:ea typeface="Cambria Math"/>
                            </a:rPr>
                            <m:t>1</m:t>
                          </m:r>
                        </m:num>
                        <m:den>
                          <m:r>
                            <a:rPr lang="en-US" b="0" i="1" smtClean="0">
                              <a:latin typeface="Cambria Math"/>
                              <a:ea typeface="Cambria Math"/>
                            </a:rPr>
                            <m:t>2</m:t>
                          </m:r>
                        </m:den>
                      </m:f>
                      <m:r>
                        <a:rPr lang="en-US" b="0" i="1" smtClean="0">
                          <a:latin typeface="Cambria Math"/>
                          <a:ea typeface="Cambria Math"/>
                        </a:rPr>
                        <m:t> </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1">
                <a:blip r:embed="rId2"/>
                <a:stretch>
                  <a:fillRect l="-982" t="-2088" r="-561"/>
                </a:stretch>
              </a:blipFill>
            </p:spPr>
            <p:txBody>
              <a:bodyPr/>
              <a:lstStyle/>
              <a:p>
                <a:r>
                  <a:rPr lang="en-US">
                    <a:noFill/>
                  </a:rPr>
                  <a:t> </a:t>
                </a:r>
              </a:p>
            </p:txBody>
          </p:sp>
        </mc:Fallback>
      </mc:AlternateContent>
    </p:spTree>
    <p:extLst>
      <p:ext uri="{BB962C8B-B14F-4D97-AF65-F5344CB8AC3E}">
        <p14:creationId xmlns:p14="http://schemas.microsoft.com/office/powerpoint/2010/main" val="27016624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10’’</a:t>
            </a:r>
            <a:endParaRPr lang="en-US" dirty="0"/>
          </a:p>
        </p:txBody>
      </p:sp>
      <p:sp>
        <p:nvSpPr>
          <p:cNvPr id="3" name="Content Placeholder 2"/>
          <p:cNvSpPr>
            <a:spLocks noGrp="1"/>
          </p:cNvSpPr>
          <p:nvPr>
            <p:ph idx="1"/>
          </p:nvPr>
        </p:nvSpPr>
        <p:spPr/>
        <p:txBody>
          <a:bodyPr/>
          <a:lstStyle/>
          <a:p>
            <a:r>
              <a:rPr lang="en-US" dirty="0" smtClean="0"/>
              <a:t>Neighbor’s children: Your neighbor has 2 children.  You are now told that one of them is a boy, with a December birth month.  What is the probability that the other child is a boy?</a:t>
            </a:r>
          </a:p>
          <a:p>
            <a:pPr marL="0" indent="0">
              <a:buNone/>
            </a:pPr>
            <a:r>
              <a:rPr lang="en-US" dirty="0" smtClean="0"/>
              <a:t>(assume that the 12 birth months are equally likely and that gender is independent of birth month)  </a:t>
            </a:r>
            <a:endParaRPr lang="en-US" dirty="0"/>
          </a:p>
        </p:txBody>
      </p:sp>
    </p:spTree>
    <p:extLst>
      <p:ext uri="{BB962C8B-B14F-4D97-AF65-F5344CB8AC3E}">
        <p14:creationId xmlns:p14="http://schemas.microsoft.com/office/powerpoint/2010/main" val="34558051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smtClean="0"/>
                  <a:t>Neighbor’s children: Your neighbor has 2 children.  You are now told that one of them is a boy, with a December birth month.  What is the probability that the other child is a boy?</a:t>
                </a:r>
              </a:p>
              <a:p>
                <a:pPr marL="0" indent="0">
                  <a:buNone/>
                </a:pPr>
                <a:r>
                  <a:rPr lang="en-US" dirty="0" smtClean="0"/>
                  <a:t>(assume that the 12 birth months are equally likely and that gender is independent of birth month)  </a:t>
                </a:r>
              </a:p>
              <a:p>
                <a:pPr marL="0" indent="0">
                  <a:buNone/>
                </a:pPr>
                <a:r>
                  <a:rPr lang="en-US" dirty="0"/>
                  <a:t>	</a:t>
                </a:r>
                <a:r>
                  <a:rPr lang="en-US" dirty="0" smtClean="0"/>
                  <a:t>S={B</a:t>
                </a:r>
                <a:r>
                  <a:rPr lang="en-US" baseline="-25000" dirty="0" smtClean="0"/>
                  <a:t>1</a:t>
                </a:r>
                <a:r>
                  <a:rPr lang="en-US" dirty="0" smtClean="0"/>
                  <a:t>B</a:t>
                </a:r>
                <a:r>
                  <a:rPr lang="en-US" baseline="-25000" dirty="0" smtClean="0"/>
                  <a:t>1</a:t>
                </a:r>
                <a:r>
                  <a:rPr lang="en-US" dirty="0" smtClean="0"/>
                  <a:t>,B</a:t>
                </a:r>
                <a:r>
                  <a:rPr lang="en-US" baseline="-25000" dirty="0" smtClean="0"/>
                  <a:t>11</a:t>
                </a:r>
                <a:r>
                  <a:rPr lang="en-US" dirty="0" smtClean="0"/>
                  <a:t>G</a:t>
                </a:r>
                <a:r>
                  <a:rPr lang="en-US" baseline="-25000" dirty="0" smtClean="0"/>
                  <a:t>12</a:t>
                </a:r>
                <a:r>
                  <a:rPr lang="en-US" dirty="0" smtClean="0"/>
                  <a:t>,G</a:t>
                </a:r>
                <a:r>
                  <a:rPr lang="en-US" baseline="-25000" dirty="0" smtClean="0"/>
                  <a:t>7</a:t>
                </a:r>
                <a:r>
                  <a:rPr lang="en-US" dirty="0" smtClean="0"/>
                  <a:t>G</a:t>
                </a:r>
                <a:r>
                  <a:rPr lang="en-US" baseline="-25000" dirty="0" smtClean="0"/>
                  <a:t>7</a:t>
                </a:r>
                <a:r>
                  <a:rPr lang="en-US" dirty="0" smtClean="0"/>
                  <a:t>,…,G</a:t>
                </a:r>
                <a:r>
                  <a:rPr lang="en-US" baseline="-25000" dirty="0" smtClean="0"/>
                  <a:t>12</a:t>
                </a:r>
                <a:r>
                  <a:rPr lang="en-US" dirty="0" smtClean="0"/>
                  <a:t>G</a:t>
                </a:r>
                <a:r>
                  <a:rPr lang="en-US" baseline="-25000" dirty="0" smtClean="0"/>
                  <a:t>12</a:t>
                </a:r>
                <a:r>
                  <a:rPr lang="en-US" dirty="0" smtClean="0"/>
                  <a:t>}, equally likely</a:t>
                </a:r>
              </a:p>
              <a:p>
                <a:pPr marL="0" indent="0">
                  <a:buNone/>
                </a:pPr>
                <a:r>
                  <a:rPr lang="en-US" dirty="0" smtClean="0"/>
                  <a:t>P(both boys | at least one boy, born in Dec ) = </a:t>
                </a:r>
              </a:p>
              <a:p>
                <a:pPr marL="0" indent="0">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𝑏𝑜𝑡h</m:t>
                            </m:r>
                            <m:r>
                              <a:rPr lang="en-US" b="0" i="1" smtClean="0">
                                <a:latin typeface="Cambria Math"/>
                              </a:rPr>
                              <m:t> </m:t>
                            </m:r>
                            <m:r>
                              <a:rPr lang="en-US" b="0" i="1" smtClean="0">
                                <a:latin typeface="Cambria Math"/>
                              </a:rPr>
                              <m:t>𝑏𝑜𝑦𝑠</m:t>
                            </m:r>
                            <m:r>
                              <a:rPr lang="en-US" b="0" i="1" smtClean="0">
                                <a:latin typeface="Cambria Math"/>
                              </a:rPr>
                              <m:t>, </m:t>
                            </m:r>
                            <m:r>
                              <a:rPr lang="en-US" b="0" i="1" smtClean="0">
                                <a:latin typeface="Cambria Math"/>
                              </a:rPr>
                              <m:t>𝑎𝑡</m:t>
                            </m:r>
                            <m:r>
                              <a:rPr lang="en-US" b="0" i="1" smtClean="0">
                                <a:latin typeface="Cambria Math"/>
                              </a:rPr>
                              <m:t> </m:t>
                            </m:r>
                            <m:r>
                              <a:rPr lang="en-US" b="0" i="1" smtClean="0">
                                <a:latin typeface="Cambria Math"/>
                              </a:rPr>
                              <m:t>𝑙𝑒𝑎𝑠𝑡</m:t>
                            </m:r>
                            <m:r>
                              <a:rPr lang="en-US" b="0" i="1" smtClean="0">
                                <a:latin typeface="Cambria Math"/>
                              </a:rPr>
                              <m:t> </m:t>
                            </m:r>
                            <m:r>
                              <a:rPr lang="en-US" b="0" i="1" smtClean="0">
                                <a:latin typeface="Cambria Math"/>
                              </a:rPr>
                              <m:t>𝑜𝑛𝑒</m:t>
                            </m:r>
                            <m:r>
                              <a:rPr lang="en-US" b="0" i="1" smtClean="0">
                                <a:latin typeface="Cambria Math"/>
                              </a:rPr>
                              <m:t> </m:t>
                            </m:r>
                            <m:r>
                              <a:rPr lang="en-US" b="0" i="1" smtClean="0">
                                <a:latin typeface="Cambria Math"/>
                              </a:rPr>
                              <m:t>𝑏𝑜𝑟𝑛</m:t>
                            </m:r>
                            <m:r>
                              <a:rPr lang="en-US" b="0" i="1" smtClean="0">
                                <a:latin typeface="Cambria Math"/>
                              </a:rPr>
                              <m:t> </m:t>
                            </m:r>
                            <m:r>
                              <a:rPr lang="en-US" b="0" i="1" smtClean="0">
                                <a:latin typeface="Cambria Math"/>
                              </a:rPr>
                              <m:t>𝑖𝑛</m:t>
                            </m:r>
                            <m:r>
                              <a:rPr lang="en-US" b="0" i="1" smtClean="0">
                                <a:latin typeface="Cambria Math"/>
                              </a:rPr>
                              <m:t> </m:t>
                            </m:r>
                            <m:r>
                              <a:rPr lang="en-US" b="0" i="1" smtClean="0">
                                <a:latin typeface="Cambria Math"/>
                              </a:rPr>
                              <m:t>𝐷𝑒𝑐</m:t>
                            </m:r>
                          </m:e>
                        </m:d>
                      </m:num>
                      <m:den>
                        <m:r>
                          <a:rPr lang="en-US" b="0" i="1" smtClean="0">
                            <a:latin typeface="Cambria Math"/>
                          </a:rPr>
                          <m:t>𝑃</m:t>
                        </m:r>
                        <m:r>
                          <a:rPr lang="en-US" b="0" i="1" smtClean="0">
                            <a:latin typeface="Cambria Math"/>
                          </a:rPr>
                          <m:t>(</m:t>
                        </m:r>
                        <m:r>
                          <a:rPr lang="en-US" b="0" i="1" smtClean="0">
                            <a:latin typeface="Cambria Math"/>
                          </a:rPr>
                          <m:t>𝑎𝑡</m:t>
                        </m:r>
                        <m:r>
                          <a:rPr lang="en-US" b="0" i="1" smtClean="0">
                            <a:latin typeface="Cambria Math"/>
                          </a:rPr>
                          <m:t> </m:t>
                        </m:r>
                        <m:r>
                          <a:rPr lang="en-US" b="0" i="1" smtClean="0">
                            <a:latin typeface="Cambria Math"/>
                          </a:rPr>
                          <m:t>𝑙𝑒𝑎𝑠𝑡</m:t>
                        </m:r>
                        <m:r>
                          <a:rPr lang="en-US" b="0" i="1" smtClean="0">
                            <a:latin typeface="Cambria Math"/>
                          </a:rPr>
                          <m:t> </m:t>
                        </m:r>
                        <m:r>
                          <a:rPr lang="en-US" b="0" i="1" smtClean="0">
                            <a:latin typeface="Cambria Math"/>
                          </a:rPr>
                          <m:t>𝑜𝑛𝑒</m:t>
                        </m:r>
                        <m:r>
                          <a:rPr lang="en-US" b="0" i="1" smtClean="0">
                            <a:latin typeface="Cambria Math"/>
                          </a:rPr>
                          <m:t> </m:t>
                        </m:r>
                        <m:r>
                          <a:rPr lang="en-US" b="0" i="1" smtClean="0">
                            <a:latin typeface="Cambria Math"/>
                          </a:rPr>
                          <m:t>𝑏𝑜𝑦</m:t>
                        </m:r>
                        <m:r>
                          <a:rPr lang="en-US" b="0" i="1" smtClean="0">
                            <a:latin typeface="Cambria Math"/>
                          </a:rPr>
                          <m:t>, </m:t>
                        </m:r>
                        <m:r>
                          <a:rPr lang="en-US" b="0" i="1" smtClean="0">
                            <a:latin typeface="Cambria Math"/>
                          </a:rPr>
                          <m:t>𝑏𝑜𝑟𝑛</m:t>
                        </m:r>
                        <m:r>
                          <a:rPr lang="en-US" b="0" i="1" smtClean="0">
                            <a:latin typeface="Cambria Math"/>
                          </a:rPr>
                          <m:t> </m:t>
                        </m:r>
                        <m:r>
                          <a:rPr lang="en-US" b="0" i="1" smtClean="0">
                            <a:latin typeface="Cambria Math"/>
                          </a:rPr>
                          <m:t>𝑖𝑛</m:t>
                        </m:r>
                        <m:r>
                          <a:rPr lang="en-US" b="0" i="1" smtClean="0">
                            <a:latin typeface="Cambria Math"/>
                          </a:rPr>
                          <m:t> </m:t>
                        </m:r>
                        <m:r>
                          <a:rPr lang="en-US" b="0" i="1" smtClean="0">
                            <a:latin typeface="Cambria Math"/>
                          </a:rPr>
                          <m:t>𝐷𝑒𝑐</m:t>
                        </m:r>
                        <m:r>
                          <a:rPr lang="en-US" b="0" i="1" smtClean="0">
                            <a:latin typeface="Cambria Math"/>
                          </a:rPr>
                          <m:t>)</m:t>
                        </m:r>
                      </m:den>
                    </m:f>
                    <m:r>
                      <a:rPr lang="en-US" b="0" i="1" smtClean="0">
                        <a:latin typeface="Cambria Math"/>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e>
                        </m:d>
                        <m:d>
                          <m:dPr>
                            <m:ctrlPr>
                              <a:rPr lang="en-US" b="0" i="1" smtClean="0">
                                <a:latin typeface="Cambria Math" panose="02040503050406030204" pitchFamily="18" charset="0"/>
                              </a:rPr>
                            </m:ctrlPr>
                          </m:dPr>
                          <m:e>
                            <m:r>
                              <a:rPr lang="en-US" b="0" i="1" smtClean="0">
                                <a:latin typeface="Cambria Math"/>
                              </a:rPr>
                              <m:t>1−</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11</m:t>
                                        </m:r>
                                      </m:num>
                                      <m:den>
                                        <m:r>
                                          <a:rPr lang="en-US" b="0" i="1" smtClean="0">
                                            <a:latin typeface="Cambria Math"/>
                                          </a:rPr>
                                          <m:t>12</m:t>
                                        </m:r>
                                      </m:den>
                                    </m:f>
                                  </m:e>
                                </m:d>
                              </m:e>
                              <m:sup>
                                <m:r>
                                  <a:rPr lang="en-US" b="0" i="1" smtClean="0">
                                    <a:latin typeface="Cambria Math"/>
                                  </a:rPr>
                                  <m:t>2</m:t>
                                </m:r>
                              </m:sup>
                            </m:sSup>
                          </m:e>
                        </m:d>
                      </m:num>
                      <m:den>
                        <m:r>
                          <a:rPr lang="en-US" b="0" i="1" smtClean="0">
                            <a:latin typeface="Cambria Math"/>
                          </a:rPr>
                          <m:t>1−</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23</m:t>
                                    </m:r>
                                  </m:num>
                                  <m:den>
                                    <m:r>
                                      <a:rPr lang="en-US" b="0" i="1" smtClean="0">
                                        <a:latin typeface="Cambria Math"/>
                                      </a:rPr>
                                      <m:t>24</m:t>
                                    </m:r>
                                  </m:den>
                                </m:f>
                              </m:e>
                            </m:d>
                          </m:e>
                          <m:sup>
                            <m:r>
                              <a:rPr lang="en-US" b="0" i="1" smtClean="0">
                                <a:latin typeface="Cambria Math"/>
                              </a:rPr>
                              <m:t>2</m:t>
                            </m:r>
                          </m:sup>
                        </m:sSup>
                      </m:den>
                    </m:f>
                    <m:r>
                      <a:rPr lang="en-US" b="0" i="1" smtClean="0">
                        <a:latin typeface="Cambria Math"/>
                      </a:rPr>
                      <m:t>= </m:t>
                    </m:r>
                  </m:oMath>
                </a14:m>
                <a:r>
                  <a:rPr lang="en-US" dirty="0" smtClean="0"/>
                  <a:t>0.48936</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333" t="-2695" r="-815" b="-1348"/>
                </a:stretch>
              </a:blipFill>
            </p:spPr>
            <p:txBody>
              <a:bodyPr/>
              <a:lstStyle/>
              <a:p>
                <a:r>
                  <a:rPr lang="en-US">
                    <a:noFill/>
                  </a:rPr>
                  <a:t> </a:t>
                </a:r>
              </a:p>
            </p:txBody>
          </p:sp>
        </mc:Fallback>
      </mc:AlternateContent>
    </p:spTree>
    <p:extLst>
      <p:ext uri="{BB962C8B-B14F-4D97-AF65-F5344CB8AC3E}">
        <p14:creationId xmlns:p14="http://schemas.microsoft.com/office/powerpoint/2010/main" val="11033142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13804</TotalTime>
  <Words>1167</Words>
  <Application>Microsoft Office PowerPoint</Application>
  <PresentationFormat>全屏显示(4:3)</PresentationFormat>
  <Paragraphs>113</Paragraphs>
  <Slides>23</Slides>
  <Notes>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23</vt:i4>
      </vt:variant>
    </vt:vector>
  </HeadingPairs>
  <TitlesOfParts>
    <vt:vector size="29" baseType="lpstr">
      <vt:lpstr>Arial</vt:lpstr>
      <vt:lpstr>Calibri</vt:lpstr>
      <vt:lpstr>Cambria Math</vt:lpstr>
      <vt:lpstr>Symbol</vt:lpstr>
      <vt:lpstr>Times New Roman</vt:lpstr>
      <vt:lpstr>Office Theme</vt:lpstr>
      <vt:lpstr>A Puzzle</vt:lpstr>
      <vt:lpstr>Urn Problems</vt:lpstr>
      <vt:lpstr>Example 1: Urn Problem</vt:lpstr>
      <vt:lpstr>Example (cont)</vt:lpstr>
      <vt:lpstr>Example 2</vt:lpstr>
      <vt:lpstr>Example 3</vt:lpstr>
      <vt:lpstr>Conditional Probability</vt:lpstr>
      <vt:lpstr>Example 4</vt:lpstr>
      <vt:lpstr>Example 5</vt:lpstr>
      <vt:lpstr>Example (cont)</vt:lpstr>
      <vt:lpstr>Conditional Probability</vt:lpstr>
      <vt:lpstr>Example 6</vt:lpstr>
      <vt:lpstr>Example 7</vt:lpstr>
      <vt:lpstr>Law of Total Probability: Conditioning</vt:lpstr>
      <vt:lpstr>Example 8</vt:lpstr>
      <vt:lpstr>Example 9 Let’s Make A Deal</vt:lpstr>
      <vt:lpstr>Let’s Make A Deal</vt:lpstr>
      <vt:lpstr>Example 10</vt:lpstr>
      <vt:lpstr>Example</vt:lpstr>
      <vt:lpstr>Example 10’</vt:lpstr>
      <vt:lpstr>Example</vt:lpstr>
      <vt:lpstr>Example 10’’</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AMS 311</dc:title>
  <dc:creator>Joe</dc:creator>
  <cp:lastModifiedBy>xing</cp:lastModifiedBy>
  <cp:revision>48</cp:revision>
  <dcterms:created xsi:type="dcterms:W3CDTF">2013-08-27T21:54:20Z</dcterms:created>
  <dcterms:modified xsi:type="dcterms:W3CDTF">2026-03-06T08:56:06Z</dcterms:modified>
</cp:coreProperties>
</file>