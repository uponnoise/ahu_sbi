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65" r:id="rId2"/>
    <p:sldId id="387" r:id="rId3"/>
    <p:sldId id="366" r:id="rId4"/>
    <p:sldId id="367" r:id="rId5"/>
    <p:sldId id="369" r:id="rId6"/>
    <p:sldId id="370" r:id="rId7"/>
    <p:sldId id="383" r:id="rId8"/>
    <p:sldId id="384" r:id="rId9"/>
    <p:sldId id="385" r:id="rId10"/>
    <p:sldId id="368" r:id="rId11"/>
    <p:sldId id="371" r:id="rId12"/>
    <p:sldId id="381" r:id="rId13"/>
    <p:sldId id="388" r:id="rId14"/>
    <p:sldId id="386" r:id="rId15"/>
    <p:sldId id="382" r:id="rId16"/>
    <p:sldId id="373" r:id="rId17"/>
    <p:sldId id="397" r:id="rId18"/>
    <p:sldId id="398" r:id="rId19"/>
    <p:sldId id="399" r:id="rId20"/>
    <p:sldId id="400" r:id="rId21"/>
    <p:sldId id="389" r:id="rId22"/>
    <p:sldId id="412" r:id="rId23"/>
    <p:sldId id="413" r:id="rId24"/>
    <p:sldId id="415" r:id="rId25"/>
    <p:sldId id="416" r:id="rId26"/>
    <p:sldId id="417" r:id="rId27"/>
    <p:sldId id="418" r:id="rId28"/>
    <p:sldId id="419" r:id="rId29"/>
    <p:sldId id="420" r:id="rId30"/>
    <p:sldId id="390" r:id="rId31"/>
    <p:sldId id="391" r:id="rId32"/>
    <p:sldId id="411" r:id="rId33"/>
    <p:sldId id="392" r:id="rId34"/>
    <p:sldId id="394" r:id="rId35"/>
    <p:sldId id="395" r:id="rId36"/>
    <p:sldId id="396" r:id="rId37"/>
    <p:sldId id="421" r:id="rId38"/>
    <p:sldId id="422" r:id="rId39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http://www.braingle.com/brainteasers/26344/rolling-the-dice.html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1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 to here, 9/12/13</a:t>
            </a:r>
          </a:p>
          <a:p>
            <a:r>
              <a:rPr lang="en-US" dirty="0"/>
              <a:t>Example: X = -2, 0, 1.1, 9.2 </a:t>
            </a:r>
            <a:r>
              <a:rPr lang="en-US" dirty="0" err="1"/>
              <a:t>wp</a:t>
            </a:r>
            <a:r>
              <a:rPr lang="en-US" dirty="0"/>
              <a:t> .1,.2,.3,.4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discrete random variables </a:t>
            </a:r>
          </a:p>
          <a:p>
            <a:r>
              <a:rPr lang="en-US" dirty="0"/>
              <a:t>Expectation, variance,</a:t>
            </a:r>
          </a:p>
          <a:p>
            <a:r>
              <a:rPr lang="en-US" dirty="0"/>
              <a:t>Bernoulli and Binomial random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8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gambler goes to bet. The dealer has 3 dice, which are fair, meaning that the chance that each face shows up is exactly 1/6.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dealer says: "You can choose your bet on a number, any number from 1 to 6. Then I'll roll the 3 dice. If none show the number you bet, you'll lose $1. If one shows the number you bet, you'll win $1. If two or three dice show the number you bet, you'll win $3 or $5, respectively."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Is it a fair game?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3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Definition: A random variable (</a:t>
                </a:r>
                <a:r>
                  <a:rPr lang="en-US" dirty="0" err="1"/>
                  <a:t>r.v.</a:t>
                </a:r>
                <a:r>
                  <a:rPr lang="en-US" dirty="0"/>
                  <a:t>), X, is a function from the sample space, S, to the reals,</a:t>
                </a:r>
              </a:p>
              <a:p>
                <a:pPr marL="0" indent="0">
                  <a:buNone/>
                </a:pPr>
                <a:r>
                  <a:rPr lang="en-US" dirty="0"/>
                  <a:t>	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 :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</a:rPr>
                      <m:t> →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en-US" dirty="0">
                    <a:sym typeface="Symbol"/>
                  </a:rPr>
                  <a:t>,    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/>
                  </a:rPr>
                  <a:t>	so, for any outcome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/>
                      </a:rPr>
                      <m:t>𝜔</m:t>
                    </m:r>
                    <m:r>
                      <a:rPr lang="en-US" i="1" smtClean="0">
                        <a:latin typeface="Cambria Math"/>
                        <a:ea typeface="Cambria Math"/>
                        <a:sym typeface="Symbol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  <a:sym typeface="Symbol"/>
                      </a:rPr>
                      <m:t>𝑆</m:t>
                    </m:r>
                    <m:r>
                      <a:rPr lang="en-US" b="0" i="1" smtClean="0">
                        <a:latin typeface="Cambria Math"/>
                        <a:ea typeface="Cambria Math"/>
                        <a:sym typeface="Symbol"/>
                      </a:rPr>
                      <m:t>, </m:t>
                    </m:r>
                  </m:oMath>
                </a14:m>
                <a:r>
                  <a:rPr lang="en-US" dirty="0">
                    <a:sym typeface="Symbol"/>
                  </a:rPr>
                  <a:t>there is an 	assigned real number,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sym typeface="Symbol"/>
                      </a:rPr>
                      <m:t>𝑋</m:t>
                    </m:r>
                    <m:r>
                      <a:rPr lang="en-US" b="0" i="1" smtClean="0">
                        <a:latin typeface="Cambria Math"/>
                        <a:sym typeface="Symbol"/>
                      </a:rPr>
                      <m:t>(</m:t>
                    </m:r>
                    <m:r>
                      <a:rPr lang="en-US" b="0" i="1" smtClean="0">
                        <a:latin typeface="Cambria Math"/>
                        <a:ea typeface="Cambria Math"/>
                        <a:sym typeface="Symbol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  <a:sym typeface="Symbol"/>
                      </a:rPr>
                      <m:t>)</m:t>
                    </m:r>
                  </m:oMath>
                </a14:m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“Support set” = set of possible values of X</a:t>
                </a:r>
              </a:p>
              <a:p>
                <a:r>
                  <a:rPr lang="en-US" dirty="0">
                    <a:sym typeface="Symbol"/>
                  </a:rPr>
                  <a:t>Study the “distribution” of a </a:t>
                </a:r>
                <a:r>
                  <a:rPr lang="en-US" dirty="0" err="1">
                    <a:sym typeface="Symbol"/>
                  </a:rPr>
                  <a:t>r.v</a:t>
                </a:r>
                <a:r>
                  <a:rPr lang="en-US" dirty="0">
                    <a:sym typeface="Symbol"/>
                  </a:rPr>
                  <a:t>.: be able to answer probability questions about X, e.g., P(X&gt;3), P(X=7.1), P(2.1&lt;X&lt;4.55), P(X^2 &lt; 7), etc.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481" t="-1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84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Variables,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main classes of distributions/</a:t>
            </a:r>
            <a:r>
              <a:rPr lang="en-US" dirty="0" err="1"/>
              <a:t>r.v.’s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Discrete </a:t>
            </a:r>
            <a:r>
              <a:rPr lang="en-US" dirty="0" err="1"/>
              <a:t>r.v</a:t>
            </a:r>
            <a:r>
              <a:rPr lang="en-US" dirty="0"/>
              <a:t>.:  X </a:t>
            </a:r>
            <a:r>
              <a:rPr lang="en-US" dirty="0">
                <a:sym typeface="Symbol"/>
              </a:rPr>
              <a:t> {x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x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, x</a:t>
            </a:r>
            <a:r>
              <a:rPr lang="en-US" baseline="-25000" dirty="0">
                <a:sym typeface="Symbol"/>
              </a:rPr>
              <a:t>3</a:t>
            </a:r>
            <a:r>
              <a:rPr lang="en-US" dirty="0">
                <a:sym typeface="Symbol"/>
              </a:rPr>
              <a:t>,…}</a:t>
            </a:r>
          </a:p>
          <a:p>
            <a:pPr marL="914400" lvl="2" indent="0">
              <a:buNone/>
            </a:pPr>
            <a:r>
              <a:rPr lang="en-US" dirty="0">
                <a:sym typeface="Symbol"/>
              </a:rPr>
              <a:t>Support set is finite or countably infinite</a:t>
            </a:r>
          </a:p>
          <a:p>
            <a:pPr lvl="1"/>
            <a:r>
              <a:rPr lang="en-US" dirty="0">
                <a:sym typeface="Symbol"/>
              </a:rPr>
              <a:t>Continuous </a:t>
            </a:r>
            <a:r>
              <a:rPr lang="en-US" dirty="0" err="1">
                <a:sym typeface="Symbol"/>
              </a:rPr>
              <a:t>r.v.</a:t>
            </a:r>
            <a:r>
              <a:rPr lang="en-US" dirty="0">
                <a:sym typeface="Symbol"/>
              </a:rPr>
              <a:t>: There exists a “probability density function” (pdf) to describe the distribution.</a:t>
            </a:r>
          </a:p>
          <a:p>
            <a:pPr marL="914400" lvl="2" indent="0">
              <a:buNone/>
            </a:pPr>
            <a:r>
              <a:rPr lang="en-US" dirty="0">
                <a:sym typeface="Symbol"/>
              </a:rPr>
              <a:t>Support set is uncountably infinite (e.g., union of real intervals).  We use calculus to deal with continuous </a:t>
            </a:r>
            <a:r>
              <a:rPr lang="en-US" dirty="0" err="1">
                <a:sym typeface="Symbol"/>
              </a:rPr>
              <a:t>r.v.’s</a:t>
            </a:r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Other types of distributions as well (we may see some “hybrid distribution” </a:t>
            </a:r>
            <a:r>
              <a:rPr lang="en-US" dirty="0" err="1">
                <a:sym typeface="Symbol"/>
              </a:rPr>
              <a:t>r.v.’s</a:t>
            </a:r>
            <a:r>
              <a:rPr lang="en-US" dirty="0">
                <a:sym typeface="Symbol"/>
              </a:rPr>
              <a:t>, which are like continuous </a:t>
            </a:r>
            <a:r>
              <a:rPr lang="en-US" dirty="0" err="1">
                <a:sym typeface="Symbol"/>
              </a:rPr>
              <a:t>r.v.’s</a:t>
            </a:r>
            <a:r>
              <a:rPr lang="en-US" dirty="0">
                <a:sym typeface="Symbol"/>
              </a:rPr>
              <a:t>, but with “point masses” as well)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7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Roll 2 dice:  S = {(1,1),(1,2),…,(6,6) }.</a:t>
            </a:r>
          </a:p>
          <a:p>
            <a:pPr marL="457200" lvl="1" indent="0">
              <a:buNone/>
            </a:pPr>
            <a:r>
              <a:rPr lang="en-US" dirty="0"/>
              <a:t>Define X = “sum of dice”, meaning </a:t>
            </a:r>
          </a:p>
          <a:p>
            <a:pPr marL="457200" lvl="1" indent="0">
              <a:buNone/>
            </a:pPr>
            <a:r>
              <a:rPr lang="en-US" dirty="0"/>
              <a:t>	X( (3,4) ) = 3+4=7,  X( (6,6) ) = 12, </a:t>
            </a:r>
            <a:r>
              <a:rPr lang="en-US" dirty="0" err="1"/>
              <a:t>etc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X</a:t>
            </a:r>
            <a:r>
              <a:rPr lang="en-US" dirty="0">
                <a:sym typeface="Symbol"/>
              </a:rPr>
              <a:t> {2,3,4,…,12}   (support set)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Define Y = “smaller of two dice”, meaning</a:t>
            </a:r>
          </a:p>
          <a:p>
            <a:pPr marL="457200" lvl="1" indent="0">
              <a:buNone/>
            </a:pPr>
            <a:r>
              <a:rPr lang="en-US" dirty="0"/>
              <a:t>	Y( (3,4) ) = 3, Y( (6,6) ) = 6, </a:t>
            </a:r>
            <a:r>
              <a:rPr lang="en-US" dirty="0" err="1"/>
              <a:t>etc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Y</a:t>
            </a:r>
            <a:r>
              <a:rPr lang="en-US" dirty="0">
                <a:sym typeface="Symbol"/>
              </a:rPr>
              <a:t> {1,2,3,4,5,6}  (support set)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14260" y="3276600"/>
            <a:ext cx="14097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Discrete </a:t>
            </a:r>
            <a:r>
              <a:rPr lang="en-US" dirty="0" err="1"/>
              <a:t>r.v</a:t>
            </a:r>
            <a:r>
              <a:rPr lang="en-US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4260" y="4800600"/>
            <a:ext cx="14097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Discrete </a:t>
            </a:r>
            <a:r>
              <a:rPr lang="en-US" dirty="0" err="1"/>
              <a:t>r.v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9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>
                <a:sym typeface="Symbol"/>
              </a:rPr>
              <a:t>Break a meter stick in two pieces</a:t>
            </a: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S = { x : 0&lt;x&lt;1 } is the location of the break point, x</a:t>
            </a: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Define X = “length of larger piece”, meaning</a:t>
            </a: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	X(0.3) = 0.7, X(0.5) = 0.5, X(0.912) = 0.912, </a:t>
            </a:r>
            <a:r>
              <a:rPr lang="en-US" dirty="0" err="1">
                <a:sym typeface="Symbol"/>
              </a:rPr>
              <a:t>etc</a:t>
            </a:r>
            <a:endParaRPr lang="en-US" dirty="0">
              <a:sym typeface="Symbol"/>
            </a:endParaRP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	X  [0.5,1)   (support set)</a:t>
            </a: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Define Y = “area of right triangle having legs made from the two pieces of the stick”, meaning</a:t>
            </a: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	Y(0.3) = (1/2)(0.3)(0.7), Y(0.5) = (1/2)(0.5)(0.5), 			Y(0.912) = (1/2)(0.912)(0.088), </a:t>
            </a:r>
            <a:r>
              <a:rPr lang="en-US" dirty="0" err="1">
                <a:sym typeface="Symbol"/>
              </a:rPr>
              <a:t>etc</a:t>
            </a:r>
            <a:endParaRPr lang="en-US" dirty="0">
              <a:sym typeface="Symbol"/>
            </a:endParaRPr>
          </a:p>
          <a:p>
            <a:pPr marL="457200" lvl="1" indent="0">
              <a:buNone/>
            </a:pPr>
            <a:r>
              <a:rPr lang="en-US" dirty="0">
                <a:sym typeface="Symbol"/>
              </a:rPr>
              <a:t>	Y  (0, 1/8]    (support set)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25738" y="6172200"/>
            <a:ext cx="17526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Continuous </a:t>
            </a:r>
            <a:r>
              <a:rPr lang="en-US" dirty="0" err="1"/>
              <a:t>r.v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10000"/>
            <a:ext cx="17526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Continuous </a:t>
            </a:r>
            <a:r>
              <a:rPr lang="en-US" dirty="0" err="1"/>
              <a:t>r.v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89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14FAC-365B-4577-B960-1A380C7B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A05575-7C5D-4994-AA9A-720B69CE52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latin typeface="+mj-lt"/>
                  </a:rPr>
                  <a:t>Flip a coin having probability p of coming up heads continually until either a head occurs or a total of n flips are made. If we let X denote the number of times the coin is flipped, then X is a random variable. Compute P(X=</a:t>
                </a:r>
                <a:r>
                  <a:rPr lang="en-US" altLang="zh-CN" dirty="0" err="1">
                    <a:latin typeface="+mj-lt"/>
                  </a:rPr>
                  <a:t>i</a:t>
                </a:r>
                <a:r>
                  <a:rPr lang="en-US" altLang="zh-CN" dirty="0">
                    <a:latin typeface="+mj-lt"/>
                  </a:rPr>
                  <a:t>) for </a:t>
                </a:r>
                <a:r>
                  <a:rPr lang="en-US" altLang="zh-CN" dirty="0" err="1">
                    <a:latin typeface="+mj-lt"/>
                  </a:rPr>
                  <a:t>i</a:t>
                </a:r>
                <a:r>
                  <a:rPr lang="en-US" altLang="zh-CN" dirty="0">
                    <a:latin typeface="+mj-lt"/>
                  </a:rPr>
                  <a:t>=1,2,..,n.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j-lt"/>
                  </a:rPr>
                  <a:t>Check: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⋃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A05575-7C5D-4994-AA9A-720B69CE5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67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FACB3-2A7F-4435-A0DA-0ADB3A3B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108643-6718-4803-9BAC-493452811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Coupon collector: Suppose that there are r types of coupon and that each time one obtains a coupon, independently of previous selections with replacement, equally likely to be any one of the types. Let T be the random variable which counts the number of coupons that need to be collected until one obtains a complete set of at least one of each type.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the event that no </a:t>
                </a:r>
                <a:r>
                  <a:rPr lang="en-US" altLang="zh-CN" dirty="0" err="1"/>
                  <a:t>i-th</a:t>
                </a:r>
                <a:r>
                  <a:rPr lang="en-US" altLang="zh-CN" dirty="0"/>
                  <a:t> type is contained in the first n selections.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108643-6718-4803-9BAC-493452811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830" r="-2593" b="-3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69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09FF5-74D9-4F26-8E59-538625E33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9229DB-5A63-4319-83AB-19A2DF1E0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Coupon collector continued:</a:t>
                </a:r>
              </a:p>
              <a:p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the random variable counts the number of types of coupons that are obtained in the first n selections. </a:t>
                </a:r>
              </a:p>
              <a:p>
                <a:r>
                  <a:rPr lang="en-US" altLang="zh-CN" dirty="0"/>
                  <a:t>Fix k types K.</a:t>
                </a:r>
              </a:p>
              <a:p>
                <a:r>
                  <a:rPr lang="en-US" altLang="zh-CN" dirty="0"/>
                  <a:t>A:  the type of each selection is from K</a:t>
                </a:r>
              </a:p>
              <a:p>
                <a:r>
                  <a:rPr lang="en-US" altLang="zh-CN" dirty="0"/>
                  <a:t>B: all types in K are represented. P(B|A)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the law of total probability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9229DB-5A63-4319-83AB-19A2DF1E0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85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94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Cumulative distribution function (</a:t>
                </a:r>
                <a:r>
                  <a:rPr lang="en-US" dirty="0" err="1"/>
                  <a:t>cdf</a:t>
                </a:r>
                <a:r>
                  <a:rPr lang="en-US" dirty="0"/>
                  <a:t>): Defined for </a:t>
                </a:r>
                <a:r>
                  <a:rPr lang="en-US" i="1" dirty="0"/>
                  <a:t>all</a:t>
                </a:r>
                <a:r>
                  <a:rPr lang="en-US" dirty="0"/>
                  <a:t> </a:t>
                </a:r>
                <a:r>
                  <a:rPr lang="en-US" dirty="0" err="1"/>
                  <a:t>r.v.’s</a:t>
                </a:r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 :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ea typeface="Cambria Math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/>
                  </a:rPr>
                  <a:t>Defined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We usually abbreviate: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>
                  <a:ea typeface="Cambria Math"/>
                </a:endParaRP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031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cdf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Non-decreasing</a:t>
                </a:r>
              </a:p>
              <a:p>
                <a:r>
                  <a:rPr lang="en-US" dirty="0"/>
                  <a:t>Right-continuous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→−∞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=0, 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→+∞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e>
                        </m:func>
                      </m:e>
                    </m:func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&gt;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=1−</m:t>
                    </m:r>
                    <m:r>
                      <a:rPr lang="en-US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=1−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𝐹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&lt;</m:t>
                        </m:r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>
                  <a:ea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𝐹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 </m:t>
                    </m:r>
                  </m:oMath>
                </a14:m>
                <a:r>
                  <a:rPr lang="en-US" dirty="0"/>
                  <a:t> jump of </a:t>
                </a:r>
                <a:r>
                  <a:rPr lang="en-US" dirty="0" err="1"/>
                  <a:t>cdf</a:t>
                </a:r>
                <a:r>
                  <a:rPr lang="en-US" dirty="0"/>
                  <a:t> at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022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57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of </a:t>
            </a:r>
            <a:r>
              <a:rPr lang="en-US" dirty="0" err="1"/>
              <a:t>cdf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219200" y="4165294"/>
            <a:ext cx="49530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3124200" y="2488894"/>
            <a:ext cx="0" cy="2057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981200" y="2717494"/>
            <a:ext cx="52578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1343891" y="3562621"/>
            <a:ext cx="2341418" cy="554182"/>
          </a:xfrm>
          <a:custGeom>
            <a:avLst/>
            <a:gdLst>
              <a:gd name="connsiteX0" fmla="*/ 0 w 2341418"/>
              <a:gd name="connsiteY0" fmla="*/ 554182 h 554182"/>
              <a:gd name="connsiteX1" fmla="*/ 817418 w 2341418"/>
              <a:gd name="connsiteY1" fmla="*/ 540328 h 554182"/>
              <a:gd name="connsiteX2" fmla="*/ 1496291 w 2341418"/>
              <a:gd name="connsiteY2" fmla="*/ 304800 h 554182"/>
              <a:gd name="connsiteX3" fmla="*/ 1759527 w 2341418"/>
              <a:gd name="connsiteY3" fmla="*/ 83128 h 554182"/>
              <a:gd name="connsiteX4" fmla="*/ 2341418 w 2341418"/>
              <a:gd name="connsiteY4" fmla="*/ 0 h 55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418" h="554182">
                <a:moveTo>
                  <a:pt x="0" y="554182"/>
                </a:moveTo>
                <a:lnTo>
                  <a:pt x="817418" y="540328"/>
                </a:lnTo>
                <a:lnTo>
                  <a:pt x="1496291" y="304800"/>
                </a:lnTo>
                <a:lnTo>
                  <a:pt x="1759527" y="83128"/>
                </a:lnTo>
                <a:lnTo>
                  <a:pt x="2341418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3671455" y="2772912"/>
            <a:ext cx="3283527" cy="512618"/>
          </a:xfrm>
          <a:custGeom>
            <a:avLst/>
            <a:gdLst>
              <a:gd name="connsiteX0" fmla="*/ 0 w 3283527"/>
              <a:gd name="connsiteY0" fmla="*/ 512618 h 512618"/>
              <a:gd name="connsiteX1" fmla="*/ 277090 w 3283527"/>
              <a:gd name="connsiteY1" fmla="*/ 277091 h 512618"/>
              <a:gd name="connsiteX2" fmla="*/ 831272 w 3283527"/>
              <a:gd name="connsiteY2" fmla="*/ 249382 h 512618"/>
              <a:gd name="connsiteX3" fmla="*/ 1482436 w 3283527"/>
              <a:gd name="connsiteY3" fmla="*/ 83127 h 512618"/>
              <a:gd name="connsiteX4" fmla="*/ 2189018 w 3283527"/>
              <a:gd name="connsiteY4" fmla="*/ 27709 h 512618"/>
              <a:gd name="connsiteX5" fmla="*/ 3283527 w 3283527"/>
              <a:gd name="connsiteY5" fmla="*/ 0 h 5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3527" h="512618">
                <a:moveTo>
                  <a:pt x="0" y="512618"/>
                </a:moveTo>
                <a:lnTo>
                  <a:pt x="277090" y="277091"/>
                </a:lnTo>
                <a:lnTo>
                  <a:pt x="831272" y="249382"/>
                </a:lnTo>
                <a:lnTo>
                  <a:pt x="1482436" y="83127"/>
                </a:lnTo>
                <a:lnTo>
                  <a:pt x="2189018" y="27709"/>
                </a:lnTo>
                <a:lnTo>
                  <a:pt x="3283527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12573" y="3479494"/>
            <a:ext cx="121227" cy="1212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12573" y="3174694"/>
            <a:ext cx="121227" cy="121227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3685309" y="4116803"/>
            <a:ext cx="0" cy="200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05200" y="424149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255349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6886" y="1924901"/>
            <a:ext cx="1264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F(x)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9400" y="256509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35559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</a:t>
            </a:r>
            <a:r>
              <a:rPr lang="en-US" dirty="0" err="1"/>
              <a:t>r.v.’s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Definition: The probability mass function (</a:t>
                </a:r>
                <a:r>
                  <a:rPr lang="en-US" dirty="0" err="1"/>
                  <a:t>pmf</a:t>
                </a:r>
                <a:r>
                  <a:rPr lang="en-US" dirty="0"/>
                  <a:t>) of discrete </a:t>
                </a:r>
                <a:r>
                  <a:rPr lang="en-US" dirty="0" err="1"/>
                  <a:t>r.v</a:t>
                </a:r>
                <a:r>
                  <a:rPr lang="en-US" dirty="0"/>
                  <a:t>. X is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Nonzero only for values of x in the support set, </a:t>
                </a:r>
                <a:r>
                  <a:rPr lang="en-US" dirty="0">
                    <a:latin typeface="Script MT Bold"/>
                    <a:sym typeface="Symbol"/>
                  </a:rPr>
                  <a:t>D: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=0 </m:t>
                    </m:r>
                    <m:r>
                      <a:rPr lang="en-US" b="0" i="1" smtClean="0">
                        <a:latin typeface="Cambria Math"/>
                      </a:rPr>
                      <m:t>𝑖𝑓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∉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Script MT Bold"/>
                    <a:sym typeface="Symbol"/>
                  </a:rPr>
                  <a:t>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Sums to 1: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        [Axiom (2) ]</a:t>
                </a:r>
              </a:p>
              <a:p>
                <a:r>
                  <a:rPr lang="en-US" dirty="0"/>
                  <a:t>Given the </a:t>
                </a:r>
                <a:r>
                  <a:rPr lang="en-US" dirty="0" err="1"/>
                  <a:t>pmf</a:t>
                </a:r>
                <a:r>
                  <a:rPr lang="en-US" dirty="0"/>
                  <a:t>, can easily find the </a:t>
                </a:r>
                <a:r>
                  <a:rPr lang="en-US" dirty="0" err="1"/>
                  <a:t>cdf</a:t>
                </a:r>
                <a:r>
                  <a:rPr lang="en-US" dirty="0"/>
                  <a:t> and vice-versa: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= jump in </a:t>
                </a:r>
                <a:r>
                  <a:rPr lang="en-US" dirty="0" err="1"/>
                  <a:t>cdf</a:t>
                </a:r>
                <a:r>
                  <a:rPr lang="en-US" dirty="0"/>
                  <a:t> at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481" t="-2320" r="-5037" b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02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2533A-B1F1-43B0-968A-1105CD6C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2D297EE-0810-4E77-AAF9-F9FB17948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Let X be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the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given by 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=0.25,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=0.5,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=0.125,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=0.125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Find the </a:t>
                </a:r>
                <a:r>
                  <a:rPr lang="en-US" altLang="zh-CN" dirty="0" err="1"/>
                  <a:t>cdf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plot the graph.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2D297EE-0810-4E77-AAF9-F9FB17948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36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probability mass function of a </a:t>
                </a:r>
                <a:r>
                  <a:rPr lang="en-US" dirty="0" err="1"/>
                  <a:t>r.v.</a:t>
                </a:r>
                <a:r>
                  <a:rPr lang="en-US" dirty="0"/>
                  <a:t> X is given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for </a:t>
                </a:r>
                <a:r>
                  <a:rPr lang="en-US" dirty="0" err="1"/>
                  <a:t>i</a:t>
                </a:r>
                <a:r>
                  <a:rPr lang="en-US" dirty="0"/>
                  <a:t>=0,1,2,…, 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a positive real. Find (a)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dirty="0"/>
                  <a:t> and (b)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&gt;2</m:t>
                        </m:r>
                      </m:e>
                    </m:d>
                  </m:oMath>
                </a14:m>
                <a:r>
                  <a:rPr lang="en-US" altLang="zh-CN" dirty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660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Expected Value (Mean): Discrete </a:t>
            </a:r>
            <a:r>
              <a:rPr lang="en-US" dirty="0" err="1"/>
              <a:t>r.v.’s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Definition: The </a:t>
                </a:r>
                <a:r>
                  <a:rPr lang="en-US" i="1" dirty="0"/>
                  <a:t>expected value </a:t>
                </a:r>
                <a:r>
                  <a:rPr lang="en-US" dirty="0"/>
                  <a:t>(or </a:t>
                </a:r>
                <a:r>
                  <a:rPr lang="en-US" i="1" dirty="0"/>
                  <a:t>mean</a:t>
                </a:r>
                <a:r>
                  <a:rPr lang="en-US" dirty="0"/>
                  <a:t>)</a:t>
                </a:r>
                <a:r>
                  <a:rPr lang="en-US" i="1" dirty="0"/>
                  <a:t> </a:t>
                </a:r>
                <a:r>
                  <a:rPr lang="en-US" dirty="0"/>
                  <a:t>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is defined to be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(Note: In some cases, the mean does not exist, e.g., if the support set has an infinite number of elements and the sum does not converge: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 Example: X takes values 2, 4, 8, 16, 32,… </a:t>
                </a:r>
                <a:r>
                  <a:rPr lang="en-US" dirty="0" err="1"/>
                  <a:t>w.p.</a:t>
                </a:r>
                <a:r>
                  <a:rPr lang="en-US" dirty="0"/>
                  <a:t> ½, ¼, 1/8, 1/16, 1/32,… , then E(X)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022" r="-370" b="-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112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Definitions: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i="1" dirty="0"/>
                  <a:t>median, m,</a:t>
                </a:r>
                <a:r>
                  <a:rPr lang="en-US" dirty="0"/>
                  <a:t> of X is a number, </a:t>
                </a:r>
                <a:r>
                  <a:rPr lang="en-US" i="1" dirty="0"/>
                  <a:t>m</a:t>
                </a:r>
                <a:r>
                  <a:rPr lang="en-US" dirty="0"/>
                  <a:t>, such that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𝑎𝑛𝑑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 ≥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/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Note: X may have a unique median or a non-unique median (in which case the set of all median values </a:t>
                </a:r>
                <a:r>
                  <a:rPr lang="en-US" i="1" dirty="0"/>
                  <a:t>m</a:t>
                </a:r>
                <a:r>
                  <a:rPr lang="en-US" dirty="0"/>
                  <a:t> forms an interval)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This definition applies to all </a:t>
                </a:r>
                <a:r>
                  <a:rPr lang="en-US" dirty="0" err="1"/>
                  <a:t>r.v.’s</a:t>
                </a:r>
                <a:r>
                  <a:rPr lang="en-US" dirty="0"/>
                  <a:t> X, whether discrete or continuous.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47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96382-16B7-4CA2-9EC2-5B1FAB23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44BCF7-9808-4F91-AF47-4E3CFA7B7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We say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dirty="0"/>
                  <a:t> is the indicator random variable for the event A: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occurs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does not occur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44BCF7-9808-4F91-AF47-4E3CFA7B7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982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34644-F587-43B2-83B3-B2139363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8B8489-8137-48BA-B326-12CD5CB449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CN" dirty="0"/>
                  <a:t>A contestant  on a quiz show is presented with two questions, questions 1 and 2, which he is to attempt to answer in some order he chooses. If he decide to try question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first, then he will be allowed to answer question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only if his answer to question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correct. Otherwise, he is not allowed to answer the other question. The contestant receive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dollars if he answer question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correctly. If the probability that he know the answer to question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 which question he should try to answer first?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8B8489-8137-48BA-B326-12CD5CB449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3504" r="-3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654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Discrete </a:t>
            </a:r>
            <a:r>
              <a:rPr lang="en-US" dirty="0" err="1"/>
              <a:t>r.v.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</a:t>
            </a:r>
            <a:r>
              <a:rPr lang="en-US" dirty="0" err="1"/>
              <a:t>r.v</a:t>
            </a:r>
            <a:r>
              <a:rPr lang="en-US" dirty="0"/>
              <a:t>.:  Let Y = g(X).</a:t>
            </a:r>
          </a:p>
          <a:p>
            <a:r>
              <a:rPr lang="en-US" dirty="0"/>
              <a:t>How to find </a:t>
            </a:r>
            <a:r>
              <a:rPr lang="en-US" dirty="0" err="1"/>
              <a:t>pmf</a:t>
            </a:r>
            <a:r>
              <a:rPr lang="en-US" dirty="0"/>
              <a:t>, </a:t>
            </a:r>
            <a:r>
              <a:rPr lang="en-US" dirty="0" err="1"/>
              <a:t>cdf</a:t>
            </a:r>
            <a:r>
              <a:rPr lang="en-US" dirty="0"/>
              <a:t> of Y?</a:t>
            </a:r>
          </a:p>
          <a:p>
            <a:r>
              <a:rPr lang="en-US" dirty="0"/>
              <a:t>Easy!</a:t>
            </a:r>
          </a:p>
          <a:p>
            <a:r>
              <a:rPr lang="en-US" dirty="0"/>
              <a:t>Support set for Y = </a:t>
            </a:r>
            <a:r>
              <a:rPr lang="en-US" dirty="0">
                <a:latin typeface="Script MT Bold"/>
                <a:sym typeface="Symbol"/>
              </a:rPr>
              <a:t>D</a:t>
            </a:r>
            <a:r>
              <a:rPr lang="en-US" baseline="-25000" dirty="0"/>
              <a:t>Y</a:t>
            </a:r>
            <a:r>
              <a:rPr lang="en-US" dirty="0"/>
              <a:t> = { g(x) : x </a:t>
            </a:r>
            <a:r>
              <a:rPr lang="en-US" dirty="0">
                <a:sym typeface="Symbol"/>
              </a:rPr>
              <a:t> </a:t>
            </a:r>
            <a:r>
              <a:rPr lang="en-US" dirty="0">
                <a:latin typeface="Script MT Bold"/>
                <a:sym typeface="Symbol"/>
              </a:rPr>
              <a:t>D</a:t>
            </a:r>
            <a:r>
              <a:rPr lang="en-US" dirty="0">
                <a:sym typeface="Symbol"/>
              </a:rPr>
              <a:t> }</a:t>
            </a:r>
          </a:p>
          <a:p>
            <a:r>
              <a:rPr lang="en-US" dirty="0" err="1">
                <a:sym typeface="Symbol"/>
              </a:rPr>
              <a:t>pmf</a:t>
            </a:r>
            <a:r>
              <a:rPr lang="en-US" dirty="0">
                <a:sym typeface="Symbol"/>
              </a:rPr>
              <a:t> of Y :   </a:t>
            </a:r>
            <a:r>
              <a:rPr lang="en-US" dirty="0" err="1">
                <a:sym typeface="Symbol"/>
              </a:rPr>
              <a:t>p</a:t>
            </a:r>
            <a:r>
              <a:rPr lang="en-US" baseline="-25000" dirty="0" err="1">
                <a:sym typeface="Symbol"/>
              </a:rPr>
              <a:t>Y</a:t>
            </a:r>
            <a:r>
              <a:rPr lang="en-US" dirty="0">
                <a:sym typeface="Symbol"/>
              </a:rPr>
              <a:t>(y) = P(Y=y) = P(g(X)=y)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25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Expectations: Discrete </a:t>
            </a:r>
            <a:r>
              <a:rPr lang="en-US" dirty="0" err="1"/>
              <a:t>r.v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Expectation of functions of </a:t>
                </a:r>
                <a:r>
                  <a:rPr lang="en-US" dirty="0" err="1"/>
                  <a:t>r.v.</a:t>
                </a:r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(proof in text:  easy!  Change order of summation)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086600" y="1676400"/>
            <a:ext cx="16764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[Prop 4.1, Ross]</a:t>
            </a:r>
          </a:p>
        </p:txBody>
      </p:sp>
    </p:spTree>
    <p:extLst>
      <p:ext uri="{BB962C8B-B14F-4D97-AF65-F5344CB8AC3E}">
        <p14:creationId xmlns:p14="http://schemas.microsoft.com/office/powerpoint/2010/main" val="4074660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81781"/>
            <a:ext cx="8369049" cy="4547619"/>
          </a:xfrm>
        </p:spPr>
      </p:pic>
    </p:spTree>
    <p:extLst>
      <p:ext uri="{BB962C8B-B14F-4D97-AF65-F5344CB8AC3E}">
        <p14:creationId xmlns:p14="http://schemas.microsoft.com/office/powerpoint/2010/main" val="358877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04C60-22E6-409A-AC8F-180826F9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256A45-B909-48D0-A02B-B2EAC6DBE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denote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that takes on any of values -1, 0, and 1 with probability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=0.5,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=0.3 </m:t>
                    </m:r>
                  </m:oMath>
                </a14:m>
                <a:endParaRPr lang="en-US" altLang="zh-CN" sz="2800" b="0" dirty="0"/>
              </a:p>
              <a:p>
                <a:pPr marL="0" indent="0">
                  <a:buNone/>
                </a:pPr>
                <a:r>
                  <a:rPr lang="en-US" altLang="zh-CN" dirty="0"/>
                  <a:t>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256A45-B909-48D0-A02B-B2EAC6DB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853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Expectation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Linearity of Expectation: If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constants, then E(</a:t>
            </a:r>
            <a:r>
              <a:rPr lang="en-US" dirty="0" err="1"/>
              <a:t>aX+b</a:t>
            </a:r>
            <a:r>
              <a:rPr lang="en-US" dirty="0"/>
              <a:t>) = </a:t>
            </a:r>
            <a:r>
              <a:rPr lang="en-US" dirty="0" err="1"/>
              <a:t>aE</a:t>
            </a:r>
            <a:r>
              <a:rPr lang="en-US" dirty="0"/>
              <a:t>(X)+b</a:t>
            </a:r>
          </a:p>
          <a:p>
            <a:r>
              <a:rPr lang="en-US" dirty="0"/>
              <a:t>Holds for discrete and continuous </a:t>
            </a:r>
            <a:r>
              <a:rPr lang="en-US" dirty="0" err="1"/>
              <a:t>r.v.’s</a:t>
            </a:r>
            <a:endParaRPr lang="en-US" dirty="0"/>
          </a:p>
          <a:p>
            <a:r>
              <a:rPr lang="en-US" dirty="0"/>
              <a:t>Proof for discrete </a:t>
            </a:r>
            <a:r>
              <a:rPr lang="en-US" dirty="0" err="1"/>
              <a:t>r.v</a:t>
            </a:r>
            <a:r>
              <a:rPr lang="en-US" dirty="0"/>
              <a:t>.: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145268"/>
            <a:ext cx="16764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Cor</a:t>
            </a:r>
            <a:r>
              <a:rPr lang="en-US" dirty="0"/>
              <a:t> 4.1, Ross]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421" y="3962400"/>
            <a:ext cx="6139979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64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656BF-225B-467C-9432-6BF74008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Moments of a </a:t>
            </a:r>
            <a:r>
              <a:rPr lang="en-US" altLang="zh-CN" dirty="0" err="1"/>
              <a:t>r.v.</a:t>
            </a:r>
            <a:r>
              <a:rPr lang="en-US" altLang="zh-CN" dirty="0"/>
              <a:t>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6555DA-B728-4B0F-A6C6-FA6872921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altLang="zh-CN" dirty="0"/>
                  <a:t>, 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 err="1"/>
                  <a:t>th</a:t>
                </a:r>
                <a:r>
                  <a:rPr lang="en-US" altLang="zh-CN" dirty="0"/>
                  <a:t> moment of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defined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Example: expectation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6555DA-B728-4B0F-A6C6-FA6872921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268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Measure the “spread” or variation of a distribution</a:t>
            </a:r>
          </a:p>
          <a:p>
            <a:r>
              <a:rPr lang="en-US" dirty="0"/>
              <a:t>Compare 3 </a:t>
            </a:r>
            <a:r>
              <a:rPr lang="en-US" dirty="0" err="1"/>
              <a:t>r.v.’s</a:t>
            </a:r>
            <a:r>
              <a:rPr lang="en-US" dirty="0"/>
              <a:t>, each with mean 0: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141" y="3405314"/>
            <a:ext cx="4500259" cy="299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32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Definition: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= </a:t>
                </a:r>
                <a:r>
                  <a:rPr lang="en-US" dirty="0" err="1"/>
                  <a:t>var</a:t>
                </a:r>
                <a:r>
                  <a:rPr lang="en-US" dirty="0"/>
                  <a:t>(X), the </a:t>
                </a:r>
                <a:r>
                  <a:rPr lang="en-US" i="1" dirty="0"/>
                  <a:t>variance</a:t>
                </a:r>
                <a:r>
                  <a:rPr lang="en-US" dirty="0"/>
                  <a:t> of X, is defined to be E( (X-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r>
                  <a:rPr lang="en-US" dirty="0"/>
                  <a:t> ), where 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=E(X).</a:t>
                </a:r>
              </a:p>
              <a:p>
                <a:r>
                  <a:rPr lang="en-US" dirty="0"/>
                  <a:t>E( (X-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r>
                  <a:rPr lang="en-US" dirty="0"/>
                  <a:t> ) = E(X</a:t>
                </a:r>
                <a:r>
                  <a:rPr lang="en-US" baseline="30000" dirty="0"/>
                  <a:t>2</a:t>
                </a:r>
                <a:r>
                  <a:rPr lang="en-US" dirty="0"/>
                  <a:t> -2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X+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baseline="30000" dirty="0"/>
                  <a:t>2</a:t>
                </a:r>
                <a:r>
                  <a:rPr lang="en-US" dirty="0"/>
                  <a:t>) = E(X</a:t>
                </a:r>
                <a:r>
                  <a:rPr lang="en-US" baseline="30000" dirty="0"/>
                  <a:t>2</a:t>
                </a:r>
                <a:r>
                  <a:rPr lang="en-US" dirty="0"/>
                  <a:t>)-2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E(X)+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baseline="30000" dirty="0"/>
                  <a:t>2</a:t>
                </a:r>
                <a:r>
                  <a:rPr lang="en-US" dirty="0"/>
                  <a:t>  = E(X</a:t>
                </a:r>
                <a:r>
                  <a:rPr lang="en-US" baseline="30000" dirty="0"/>
                  <a:t>2</a:t>
                </a:r>
                <a:r>
                  <a:rPr lang="en-US" dirty="0"/>
                  <a:t>)-2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baseline="30000" dirty="0">
                    <a:latin typeface="Symbol" panose="05050102010706020507" pitchFamily="18" charset="2"/>
                  </a:rPr>
                  <a:t>2</a:t>
                </a:r>
                <a:r>
                  <a:rPr lang="en-US" dirty="0"/>
                  <a:t> +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baseline="30000" dirty="0"/>
                  <a:t>2</a:t>
                </a:r>
                <a:r>
                  <a:rPr lang="en-US" dirty="0"/>
                  <a:t> = E(X</a:t>
                </a:r>
                <a:r>
                  <a:rPr lang="en-US" baseline="30000" dirty="0"/>
                  <a:t>2</a:t>
                </a:r>
                <a:r>
                  <a:rPr lang="en-US" dirty="0"/>
                  <a:t>) - </a:t>
                </a:r>
                <a:r>
                  <a:rPr lang="en-US" dirty="0">
                    <a:latin typeface="Symbol" panose="05050102010706020507" pitchFamily="18" charset="2"/>
                  </a:rPr>
                  <a:t>m</a:t>
                </a:r>
                <a:r>
                  <a:rPr lang="en-US" baseline="30000" dirty="0"/>
                  <a:t>2</a:t>
                </a:r>
              </a:p>
              <a:p>
                <a:r>
                  <a:rPr lang="en-US" dirty="0"/>
                  <a:t>var(</a:t>
                </a:r>
                <a:r>
                  <a:rPr lang="en-US" dirty="0" err="1"/>
                  <a:t>aX+b</a:t>
                </a:r>
                <a:r>
                  <a:rPr lang="en-US" dirty="0"/>
                  <a:t>) = a</a:t>
                </a:r>
                <a:r>
                  <a:rPr lang="en-US" baseline="30000" dirty="0"/>
                  <a:t>2</a:t>
                </a:r>
                <a:r>
                  <a:rPr lang="en-US" dirty="0"/>
                  <a:t>var(X)     [for any </a:t>
                </a:r>
                <a:r>
                  <a:rPr lang="en-US" dirty="0" err="1"/>
                  <a:t>r.v.</a:t>
                </a:r>
                <a:r>
                  <a:rPr lang="en-US" dirty="0"/>
                  <a:t> X]</a:t>
                </a:r>
              </a:p>
              <a:p>
                <a:r>
                  <a:rPr lang="en-US" dirty="0"/>
                  <a:t>standard deviation of X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𝑣𝑎𝑟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482" r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093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variances of: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729" y="2362200"/>
            <a:ext cx="5038071" cy="33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26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64811"/>
            <a:ext cx="8229600" cy="2796741"/>
          </a:xfrm>
        </p:spPr>
      </p:pic>
    </p:spTree>
    <p:extLst>
      <p:ext uri="{BB962C8B-B14F-4D97-AF65-F5344CB8AC3E}">
        <p14:creationId xmlns:p14="http://schemas.microsoft.com/office/powerpoint/2010/main" val="698868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Special (Named) Discrete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Bernouli</a:t>
            </a:r>
            <a:r>
              <a:rPr lang="en-US" dirty="0"/>
              <a:t>(p)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Binomial(</a:t>
            </a:r>
            <a:r>
              <a:rPr lang="en-US" dirty="0" err="1"/>
              <a:t>n,p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Poisson(</a:t>
            </a:r>
            <a:r>
              <a:rPr lang="en-US" dirty="0">
                <a:latin typeface="Symbol" panose="05050102010706020507" pitchFamily="18" charset="2"/>
              </a:rPr>
              <a:t>l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Geometric(p)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Negative Binomial(</a:t>
            </a:r>
            <a:r>
              <a:rPr lang="en-US" dirty="0" err="1"/>
              <a:t>r,p</a:t>
            </a:r>
            <a:r>
              <a:rPr lang="en-US" dirty="0"/>
              <a:t>)      (“Pascal”)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Hypergeometric</a:t>
            </a:r>
            <a:r>
              <a:rPr lang="en-US" dirty="0"/>
              <a:t>(</a:t>
            </a:r>
            <a:r>
              <a:rPr lang="en-US" dirty="0" err="1"/>
              <a:t>N,K,n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Discrete Uniform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69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</a:t>
            </a:r>
            <a:r>
              <a:rPr lang="en-US" dirty="0"/>
              <a:t> Bernoulli(p)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Model: X is 0 or 1, with probability (1-p) or p</a:t>
                </a:r>
              </a:p>
              <a:p>
                <a:r>
                  <a:rPr lang="en-US" dirty="0" err="1"/>
                  <a:t>pmf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=1,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𝑜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 err="1"/>
                  <a:t>cdf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0, 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&lt;0,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 0≤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&lt;1,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≥1.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431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</a:t>
            </a:r>
            <a:r>
              <a:rPr lang="en-US" dirty="0"/>
              <a:t> Bernoulli(p)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533" y="1600200"/>
            <a:ext cx="3454933" cy="4525963"/>
          </a:xfrm>
        </p:spPr>
      </p:pic>
      <p:sp>
        <p:nvSpPr>
          <p:cNvPr id="5" name="TextBox 4"/>
          <p:cNvSpPr txBox="1"/>
          <p:nvPr/>
        </p:nvSpPr>
        <p:spPr>
          <a:xfrm>
            <a:off x="914400" y="6248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34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 Binomial(</a:t>
            </a:r>
            <a:r>
              <a:rPr lang="en-US" dirty="0" err="1">
                <a:sym typeface="Symbol"/>
              </a:rPr>
              <a:t>n,p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Model: X counts the number of successes in n independent trials, each a success with probability p</a:t>
                </a:r>
              </a:p>
              <a:p>
                <a:r>
                  <a:rPr lang="en-US" dirty="0">
                    <a:latin typeface="Script MT Bold"/>
                    <a:sym typeface="Symbol"/>
                  </a:rPr>
                  <a:t>D</a:t>
                </a:r>
                <a:r>
                  <a:rPr lang="en-US" dirty="0"/>
                  <a:t> = {0,1,2,…,n}</a:t>
                </a:r>
              </a:p>
              <a:p>
                <a:r>
                  <a:rPr lang="en-US" dirty="0" err="1"/>
                  <a:t>pmf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(1−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=0,1,2,…,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0,   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452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 Binomial(</a:t>
            </a:r>
            <a:r>
              <a:rPr lang="en-US" dirty="0" err="1">
                <a:sym typeface="Symbol"/>
              </a:rPr>
              <a:t>n,p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p:pic>
        <p:nvPicPr>
          <p:cNvPr id="2050" name="Picture 2" descr="http://upload.wikimedia.org/wikipedia/commons/thumb/7/75/Binomial_distribution_pmf.svg/1000px-Binomial_distribution_pmf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7" y="1510784"/>
            <a:ext cx="7629525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14400" y="641246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672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 Binomial(</a:t>
            </a:r>
            <a:r>
              <a:rPr lang="en-US" dirty="0" err="1">
                <a:sym typeface="Symbol"/>
              </a:rPr>
              <a:t>n,p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641246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3074" name="Picture 2" descr="http://upload.wikimedia.org/wikipedia/commons/thumb/5/55/Binomial_distribution_cdf.svg/1000px-Binomial_distribution_cdf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36113"/>
            <a:ext cx="7086600" cy="531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04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>
                <a:sym typeface="Symbol"/>
              </a:rPr>
              <a:t> Binomial(</a:t>
            </a:r>
            <a:r>
              <a:rPr lang="en-US" dirty="0" err="1">
                <a:sym typeface="Symbol"/>
              </a:rPr>
              <a:t>n,p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82027"/>
            <a:ext cx="6257619" cy="4285373"/>
          </a:xfrm>
        </p:spPr>
      </p:pic>
      <p:sp>
        <p:nvSpPr>
          <p:cNvPr id="6" name="TextBox 5"/>
          <p:cNvSpPr txBox="1"/>
          <p:nvPr/>
        </p:nvSpPr>
        <p:spPr>
          <a:xfrm>
            <a:off x="914400" y="641246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022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4FD38-4AC4-4FD4-B371-03DAD8E0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555A3D-93BC-4505-ACFD-AB0F13BC7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900" dirty="0"/>
                  <a:t>A communication system consist of 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900" dirty="0"/>
                  <a:t> </a:t>
                </a:r>
                <a:r>
                  <a:rPr lang="en-US" altLang="zh-CN" sz="2900" dirty="0"/>
                  <a:t>components, each of which will function with probability 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900" dirty="0"/>
                  <a:t>. The system will be able to operate effectively if at least one-half of its components function.</a:t>
                </a:r>
              </a:p>
              <a:p>
                <a:pPr marL="514350" indent="-514350">
                  <a:buAutoNum type="alphaLcParenBoth"/>
                </a:pPr>
                <a:r>
                  <a:rPr lang="en-US" altLang="zh-CN" sz="2900" dirty="0"/>
                  <a:t>For what values of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900" dirty="0"/>
                  <a:t> </a:t>
                </a:r>
                <a:r>
                  <a:rPr lang="en-US" altLang="zh-CN" sz="2900" dirty="0"/>
                  <a:t>is a 5-compoents system more likely to operate effectively than a 3-components system?</a:t>
                </a:r>
              </a:p>
              <a:p>
                <a:pPr marL="514350" indent="-514350">
                  <a:buAutoNum type="alphaLcParenBoth"/>
                </a:pPr>
                <a:r>
                  <a:rPr lang="en-US" altLang="zh-CN" sz="2900" dirty="0"/>
                  <a:t> In general, when is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900" dirty="0"/>
                  <a:t>component system better than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9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900" dirty="0"/>
                  <a:t>component system. </a:t>
                </a:r>
                <a:endParaRPr lang="zh-CN" altLang="en-US" sz="29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555A3D-93BC-4505-ACFD-AB0F13BC7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0" t="-1348" b="-7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705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26286-F0EB-461B-9224-A1B4AB5C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3D4DB6-0151-4A1E-B3C9-55D6C798BC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0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is a binomial random variable with parameters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3000" dirty="0"/>
                  <a:t>, then as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goes from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to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first increases monotonically and then decreases monotonically, reaching its largest value when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is the largest integer less than or equal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000" dirty="0"/>
                  <a:t>.</a:t>
                </a:r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3D4DB6-0151-4A1E-B3C9-55D6C798B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76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14196</TotalTime>
  <Words>1847</Words>
  <Application>Microsoft Office PowerPoint</Application>
  <PresentationFormat>全屏显示(4:3)</PresentationFormat>
  <Paragraphs>178</Paragraphs>
  <Slides>38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宋体</vt:lpstr>
      <vt:lpstr>Arial</vt:lpstr>
      <vt:lpstr>Calibri</vt:lpstr>
      <vt:lpstr>Cambria Math</vt:lpstr>
      <vt:lpstr>Script MT Bold</vt:lpstr>
      <vt:lpstr>Symbol</vt:lpstr>
      <vt:lpstr>Times New Roman</vt:lpstr>
      <vt:lpstr>Office Theme</vt:lpstr>
      <vt:lpstr>Today</vt:lpstr>
      <vt:lpstr>Puzzle</vt:lpstr>
      <vt:lpstr>Random Variables</vt:lpstr>
      <vt:lpstr>Random Variables, Distributions</vt:lpstr>
      <vt:lpstr>Examples</vt:lpstr>
      <vt:lpstr>Examples</vt:lpstr>
      <vt:lpstr>Examples</vt:lpstr>
      <vt:lpstr>Examples</vt:lpstr>
      <vt:lpstr>Example</vt:lpstr>
      <vt:lpstr>Random Variable Distributions</vt:lpstr>
      <vt:lpstr>Properties of cdf</vt:lpstr>
      <vt:lpstr>Plot of cdf</vt:lpstr>
      <vt:lpstr>Discrete r.v.’s</vt:lpstr>
      <vt:lpstr>Examples</vt:lpstr>
      <vt:lpstr>Examples</vt:lpstr>
      <vt:lpstr>Expected Value (Mean): Discrete r.v.’s</vt:lpstr>
      <vt:lpstr>Other Definitions: Median</vt:lpstr>
      <vt:lpstr>Examples</vt:lpstr>
      <vt:lpstr>Examples</vt:lpstr>
      <vt:lpstr>Functions of Discrete r.v.</vt:lpstr>
      <vt:lpstr>Expectations: Discrete r.v.</vt:lpstr>
      <vt:lpstr>Proof</vt:lpstr>
      <vt:lpstr>Examples</vt:lpstr>
      <vt:lpstr>Properties of Expectation</vt:lpstr>
      <vt:lpstr>Moments of a r.v. </vt:lpstr>
      <vt:lpstr>Variance</vt:lpstr>
      <vt:lpstr>Variance</vt:lpstr>
      <vt:lpstr>Example</vt:lpstr>
      <vt:lpstr>Example</vt:lpstr>
      <vt:lpstr>Special (Named) Discrete Distributions</vt:lpstr>
      <vt:lpstr>X  Bernoulli(p)</vt:lpstr>
      <vt:lpstr>X  Bernoulli(p)</vt:lpstr>
      <vt:lpstr>X  Binomial(n,p)</vt:lpstr>
      <vt:lpstr>X  Binomial(n,p)</vt:lpstr>
      <vt:lpstr>X  Binomial(n,p)</vt:lpstr>
      <vt:lpstr>X  Binomial(n,p)</vt:lpstr>
      <vt:lpstr>Examples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89</cp:revision>
  <cp:lastPrinted>2026-03-20T02:09:24Z</cp:lastPrinted>
  <dcterms:created xsi:type="dcterms:W3CDTF">2013-08-27T21:54:20Z</dcterms:created>
  <dcterms:modified xsi:type="dcterms:W3CDTF">2026-03-22T11:55:55Z</dcterms:modified>
</cp:coreProperties>
</file>