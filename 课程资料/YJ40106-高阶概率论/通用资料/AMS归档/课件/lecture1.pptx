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5"/>
  </p:notesMasterIdLst>
  <p:sldIdLst>
    <p:sldId id="256" r:id="rId2"/>
    <p:sldId id="278" r:id="rId3"/>
    <p:sldId id="265" r:id="rId4"/>
    <p:sldId id="261" r:id="rId5"/>
    <p:sldId id="264" r:id="rId6"/>
    <p:sldId id="263" r:id="rId7"/>
    <p:sldId id="266" r:id="rId8"/>
    <p:sldId id="268" r:id="rId9"/>
    <p:sldId id="267" r:id="rId10"/>
    <p:sldId id="269" r:id="rId11"/>
    <p:sldId id="270" r:id="rId12"/>
    <p:sldId id="271" r:id="rId13"/>
    <p:sldId id="272" r:id="rId14"/>
    <p:sldId id="273" r:id="rId15"/>
    <p:sldId id="274" r:id="rId16"/>
    <p:sldId id="275" r:id="rId17"/>
    <p:sldId id="277" r:id="rId18"/>
    <p:sldId id="279" r:id="rId19"/>
    <p:sldId id="280" r:id="rId20"/>
    <p:sldId id="281" r:id="rId21"/>
    <p:sldId id="282" r:id="rId22"/>
    <p:sldId id="283" r:id="rId23"/>
    <p:sldId id="284" r:id="rId24"/>
    <p:sldId id="285" r:id="rId25"/>
    <p:sldId id="286" r:id="rId26"/>
    <p:sldId id="287" r:id="rId27"/>
    <p:sldId id="288" r:id="rId28"/>
    <p:sldId id="289" r:id="rId29"/>
    <p:sldId id="290" r:id="rId30"/>
    <p:sldId id="291" r:id="rId31"/>
    <p:sldId id="292" r:id="rId32"/>
    <p:sldId id="293" r:id="rId33"/>
    <p:sldId id="294" r:id="rId34"/>
    <p:sldId id="295" r:id="rId35"/>
    <p:sldId id="305" r:id="rId36"/>
    <p:sldId id="296" r:id="rId37"/>
    <p:sldId id="297" r:id="rId38"/>
    <p:sldId id="298" r:id="rId39"/>
    <p:sldId id="299" r:id="rId40"/>
    <p:sldId id="300" r:id="rId41"/>
    <p:sldId id="301" r:id="rId42"/>
    <p:sldId id="302" r:id="rId43"/>
    <p:sldId id="304" r:id="rId4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9" d="100"/>
          <a:sy n="109" d="100"/>
        </p:scale>
        <p:origin x="1674" y="9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86BB327-16BC-4A47-8F39-832DD4BCDBB0}" type="datetimeFigureOut">
              <a:rPr lang="en-US" smtClean="0"/>
              <a:t>3/2/2026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2F9320C-3FDC-4F9D-9AD1-B80B5B149241}" type="slidenum">
              <a:rPr lang="en-US" smtClean="0"/>
              <a:t>‹#›</a:t>
            </a:fld>
            <a:endParaRPr lang="en-US"/>
          </a:p>
        </p:txBody>
      </p:sp>
    </p:spTree>
    <p:extLst>
      <p:ext uri="{BB962C8B-B14F-4D97-AF65-F5344CB8AC3E}">
        <p14:creationId xmlns:p14="http://schemas.microsoft.com/office/powerpoint/2010/main" val="23618149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Life or Death? The </a:t>
            </a:r>
            <a:r>
              <a:rPr lang="en-US" dirty="0" err="1" smtClean="0"/>
              <a:t>Emporeer’s</a:t>
            </a:r>
            <a:r>
              <a:rPr lang="en-US" dirty="0" smtClean="0"/>
              <a:t> Proposition</a:t>
            </a:r>
          </a:p>
          <a:p>
            <a:r>
              <a:rPr lang="en-US" dirty="0" smtClean="0"/>
              <a:t>http://www.braingle.com/Probability.html</a:t>
            </a:r>
            <a:endParaRPr lang="en-US" dirty="0"/>
          </a:p>
        </p:txBody>
      </p:sp>
      <p:sp>
        <p:nvSpPr>
          <p:cNvPr id="4" name="Slide Number Placeholder 3"/>
          <p:cNvSpPr>
            <a:spLocks noGrp="1"/>
          </p:cNvSpPr>
          <p:nvPr>
            <p:ph type="sldNum" sz="quarter" idx="10"/>
          </p:nvPr>
        </p:nvSpPr>
        <p:spPr/>
        <p:txBody>
          <a:bodyPr/>
          <a:lstStyle/>
          <a:p>
            <a:fld id="{B2F9320C-3FDC-4F9D-9AD1-B80B5B149241}" type="slidenum">
              <a:rPr lang="en-US" smtClean="0"/>
              <a:t>5</a:t>
            </a:fld>
            <a:endParaRPr lang="en-US"/>
          </a:p>
        </p:txBody>
      </p:sp>
    </p:spTree>
    <p:extLst>
      <p:ext uri="{BB962C8B-B14F-4D97-AF65-F5344CB8AC3E}">
        <p14:creationId xmlns:p14="http://schemas.microsoft.com/office/powerpoint/2010/main" val="22314211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2F9320C-3FDC-4F9D-9AD1-B80B5B149241}" type="slidenum">
              <a:rPr lang="en-US" smtClean="0"/>
              <a:t>17</a:t>
            </a:fld>
            <a:endParaRPr lang="en-US"/>
          </a:p>
        </p:txBody>
      </p:sp>
    </p:spTree>
    <p:extLst>
      <p:ext uri="{BB962C8B-B14F-4D97-AF65-F5344CB8AC3E}">
        <p14:creationId xmlns:p14="http://schemas.microsoft.com/office/powerpoint/2010/main" val="1544578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Did this for them, 8/29/13</a:t>
            </a:r>
            <a:endParaRPr lang="en-US" dirty="0"/>
          </a:p>
        </p:txBody>
      </p:sp>
      <p:sp>
        <p:nvSpPr>
          <p:cNvPr id="4" name="Slide Number Placeholder 3"/>
          <p:cNvSpPr>
            <a:spLocks noGrp="1"/>
          </p:cNvSpPr>
          <p:nvPr>
            <p:ph type="sldNum" sz="quarter" idx="10"/>
          </p:nvPr>
        </p:nvSpPr>
        <p:spPr/>
        <p:txBody>
          <a:bodyPr/>
          <a:lstStyle/>
          <a:p>
            <a:fld id="{24947487-FE42-471D-BE12-B804E3F12713}" type="slidenum">
              <a:rPr lang="en-US" smtClean="0"/>
              <a:t>24</a:t>
            </a:fld>
            <a:endParaRPr lang="en-US"/>
          </a:p>
        </p:txBody>
      </p:sp>
    </p:spTree>
    <p:extLst>
      <p:ext uri="{BB962C8B-B14F-4D97-AF65-F5344CB8AC3E}">
        <p14:creationId xmlns:p14="http://schemas.microsoft.com/office/powerpoint/2010/main" val="14136423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Did in class, 8/29/13</a:t>
            </a:r>
            <a:endParaRPr lang="en-US" dirty="0"/>
          </a:p>
        </p:txBody>
      </p:sp>
      <p:sp>
        <p:nvSpPr>
          <p:cNvPr id="4" name="Slide Number Placeholder 3"/>
          <p:cNvSpPr>
            <a:spLocks noGrp="1"/>
          </p:cNvSpPr>
          <p:nvPr>
            <p:ph type="sldNum" sz="quarter" idx="10"/>
          </p:nvPr>
        </p:nvSpPr>
        <p:spPr/>
        <p:txBody>
          <a:bodyPr/>
          <a:lstStyle/>
          <a:p>
            <a:fld id="{24947487-FE42-471D-BE12-B804E3F12713}" type="slidenum">
              <a:rPr lang="en-US" smtClean="0"/>
              <a:t>33</a:t>
            </a:fld>
            <a:endParaRPr lang="en-US"/>
          </a:p>
        </p:txBody>
      </p:sp>
    </p:spTree>
    <p:extLst>
      <p:ext uri="{BB962C8B-B14F-4D97-AF65-F5344CB8AC3E}">
        <p14:creationId xmlns:p14="http://schemas.microsoft.com/office/powerpoint/2010/main" val="1589666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To do next time, 9/5/13</a:t>
            </a:r>
            <a:endParaRPr lang="en-US" dirty="0"/>
          </a:p>
        </p:txBody>
      </p:sp>
      <p:sp>
        <p:nvSpPr>
          <p:cNvPr id="4" name="Slide Number Placeholder 3"/>
          <p:cNvSpPr>
            <a:spLocks noGrp="1"/>
          </p:cNvSpPr>
          <p:nvPr>
            <p:ph type="sldNum" sz="quarter" idx="10"/>
          </p:nvPr>
        </p:nvSpPr>
        <p:spPr/>
        <p:txBody>
          <a:bodyPr/>
          <a:lstStyle/>
          <a:p>
            <a:fld id="{24947487-FE42-471D-BE12-B804E3F12713}" type="slidenum">
              <a:rPr lang="en-US" smtClean="0"/>
              <a:t>37</a:t>
            </a:fld>
            <a:endParaRPr lang="en-US"/>
          </a:p>
        </p:txBody>
      </p:sp>
    </p:spTree>
    <p:extLst>
      <p:ext uri="{BB962C8B-B14F-4D97-AF65-F5344CB8AC3E}">
        <p14:creationId xmlns:p14="http://schemas.microsoft.com/office/powerpoint/2010/main" val="15177159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9</a:t>
            </a:r>
            <a:r>
              <a:rPr lang="en-US" baseline="30000" dirty="0" smtClean="0"/>
              <a:t>th</a:t>
            </a:r>
            <a:r>
              <a:rPr lang="en-US" dirty="0" smtClean="0"/>
              <a:t> edition</a:t>
            </a:r>
            <a:r>
              <a:rPr lang="en-US" smtClean="0"/>
              <a:t>: page 51</a:t>
            </a:r>
            <a:endParaRPr lang="en-US"/>
          </a:p>
        </p:txBody>
      </p:sp>
      <p:sp>
        <p:nvSpPr>
          <p:cNvPr id="4" name="Slide Number Placeholder 3"/>
          <p:cNvSpPr>
            <a:spLocks noGrp="1"/>
          </p:cNvSpPr>
          <p:nvPr>
            <p:ph type="sldNum" sz="quarter" idx="10"/>
          </p:nvPr>
        </p:nvSpPr>
        <p:spPr/>
        <p:txBody>
          <a:bodyPr/>
          <a:lstStyle/>
          <a:p>
            <a:fld id="{24947487-FE42-471D-BE12-B804E3F12713}" type="slidenum">
              <a:rPr lang="en-US" smtClean="0"/>
              <a:t>40</a:t>
            </a:fld>
            <a:endParaRPr lang="en-US"/>
          </a:p>
        </p:txBody>
      </p:sp>
    </p:spTree>
    <p:extLst>
      <p:ext uri="{BB962C8B-B14F-4D97-AF65-F5344CB8AC3E}">
        <p14:creationId xmlns:p14="http://schemas.microsoft.com/office/powerpoint/2010/main" val="17659976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DEC9A9B4-AFA2-4609-B471-D80277214D15}" type="datetime1">
              <a:rPr lang="en-US" smtClean="0"/>
              <a:t>3/2/2026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E4783E4-8C6B-4D7F-9E3C-EFBF72397067}" type="slidenum">
              <a:rPr lang="en-US" smtClean="0"/>
              <a:t>‹#›</a:t>
            </a:fld>
            <a:endParaRPr lang="en-US"/>
          </a:p>
        </p:txBody>
      </p:sp>
    </p:spTree>
    <p:extLst>
      <p:ext uri="{BB962C8B-B14F-4D97-AF65-F5344CB8AC3E}">
        <p14:creationId xmlns:p14="http://schemas.microsoft.com/office/powerpoint/2010/main" val="2389954572"/>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F11156E-64DF-4122-BE08-D26A75DD6CB6}" type="datetime1">
              <a:rPr lang="en-US" smtClean="0"/>
              <a:t>3/2/2026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E4783E4-8C6B-4D7F-9E3C-EFBF72397067}" type="slidenum">
              <a:rPr lang="en-US" smtClean="0"/>
              <a:t>‹#›</a:t>
            </a:fld>
            <a:endParaRPr lang="en-US" dirty="0"/>
          </a:p>
        </p:txBody>
      </p:sp>
    </p:spTree>
    <p:extLst>
      <p:ext uri="{BB962C8B-B14F-4D97-AF65-F5344CB8AC3E}">
        <p14:creationId xmlns:p14="http://schemas.microsoft.com/office/powerpoint/2010/main" val="1091418525"/>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46311CD-2C35-4926-AEF4-EDAE9D749B19}" type="datetime1">
              <a:rPr lang="en-US" smtClean="0"/>
              <a:t>3/2/2026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E4783E4-8C6B-4D7F-9E3C-EFBF72397067}" type="slidenum">
              <a:rPr lang="en-US" smtClean="0"/>
              <a:t>‹#›</a:t>
            </a:fld>
            <a:endParaRPr lang="en-US"/>
          </a:p>
        </p:txBody>
      </p:sp>
    </p:spTree>
    <p:extLst>
      <p:ext uri="{BB962C8B-B14F-4D97-AF65-F5344CB8AC3E}">
        <p14:creationId xmlns:p14="http://schemas.microsoft.com/office/powerpoint/2010/main" val="3402842733"/>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6FA935EF-A288-4A6D-A7B6-F7E91815E4D8}" type="datetime1">
              <a:rPr lang="en-US" smtClean="0"/>
              <a:t>3/2/2026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E4783E4-8C6B-4D7F-9E3C-EFBF72397067}" type="slidenum">
              <a:rPr lang="en-US" smtClean="0"/>
              <a:t>‹#›</a:t>
            </a:fld>
            <a:endParaRPr lang="en-US"/>
          </a:p>
        </p:txBody>
      </p:sp>
    </p:spTree>
    <p:extLst>
      <p:ext uri="{BB962C8B-B14F-4D97-AF65-F5344CB8AC3E}">
        <p14:creationId xmlns:p14="http://schemas.microsoft.com/office/powerpoint/2010/main" val="790043711"/>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79AF0818-CA95-4B28-9D9F-C91067F05E14}" type="datetime1">
              <a:rPr lang="en-US" smtClean="0"/>
              <a:t>3/2/2026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E4783E4-8C6B-4D7F-9E3C-EFBF72397067}" type="slidenum">
              <a:rPr lang="en-US" smtClean="0"/>
              <a:t>‹#›</a:t>
            </a:fld>
            <a:endParaRPr lang="en-US"/>
          </a:p>
        </p:txBody>
      </p:sp>
    </p:spTree>
    <p:extLst>
      <p:ext uri="{BB962C8B-B14F-4D97-AF65-F5344CB8AC3E}">
        <p14:creationId xmlns:p14="http://schemas.microsoft.com/office/powerpoint/2010/main" val="1027422367"/>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6849579-D7A6-4FA3-B14A-CB51E273D81C}" type="datetime1">
              <a:rPr lang="en-US" smtClean="0"/>
              <a:t>3/2/2026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E4783E4-8C6B-4D7F-9E3C-EFBF72397067}" type="slidenum">
              <a:rPr lang="en-US" smtClean="0"/>
              <a:t>‹#›</a:t>
            </a:fld>
            <a:endParaRPr lang="en-US"/>
          </a:p>
        </p:txBody>
      </p:sp>
    </p:spTree>
    <p:extLst>
      <p:ext uri="{BB962C8B-B14F-4D97-AF65-F5344CB8AC3E}">
        <p14:creationId xmlns:p14="http://schemas.microsoft.com/office/powerpoint/2010/main" val="33750340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EACF832-E416-4ADB-A24D-7B25678119B7}" type="datetime1">
              <a:rPr lang="en-US" smtClean="0"/>
              <a:t>3/2/2026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E4783E4-8C6B-4D7F-9E3C-EFBF72397067}" type="slidenum">
              <a:rPr lang="en-US" smtClean="0"/>
              <a:t>‹#›</a:t>
            </a:fld>
            <a:endParaRPr lang="en-US"/>
          </a:p>
        </p:txBody>
      </p:sp>
    </p:spTree>
    <p:extLst>
      <p:ext uri="{BB962C8B-B14F-4D97-AF65-F5344CB8AC3E}">
        <p14:creationId xmlns:p14="http://schemas.microsoft.com/office/powerpoint/2010/main" val="38881586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7BDF45A-0076-4C25-AAFA-94E3EA62FE38}" type="datetime1">
              <a:rPr lang="en-US" smtClean="0"/>
              <a:t>3/2/2026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E4783E4-8C6B-4D7F-9E3C-EFBF72397067}" type="slidenum">
              <a:rPr lang="en-US" smtClean="0"/>
              <a:t>‹#›</a:t>
            </a:fld>
            <a:endParaRPr lang="en-US"/>
          </a:p>
        </p:txBody>
      </p:sp>
    </p:spTree>
    <p:extLst>
      <p:ext uri="{BB962C8B-B14F-4D97-AF65-F5344CB8AC3E}">
        <p14:creationId xmlns:p14="http://schemas.microsoft.com/office/powerpoint/2010/main" val="4939500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80E9D23-D952-4D74-9120-229ADFA27AEA}" type="datetime1">
              <a:rPr lang="en-US" smtClean="0"/>
              <a:t>3/2/2026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E4783E4-8C6B-4D7F-9E3C-EFBF72397067}" type="slidenum">
              <a:rPr lang="en-US" smtClean="0"/>
              <a:t>‹#›</a:t>
            </a:fld>
            <a:endParaRPr lang="en-US"/>
          </a:p>
        </p:txBody>
      </p:sp>
    </p:spTree>
    <p:extLst>
      <p:ext uri="{BB962C8B-B14F-4D97-AF65-F5344CB8AC3E}">
        <p14:creationId xmlns:p14="http://schemas.microsoft.com/office/powerpoint/2010/main" val="32225181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14825DA-826C-4B1A-9C69-B2BA0DD2118D}" type="datetime1">
              <a:rPr lang="en-US" smtClean="0"/>
              <a:t>3/2/2026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E4783E4-8C6B-4D7F-9E3C-EFBF72397067}" type="slidenum">
              <a:rPr lang="en-US" smtClean="0"/>
              <a:t>‹#›</a:t>
            </a:fld>
            <a:endParaRPr lang="en-US"/>
          </a:p>
        </p:txBody>
      </p:sp>
    </p:spTree>
    <p:extLst>
      <p:ext uri="{BB962C8B-B14F-4D97-AF65-F5344CB8AC3E}">
        <p14:creationId xmlns:p14="http://schemas.microsoft.com/office/powerpoint/2010/main" val="32383186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F5D854C-3E82-437C-8226-5222DDA97BC9}" type="datetime1">
              <a:rPr lang="en-US" smtClean="0"/>
              <a:t>3/2/2026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E4783E4-8C6B-4D7F-9E3C-EFBF72397067}" type="slidenum">
              <a:rPr lang="en-US" smtClean="0"/>
              <a:t>‹#›</a:t>
            </a:fld>
            <a:endParaRPr lang="en-US"/>
          </a:p>
        </p:txBody>
      </p:sp>
    </p:spTree>
    <p:extLst>
      <p:ext uri="{BB962C8B-B14F-4D97-AF65-F5344CB8AC3E}">
        <p14:creationId xmlns:p14="http://schemas.microsoft.com/office/powerpoint/2010/main" val="22220963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3DB299E-3992-4C4C-9274-CE1748D8F90E}" type="datetime1">
              <a:rPr lang="en-US" smtClean="0"/>
              <a:t>3/2/2026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E4783E4-8C6B-4D7F-9E3C-EFBF72397067}" type="slidenum">
              <a:rPr lang="en-US" smtClean="0"/>
              <a:t>‹#›</a:t>
            </a:fld>
            <a:endParaRPr lang="en-US"/>
          </a:p>
        </p:txBody>
      </p:sp>
    </p:spTree>
    <p:extLst>
      <p:ext uri="{BB962C8B-B14F-4D97-AF65-F5344CB8AC3E}">
        <p14:creationId xmlns:p14="http://schemas.microsoft.com/office/powerpoint/2010/main" val="28191466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par>
    </p:tnLst>
  </p:timing>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hyperlink" Target="https://en.wikipedia.org/wiki/Andrey_Kolmogorov"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AMS 311</a:t>
            </a:r>
            <a:endParaRPr lang="en-US" dirty="0"/>
          </a:p>
        </p:txBody>
      </p:sp>
      <p:sp>
        <p:nvSpPr>
          <p:cNvPr id="3" name="Subtitle 2"/>
          <p:cNvSpPr>
            <a:spLocks noGrp="1"/>
          </p:cNvSpPr>
          <p:nvPr>
            <p:ph type="subTitle" idx="1"/>
          </p:nvPr>
        </p:nvSpPr>
        <p:spPr>
          <a:xfrm>
            <a:off x="1371600" y="4114800"/>
            <a:ext cx="6400800" cy="990600"/>
          </a:xfrm>
        </p:spPr>
        <p:txBody>
          <a:bodyPr>
            <a:normAutofit/>
          </a:bodyPr>
          <a:lstStyle/>
          <a:p>
            <a:pPr>
              <a:spcBef>
                <a:spcPct val="0"/>
              </a:spcBef>
            </a:pPr>
            <a:r>
              <a:rPr lang="en-US" sz="4400" dirty="0">
                <a:solidFill>
                  <a:schemeClr val="tx1"/>
                </a:solidFill>
                <a:latin typeface="+mj-lt"/>
                <a:ea typeface="+mj-ea"/>
                <a:cs typeface="+mj-cs"/>
              </a:rPr>
              <a:t>Xing Peng</a:t>
            </a:r>
          </a:p>
        </p:txBody>
      </p:sp>
      <p:sp>
        <p:nvSpPr>
          <p:cNvPr id="4" name="TextBox 3"/>
          <p:cNvSpPr txBox="1"/>
          <p:nvPr/>
        </p:nvSpPr>
        <p:spPr>
          <a:xfrm>
            <a:off x="4114800" y="3373992"/>
            <a:ext cx="1905000" cy="369332"/>
          </a:xfrm>
          <a:prstGeom prst="rect">
            <a:avLst/>
          </a:prstGeom>
          <a:noFill/>
        </p:spPr>
        <p:txBody>
          <a:bodyPr wrap="square" rtlCol="0">
            <a:spAutoFit/>
          </a:bodyPr>
          <a:lstStyle/>
          <a:p>
            <a:r>
              <a:rPr lang="en-US" dirty="0" smtClean="0"/>
              <a:t>Lecture 1</a:t>
            </a:r>
            <a:endParaRPr lang="en-US" dirty="0"/>
          </a:p>
        </p:txBody>
      </p:sp>
      <p:sp>
        <p:nvSpPr>
          <p:cNvPr id="5" name="Slide Number Placeholder 4"/>
          <p:cNvSpPr>
            <a:spLocks noGrp="1"/>
          </p:cNvSpPr>
          <p:nvPr>
            <p:ph type="sldNum" sz="quarter" idx="12"/>
          </p:nvPr>
        </p:nvSpPr>
        <p:spPr/>
        <p:txBody>
          <a:bodyPr/>
          <a:lstStyle/>
          <a:p>
            <a:fld id="{0E4783E4-8C6B-4D7F-9E3C-EFBF72397067}" type="slidenum">
              <a:rPr lang="en-US" smtClean="0"/>
              <a:t>1</a:t>
            </a:fld>
            <a:endParaRPr lang="en-US"/>
          </a:p>
        </p:txBody>
      </p:sp>
    </p:spTree>
    <p:extLst>
      <p:ext uri="{BB962C8B-B14F-4D97-AF65-F5344CB8AC3E}">
        <p14:creationId xmlns:p14="http://schemas.microsoft.com/office/powerpoint/2010/main" val="245954396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Text</a:t>
            </a:r>
            <a:endParaRPr lang="en-US" dirty="0"/>
          </a:p>
        </p:txBody>
      </p:sp>
      <p:sp>
        <p:nvSpPr>
          <p:cNvPr id="3" name="Content Placeholder 2"/>
          <p:cNvSpPr>
            <a:spLocks noGrp="1"/>
          </p:cNvSpPr>
          <p:nvPr>
            <p:ph idx="1"/>
          </p:nvPr>
        </p:nvSpPr>
        <p:spPr>
          <a:xfrm>
            <a:off x="0" y="1600200"/>
            <a:ext cx="9144000" cy="4525963"/>
          </a:xfrm>
        </p:spPr>
        <p:txBody>
          <a:bodyPr>
            <a:noAutofit/>
          </a:bodyPr>
          <a:lstStyle/>
          <a:p>
            <a:r>
              <a:rPr lang="en-US" sz="3600" dirty="0" smtClean="0"/>
              <a:t>A First Course in Probability, </a:t>
            </a:r>
            <a:r>
              <a:rPr lang="en-US" sz="3600" dirty="0" smtClean="0"/>
              <a:t>10</a:t>
            </a:r>
            <a:r>
              <a:rPr lang="en-US" sz="3600" baseline="30000" dirty="0" smtClean="0"/>
              <a:t>th</a:t>
            </a:r>
            <a:r>
              <a:rPr lang="en-US" sz="3600" dirty="0" smtClean="0"/>
              <a:t> </a:t>
            </a:r>
            <a:r>
              <a:rPr lang="en-US" sz="3600" dirty="0" err="1" smtClean="0"/>
              <a:t>ed</a:t>
            </a:r>
            <a:r>
              <a:rPr lang="en-US" sz="3600" dirty="0" smtClean="0"/>
              <a:t>, by Sheldon </a:t>
            </a:r>
            <a:r>
              <a:rPr lang="en-US" sz="3600" dirty="0" smtClean="0"/>
              <a:t>Ross</a:t>
            </a:r>
            <a:endParaRPr lang="en-US" dirty="0" smtClean="0"/>
          </a:p>
        </p:txBody>
      </p:sp>
      <p:sp>
        <p:nvSpPr>
          <p:cNvPr id="4" name="Slide Number Placeholder 3"/>
          <p:cNvSpPr>
            <a:spLocks noGrp="1"/>
          </p:cNvSpPr>
          <p:nvPr>
            <p:ph type="sldNum" sz="quarter" idx="12"/>
          </p:nvPr>
        </p:nvSpPr>
        <p:spPr/>
        <p:txBody>
          <a:bodyPr/>
          <a:lstStyle/>
          <a:p>
            <a:fld id="{0E4783E4-8C6B-4D7F-9E3C-EFBF72397067}" type="slidenum">
              <a:rPr lang="en-US" smtClean="0"/>
              <a:t>2</a:t>
            </a:fld>
            <a:endParaRPr lang="en-US" dirty="0"/>
          </a:p>
        </p:txBody>
      </p:sp>
    </p:spTree>
    <p:extLst>
      <p:ext uri="{BB962C8B-B14F-4D97-AF65-F5344CB8AC3E}">
        <p14:creationId xmlns:p14="http://schemas.microsoft.com/office/powerpoint/2010/main" val="36333265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1"/>
            <a:ext cx="8229600" cy="1371600"/>
          </a:xfrm>
        </p:spPr>
        <p:txBody>
          <a:bodyPr>
            <a:normAutofit fontScale="92500" lnSpcReduction="20000"/>
          </a:bodyPr>
          <a:lstStyle/>
          <a:p>
            <a:pPr marL="0" indent="0" algn="ctr">
              <a:buNone/>
            </a:pPr>
            <a:r>
              <a:rPr lang="en-US" altLang="zh-CN" dirty="0"/>
              <a:t>Homework</a:t>
            </a:r>
            <a:endParaRPr lang="en-US" dirty="0" smtClean="0"/>
          </a:p>
          <a:p>
            <a:pPr marL="0" indent="0">
              <a:buNone/>
            </a:pPr>
            <a:r>
              <a:rPr lang="en-US" dirty="0"/>
              <a:t>B</a:t>
            </a:r>
            <a:r>
              <a:rPr lang="en-US" dirty="0" smtClean="0"/>
              <a:t>iweekly (roughly)</a:t>
            </a:r>
          </a:p>
          <a:p>
            <a:pPr marL="0" indent="0">
              <a:buNone/>
            </a:pPr>
            <a:r>
              <a:rPr lang="en-US" dirty="0" smtClean="0"/>
              <a:t>Total of 9 assignments</a:t>
            </a:r>
          </a:p>
        </p:txBody>
      </p:sp>
      <p:sp>
        <p:nvSpPr>
          <p:cNvPr id="5" name="Slide Number Placeholder 4"/>
          <p:cNvSpPr>
            <a:spLocks noGrp="1"/>
          </p:cNvSpPr>
          <p:nvPr>
            <p:ph type="sldNum" sz="quarter" idx="12"/>
          </p:nvPr>
        </p:nvSpPr>
        <p:spPr/>
        <p:txBody>
          <a:bodyPr/>
          <a:lstStyle/>
          <a:p>
            <a:fld id="{0E4783E4-8C6B-4D7F-9E3C-EFBF72397067}" type="slidenum">
              <a:rPr lang="en-US" smtClean="0"/>
              <a:t>3</a:t>
            </a:fld>
            <a:endParaRPr lang="en-US" dirty="0"/>
          </a:p>
        </p:txBody>
      </p:sp>
      <p:sp>
        <p:nvSpPr>
          <p:cNvPr id="6" name="Content Placeholder 2"/>
          <p:cNvSpPr txBox="1">
            <a:spLocks/>
          </p:cNvSpPr>
          <p:nvPr/>
        </p:nvSpPr>
        <p:spPr>
          <a:xfrm>
            <a:off x="381000" y="2971800"/>
            <a:ext cx="8229600" cy="2514599"/>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Font typeface="Arial" pitchFamily="34" charset="0"/>
              <a:buNone/>
            </a:pPr>
            <a:r>
              <a:rPr lang="en-US" altLang="zh-CN" sz="3000" dirty="0" smtClean="0"/>
              <a:t>Grades</a:t>
            </a:r>
          </a:p>
          <a:p>
            <a:pPr marL="0" indent="0">
              <a:buFont typeface="Arial" pitchFamily="34" charset="0"/>
              <a:buNone/>
            </a:pPr>
            <a:r>
              <a:rPr lang="en-US" altLang="zh-CN" sz="3000" dirty="0" smtClean="0"/>
              <a:t>Homework, attendance, class questions=40 points</a:t>
            </a:r>
          </a:p>
          <a:p>
            <a:pPr marL="0" indent="0">
              <a:buFont typeface="Arial" pitchFamily="34" charset="0"/>
              <a:buNone/>
            </a:pPr>
            <a:r>
              <a:rPr lang="en-US" altLang="zh-CN" sz="3000" dirty="0" smtClean="0"/>
              <a:t>Midterm exam=30 points</a:t>
            </a:r>
          </a:p>
          <a:p>
            <a:pPr marL="0" indent="0">
              <a:buFont typeface="Arial" pitchFamily="34" charset="0"/>
              <a:buNone/>
            </a:pPr>
            <a:r>
              <a:rPr lang="en-US" altLang="zh-CN" sz="3000" dirty="0" smtClean="0"/>
              <a:t>Final exam=30 pints</a:t>
            </a:r>
          </a:p>
          <a:p>
            <a:pPr marL="0" indent="0">
              <a:buFont typeface="Arial" pitchFamily="34" charset="0"/>
              <a:buNone/>
            </a:pPr>
            <a:endParaRPr lang="en-US" altLang="zh-CN" sz="3000" dirty="0" smtClean="0"/>
          </a:p>
          <a:p>
            <a:pPr marL="0" indent="0">
              <a:buFont typeface="Arial" pitchFamily="34" charset="0"/>
              <a:buNone/>
            </a:pPr>
            <a:endParaRPr lang="en-US" dirty="0" smtClean="0"/>
          </a:p>
        </p:txBody>
      </p:sp>
    </p:spTree>
    <p:extLst>
      <p:ext uri="{BB962C8B-B14F-4D97-AF65-F5344CB8AC3E}">
        <p14:creationId xmlns:p14="http://schemas.microsoft.com/office/powerpoint/2010/main" val="105149684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Background</a:t>
            </a:r>
            <a:endParaRPr lang="en-US" dirty="0"/>
          </a:p>
        </p:txBody>
      </p:sp>
      <p:sp>
        <p:nvSpPr>
          <p:cNvPr id="3" name="Content Placeholder 2"/>
          <p:cNvSpPr>
            <a:spLocks noGrp="1"/>
          </p:cNvSpPr>
          <p:nvPr>
            <p:ph idx="1"/>
          </p:nvPr>
        </p:nvSpPr>
        <p:spPr/>
        <p:txBody>
          <a:bodyPr/>
          <a:lstStyle/>
          <a:p>
            <a:r>
              <a:rPr lang="en-US" dirty="0" err="1" smtClean="0"/>
              <a:t>Combinatorics</a:t>
            </a:r>
            <a:r>
              <a:rPr lang="en-US" dirty="0" smtClean="0"/>
              <a:t>: AMS 301</a:t>
            </a:r>
          </a:p>
          <a:p>
            <a:pPr lvl="1"/>
            <a:r>
              <a:rPr lang="en-US" dirty="0" smtClean="0"/>
              <a:t>Counting, permutations, combinations</a:t>
            </a:r>
          </a:p>
          <a:p>
            <a:r>
              <a:rPr lang="en-US" dirty="0" smtClean="0"/>
              <a:t>Introductory probability/statistics: AMS 310</a:t>
            </a:r>
          </a:p>
          <a:p>
            <a:pPr lvl="1"/>
            <a:r>
              <a:rPr lang="en-US" dirty="0" smtClean="0"/>
              <a:t>Axioms of probability, basics</a:t>
            </a:r>
          </a:p>
          <a:p>
            <a:pPr lvl="1"/>
            <a:r>
              <a:rPr lang="en-US" dirty="0" smtClean="0"/>
              <a:t>Conditional probability</a:t>
            </a:r>
          </a:p>
          <a:p>
            <a:pPr lvl="1"/>
            <a:r>
              <a:rPr lang="en-US" dirty="0" smtClean="0"/>
              <a:t>Random variables: discrete, continuous</a:t>
            </a:r>
          </a:p>
          <a:p>
            <a:pPr lvl="1"/>
            <a:r>
              <a:rPr lang="en-US" dirty="0" smtClean="0"/>
              <a:t>Expectation, variance</a:t>
            </a:r>
            <a:endParaRPr lang="en-US" dirty="0"/>
          </a:p>
        </p:txBody>
      </p:sp>
      <p:sp>
        <p:nvSpPr>
          <p:cNvPr id="4" name="Slide Number Placeholder 3"/>
          <p:cNvSpPr>
            <a:spLocks noGrp="1"/>
          </p:cNvSpPr>
          <p:nvPr>
            <p:ph type="sldNum" sz="quarter" idx="12"/>
          </p:nvPr>
        </p:nvSpPr>
        <p:spPr/>
        <p:txBody>
          <a:bodyPr/>
          <a:lstStyle/>
          <a:p>
            <a:fld id="{0E4783E4-8C6B-4D7F-9E3C-EFBF72397067}" type="slidenum">
              <a:rPr lang="en-US" smtClean="0"/>
              <a:t>4</a:t>
            </a:fld>
            <a:endParaRPr lang="en-US" dirty="0"/>
          </a:p>
        </p:txBody>
      </p:sp>
    </p:spTree>
    <p:extLst>
      <p:ext uri="{BB962C8B-B14F-4D97-AF65-F5344CB8AC3E}">
        <p14:creationId xmlns:p14="http://schemas.microsoft.com/office/powerpoint/2010/main" val="138534208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 Puzzle</a:t>
            </a:r>
            <a:endParaRPr lang="en-US" dirty="0"/>
          </a:p>
        </p:txBody>
      </p:sp>
      <p:sp>
        <p:nvSpPr>
          <p:cNvPr id="3" name="Content Placeholder 2"/>
          <p:cNvSpPr>
            <a:spLocks noGrp="1"/>
          </p:cNvSpPr>
          <p:nvPr>
            <p:ph idx="1"/>
          </p:nvPr>
        </p:nvSpPr>
        <p:spPr>
          <a:xfrm>
            <a:off x="457200" y="1219200"/>
            <a:ext cx="8229600" cy="4525963"/>
          </a:xfrm>
          <a:solidFill>
            <a:srgbClr val="FFFF00"/>
          </a:solidFill>
        </p:spPr>
        <p:txBody>
          <a:bodyPr>
            <a:noAutofit/>
          </a:bodyPr>
          <a:lstStyle/>
          <a:p>
            <a:pPr marL="0" indent="0">
              <a:buNone/>
            </a:pPr>
            <a:r>
              <a:rPr lang="en-US" sz="2800" b="1" dirty="0" smtClean="0"/>
              <a:t>You are a prisoner sentenced to death. The Emperor offers you a chance to live by playing a simple game. He gives you 50 black marbles, 50 white marbles and 2 empty bowls. He then says, "Divide these 100 marbles into these 2 bowls. You can divide them any way you like as long as you use all the marbles. Then I will blindfold you and mix the bowls around. You then can choose one bowl and remove ONE marble. If the marble is WHITE you will live, but if the marble is BLACK... you will die." </a:t>
            </a:r>
            <a:br>
              <a:rPr lang="en-US" sz="2800" b="1" dirty="0" smtClean="0"/>
            </a:br>
            <a:r>
              <a:rPr lang="en-US" sz="2800" b="1" dirty="0" smtClean="0"/>
              <a:t/>
            </a:r>
            <a:br>
              <a:rPr lang="en-US" sz="2800" b="1" dirty="0" smtClean="0"/>
            </a:br>
            <a:r>
              <a:rPr lang="en-US" sz="2800" b="1" dirty="0" smtClean="0"/>
              <a:t>How do you divide the marbles up so that you have the greatest probability of choosing a WHITE marble?</a:t>
            </a:r>
            <a:endParaRPr lang="en-US" sz="2800" b="1" dirty="0"/>
          </a:p>
        </p:txBody>
      </p:sp>
      <p:sp>
        <p:nvSpPr>
          <p:cNvPr id="4" name="Slide Number Placeholder 3"/>
          <p:cNvSpPr>
            <a:spLocks noGrp="1"/>
          </p:cNvSpPr>
          <p:nvPr>
            <p:ph type="sldNum" sz="quarter" idx="12"/>
          </p:nvPr>
        </p:nvSpPr>
        <p:spPr/>
        <p:txBody>
          <a:bodyPr/>
          <a:lstStyle/>
          <a:p>
            <a:fld id="{0E4783E4-8C6B-4D7F-9E3C-EFBF72397067}" type="slidenum">
              <a:rPr lang="en-US" smtClean="0"/>
              <a:t>5</a:t>
            </a:fld>
            <a:endParaRPr lang="en-US" dirty="0"/>
          </a:p>
        </p:txBody>
      </p:sp>
    </p:spTree>
    <p:extLst>
      <p:ext uri="{BB962C8B-B14F-4D97-AF65-F5344CB8AC3E}">
        <p14:creationId xmlns:p14="http://schemas.microsoft.com/office/powerpoint/2010/main" val="73294117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Review of Basic Counting</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smtClean="0"/>
                  <a:t>Multiplication and Addition principles</a:t>
                </a:r>
              </a:p>
              <a:p>
                <a:r>
                  <a:rPr lang="en-US" dirty="0" smtClean="0"/>
                  <a:t>Permutations: n! = number of different ways to order n distinct items in a row</a:t>
                </a:r>
              </a:p>
              <a:p>
                <a:pPr lvl="1"/>
                <a:r>
                  <a:rPr lang="en-US" dirty="0" smtClean="0"/>
                  <a:t>Ex:  6! = number of different spellings of “number”</a:t>
                </a:r>
              </a:p>
              <a:p>
                <a:r>
                  <a:rPr lang="en-US" dirty="0" smtClean="0"/>
                  <a:t>Combinations: </a:t>
                </a:r>
                <a14:m>
                  <m:oMath xmlns:m="http://schemas.openxmlformats.org/officeDocument/2006/math">
                    <m:d>
                      <m:dPr>
                        <m:ctrlPr>
                          <a:rPr lang="en-US" i="1" smtClean="0">
                            <a:latin typeface="Cambria Math" panose="02040503050406030204" pitchFamily="18" charset="0"/>
                          </a:rPr>
                        </m:ctrlPr>
                      </m:dPr>
                      <m:e>
                        <m:f>
                          <m:fPr>
                            <m:type m:val="noBar"/>
                            <m:ctrlPr>
                              <a:rPr lang="en-US" i="1" smtClean="0">
                                <a:latin typeface="Cambria Math" panose="02040503050406030204" pitchFamily="18" charset="0"/>
                              </a:rPr>
                            </m:ctrlPr>
                          </m:fPr>
                          <m:num>
                            <m:r>
                              <a:rPr lang="en-US" b="0" i="1" smtClean="0">
                                <a:latin typeface="Cambria Math"/>
                              </a:rPr>
                              <m:t>𝑛</m:t>
                            </m:r>
                          </m:num>
                          <m:den>
                            <m:r>
                              <a:rPr lang="en-US" b="0" i="1" smtClean="0">
                                <a:latin typeface="Cambria Math"/>
                              </a:rPr>
                              <m:t>𝑘</m:t>
                            </m:r>
                          </m:den>
                        </m:f>
                      </m:e>
                    </m:d>
                    <m:r>
                      <a:rPr lang="en-US" dirty="0">
                        <a:latin typeface="Cambria Math" panose="02040503050406030204" pitchFamily="18" charset="0"/>
                        <a:ea typeface="Cambria Math"/>
                      </a:rPr>
                      <m:t>=</m:t>
                    </m:r>
                    <m:d>
                      <m:dPr>
                        <m:ctrlPr>
                          <a:rPr lang="en-US" i="1" dirty="0" smtClean="0">
                            <a:latin typeface="Cambria Math" panose="02040503050406030204" pitchFamily="18" charset="0"/>
                            <a:ea typeface="Cambria Math"/>
                          </a:rPr>
                        </m:ctrlPr>
                      </m:dPr>
                      <m:e>
                        <m:f>
                          <m:fPr>
                            <m:type m:val="noBar"/>
                            <m:ctrlPr>
                              <a:rPr lang="en-US" i="1" dirty="0" smtClean="0">
                                <a:latin typeface="Cambria Math" panose="02040503050406030204" pitchFamily="18" charset="0"/>
                                <a:ea typeface="Cambria Math"/>
                              </a:rPr>
                            </m:ctrlPr>
                          </m:fPr>
                          <m:num>
                            <m:r>
                              <a:rPr lang="en-US" b="0" i="1" dirty="0" smtClean="0">
                                <a:latin typeface="Cambria Math"/>
                                <a:ea typeface="Cambria Math"/>
                              </a:rPr>
                              <m:t>𝑛</m:t>
                            </m:r>
                          </m:num>
                          <m:den>
                            <m:r>
                              <a:rPr lang="en-US" b="0" i="1" dirty="0" smtClean="0">
                                <a:latin typeface="Cambria Math"/>
                                <a:ea typeface="Cambria Math"/>
                              </a:rPr>
                              <m:t>𝑛</m:t>
                            </m:r>
                            <m:r>
                              <a:rPr lang="en-US" b="0" i="1" dirty="0" smtClean="0">
                                <a:latin typeface="Cambria Math"/>
                                <a:ea typeface="Cambria Math"/>
                              </a:rPr>
                              <m:t>−</m:t>
                            </m:r>
                            <m:r>
                              <a:rPr lang="en-US" b="0" i="1" dirty="0" smtClean="0">
                                <a:latin typeface="Cambria Math"/>
                                <a:ea typeface="Cambria Math"/>
                              </a:rPr>
                              <m:t>𝑘</m:t>
                            </m:r>
                          </m:den>
                        </m:f>
                      </m:e>
                    </m:d>
                    <m:r>
                      <a:rPr lang="en-US" i="1" dirty="0" smtClean="0">
                        <a:latin typeface="Cambria Math"/>
                        <a:ea typeface="Cambria Math"/>
                      </a:rPr>
                      <m:t>=</m:t>
                    </m:r>
                    <m:f>
                      <m:fPr>
                        <m:ctrlPr>
                          <a:rPr lang="en-US" i="1" dirty="0" smtClean="0">
                            <a:latin typeface="Cambria Math" panose="02040503050406030204" pitchFamily="18" charset="0"/>
                            <a:ea typeface="Cambria Math"/>
                          </a:rPr>
                        </m:ctrlPr>
                      </m:fPr>
                      <m:num>
                        <m:r>
                          <a:rPr lang="en-US" b="0" i="1" dirty="0" smtClean="0">
                            <a:latin typeface="Cambria Math"/>
                            <a:ea typeface="Cambria Math"/>
                          </a:rPr>
                          <m:t>𝑛</m:t>
                        </m:r>
                        <m:r>
                          <a:rPr lang="en-US" b="0" i="1" dirty="0" smtClean="0">
                            <a:latin typeface="Cambria Math"/>
                            <a:ea typeface="Cambria Math"/>
                          </a:rPr>
                          <m:t>!</m:t>
                        </m:r>
                      </m:num>
                      <m:den>
                        <m:r>
                          <a:rPr lang="en-US" b="0" i="1" dirty="0" smtClean="0">
                            <a:latin typeface="Cambria Math"/>
                            <a:ea typeface="Cambria Math"/>
                          </a:rPr>
                          <m:t>𝑘</m:t>
                        </m:r>
                        <m:r>
                          <a:rPr lang="en-US" b="0" i="1" dirty="0" smtClean="0">
                            <a:latin typeface="Cambria Math"/>
                            <a:ea typeface="Cambria Math"/>
                          </a:rPr>
                          <m:t>!</m:t>
                        </m:r>
                        <m:d>
                          <m:dPr>
                            <m:ctrlPr>
                              <a:rPr lang="en-US" b="0" i="1" dirty="0" smtClean="0">
                                <a:latin typeface="Cambria Math" panose="02040503050406030204" pitchFamily="18" charset="0"/>
                                <a:ea typeface="Cambria Math"/>
                              </a:rPr>
                            </m:ctrlPr>
                          </m:dPr>
                          <m:e>
                            <m:r>
                              <a:rPr lang="en-US" b="0" i="1" dirty="0" smtClean="0">
                                <a:latin typeface="Cambria Math"/>
                                <a:ea typeface="Cambria Math"/>
                              </a:rPr>
                              <m:t>𝑛</m:t>
                            </m:r>
                            <m:r>
                              <a:rPr lang="en-US" b="0" i="1" dirty="0" smtClean="0">
                                <a:latin typeface="Cambria Math"/>
                                <a:ea typeface="Cambria Math"/>
                              </a:rPr>
                              <m:t>−</m:t>
                            </m:r>
                            <m:r>
                              <a:rPr lang="en-US" b="0" i="1" dirty="0" smtClean="0">
                                <a:latin typeface="Cambria Math"/>
                                <a:ea typeface="Cambria Math"/>
                              </a:rPr>
                              <m:t>𝑘</m:t>
                            </m:r>
                          </m:e>
                        </m:d>
                        <m:r>
                          <a:rPr lang="en-US" b="0" i="1" dirty="0" smtClean="0">
                            <a:latin typeface="Cambria Math"/>
                            <a:ea typeface="Cambria Math"/>
                          </a:rPr>
                          <m:t>!</m:t>
                        </m:r>
                      </m:den>
                    </m:f>
                  </m:oMath>
                </a14:m>
                <a:endParaRPr lang="en-US" dirty="0" smtClean="0"/>
              </a:p>
              <a:p>
                <a:pPr marL="457200" lvl="1" indent="0">
                  <a:buNone/>
                </a:pPr>
                <a:r>
                  <a:rPr lang="en-US" dirty="0" smtClean="0"/>
                  <a:t>= number of different subsets of </a:t>
                </a:r>
                <a:r>
                  <a:rPr lang="en-US" i="1" dirty="0" smtClean="0"/>
                  <a:t>k</a:t>
                </a:r>
                <a:r>
                  <a:rPr lang="en-US" dirty="0" smtClean="0"/>
                  <a:t> items taken from a set of </a:t>
                </a:r>
                <a:r>
                  <a:rPr lang="en-US" i="1" dirty="0" smtClean="0"/>
                  <a:t>n</a:t>
                </a:r>
                <a:r>
                  <a:rPr lang="en-US" dirty="0" smtClean="0"/>
                  <a:t> distinct items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1630" t="-1752" r="-519" b="-1752"/>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0E4783E4-8C6B-4D7F-9E3C-EFBF72397067}" type="slidenum">
              <a:rPr lang="en-US" smtClean="0"/>
              <a:t>6</a:t>
            </a:fld>
            <a:endParaRPr lang="en-US" dirty="0"/>
          </a:p>
        </p:txBody>
      </p:sp>
    </p:spTree>
    <p:extLst>
      <p:ext uri="{BB962C8B-B14F-4D97-AF65-F5344CB8AC3E}">
        <p14:creationId xmlns:p14="http://schemas.microsoft.com/office/powerpoint/2010/main" val="301572307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Combinations</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smtClean="0"/>
                  <a:t>Ex: 27 students in a class.  How many different committees of size 5 can be chosen?</a:t>
                </a:r>
              </a:p>
              <a:p>
                <a:pPr lvl="1"/>
                <a:r>
                  <a:rPr lang="en-US" dirty="0" smtClean="0"/>
                  <a:t>Answer: </a:t>
                </a:r>
                <a14:m>
                  <m:oMath xmlns:m="http://schemas.openxmlformats.org/officeDocument/2006/math">
                    <m:d>
                      <m:dPr>
                        <m:ctrlPr>
                          <a:rPr lang="en-US" i="1" smtClean="0">
                            <a:latin typeface="Cambria Math" panose="02040503050406030204" pitchFamily="18" charset="0"/>
                          </a:rPr>
                        </m:ctrlPr>
                      </m:dPr>
                      <m:e>
                        <m:f>
                          <m:fPr>
                            <m:type m:val="noBar"/>
                            <m:ctrlPr>
                              <a:rPr lang="en-US" i="1" smtClean="0">
                                <a:latin typeface="Cambria Math" panose="02040503050406030204" pitchFamily="18" charset="0"/>
                              </a:rPr>
                            </m:ctrlPr>
                          </m:fPr>
                          <m:num>
                            <m:r>
                              <a:rPr lang="en-US" b="0" i="1" smtClean="0">
                                <a:latin typeface="Cambria Math"/>
                              </a:rPr>
                              <m:t>27</m:t>
                            </m:r>
                          </m:num>
                          <m:den>
                            <m:r>
                              <a:rPr lang="en-US" b="0" i="1" smtClean="0">
                                <a:latin typeface="Cambria Math"/>
                              </a:rPr>
                              <m:t>5</m:t>
                            </m:r>
                          </m:den>
                        </m:f>
                      </m:e>
                    </m:d>
                  </m:oMath>
                </a14:m>
                <a:r>
                  <a:rPr lang="en-US" dirty="0" smtClean="0"/>
                  <a:t>=27!/5!22!</a:t>
                </a:r>
              </a:p>
              <a:p>
                <a:r>
                  <a:rPr lang="en-US" dirty="0" smtClean="0"/>
                  <a:t>How many different ways to select a committee of a president, vice-president, treasurer, secretary, and clerk?</a:t>
                </a:r>
              </a:p>
              <a:p>
                <a:pPr lvl="1"/>
                <a:r>
                  <a:rPr lang="en-US" dirty="0" smtClean="0"/>
                  <a:t>Answer: 27*26*25*24*23</a:t>
                </a: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1630" t="-1752" r="-2074"/>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0E4783E4-8C6B-4D7F-9E3C-EFBF72397067}" type="slidenum">
              <a:rPr lang="en-US" smtClean="0"/>
              <a:t>7</a:t>
            </a:fld>
            <a:endParaRPr lang="en-US" dirty="0"/>
          </a:p>
        </p:txBody>
      </p:sp>
    </p:spTree>
    <p:extLst>
      <p:ext uri="{BB962C8B-B14F-4D97-AF65-F5344CB8AC3E}">
        <p14:creationId xmlns:p14="http://schemas.microsoft.com/office/powerpoint/2010/main" val="202277808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Binomial Theorem</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14:m>
                  <m:oMath xmlns:m="http://schemas.openxmlformats.org/officeDocument/2006/math">
                    <m:sSup>
                      <m:sSupPr>
                        <m:ctrlPr>
                          <a:rPr lang="pt-BR" i="1" smtClean="0">
                            <a:latin typeface="Cambria Math" panose="02040503050406030204" pitchFamily="18" charset="0"/>
                          </a:rPr>
                        </m:ctrlPr>
                      </m:sSupPr>
                      <m:e>
                        <m:d>
                          <m:dPr>
                            <m:ctrlPr>
                              <a:rPr lang="pt-BR" i="1" smtClean="0">
                                <a:latin typeface="Cambria Math" panose="02040503050406030204" pitchFamily="18" charset="0"/>
                              </a:rPr>
                            </m:ctrlPr>
                          </m:dPr>
                          <m:e>
                            <m:r>
                              <a:rPr lang="pt-BR" i="1" smtClean="0">
                                <a:latin typeface="Cambria Math"/>
                              </a:rPr>
                              <m:t>𝑥</m:t>
                            </m:r>
                            <m:r>
                              <a:rPr lang="pt-BR" i="1" smtClean="0">
                                <a:latin typeface="Cambria Math"/>
                              </a:rPr>
                              <m:t>+</m:t>
                            </m:r>
                            <m:r>
                              <a:rPr lang="en-US" b="0" i="1" smtClean="0">
                                <a:latin typeface="Cambria Math"/>
                              </a:rPr>
                              <m:t>𝑦</m:t>
                            </m:r>
                          </m:e>
                        </m:d>
                      </m:e>
                      <m:sup>
                        <m:r>
                          <a:rPr lang="pt-BR" i="1" smtClean="0">
                            <a:latin typeface="Cambria Math"/>
                          </a:rPr>
                          <m:t>𝑛</m:t>
                        </m:r>
                      </m:sup>
                    </m:sSup>
                    <m:r>
                      <a:rPr lang="pt-BR" i="1" smtClean="0">
                        <a:latin typeface="Cambria Math"/>
                      </a:rPr>
                      <m:t>=</m:t>
                    </m:r>
                    <m:nary>
                      <m:naryPr>
                        <m:chr m:val="∑"/>
                        <m:ctrlPr>
                          <a:rPr lang="pt-BR" i="1" smtClean="0">
                            <a:latin typeface="Cambria Math" panose="02040503050406030204" pitchFamily="18" charset="0"/>
                          </a:rPr>
                        </m:ctrlPr>
                      </m:naryPr>
                      <m:sub>
                        <m:r>
                          <a:rPr lang="pt-BR" i="1" smtClean="0">
                            <a:latin typeface="Cambria Math"/>
                          </a:rPr>
                          <m:t>𝑘</m:t>
                        </m:r>
                        <m:r>
                          <a:rPr lang="pt-BR" i="1" smtClean="0">
                            <a:latin typeface="Cambria Math"/>
                          </a:rPr>
                          <m:t>=0</m:t>
                        </m:r>
                      </m:sub>
                      <m:sup>
                        <m:r>
                          <a:rPr lang="pt-BR" i="1" smtClean="0">
                            <a:latin typeface="Cambria Math"/>
                          </a:rPr>
                          <m:t>𝑛</m:t>
                        </m:r>
                      </m:sup>
                      <m:e>
                        <m:d>
                          <m:dPr>
                            <m:ctrlPr>
                              <a:rPr lang="pt-BR" i="1" smtClean="0">
                                <a:latin typeface="Cambria Math" panose="02040503050406030204" pitchFamily="18" charset="0"/>
                              </a:rPr>
                            </m:ctrlPr>
                          </m:dPr>
                          <m:e>
                            <m:f>
                              <m:fPr>
                                <m:type m:val="noBar"/>
                                <m:ctrlPr>
                                  <a:rPr lang="pt-BR" i="1" smtClean="0">
                                    <a:latin typeface="Cambria Math" panose="02040503050406030204" pitchFamily="18" charset="0"/>
                                  </a:rPr>
                                </m:ctrlPr>
                              </m:fPr>
                              <m:num>
                                <m:r>
                                  <a:rPr lang="pt-BR" i="1" smtClean="0">
                                    <a:latin typeface="Cambria Math"/>
                                  </a:rPr>
                                  <m:t>𝑛</m:t>
                                </m:r>
                              </m:num>
                              <m:den>
                                <m:r>
                                  <a:rPr lang="pt-BR" i="1" smtClean="0">
                                    <a:latin typeface="Cambria Math"/>
                                  </a:rPr>
                                  <m:t>𝑘</m:t>
                                </m:r>
                              </m:den>
                            </m:f>
                          </m:e>
                        </m:d>
                        <m:sSup>
                          <m:sSupPr>
                            <m:ctrlPr>
                              <a:rPr lang="pt-BR" i="1" smtClean="0">
                                <a:latin typeface="Cambria Math" panose="02040503050406030204" pitchFamily="18" charset="0"/>
                              </a:rPr>
                            </m:ctrlPr>
                          </m:sSupPr>
                          <m:e>
                            <m:r>
                              <a:rPr lang="pt-BR" i="1" smtClean="0">
                                <a:latin typeface="Cambria Math"/>
                              </a:rPr>
                              <m:t>𝑥</m:t>
                            </m:r>
                          </m:e>
                          <m:sup>
                            <m:r>
                              <a:rPr lang="pt-BR" i="1" smtClean="0">
                                <a:latin typeface="Cambria Math"/>
                              </a:rPr>
                              <m:t>𝑘</m:t>
                            </m:r>
                          </m:sup>
                        </m:sSup>
                        <m:sSup>
                          <m:sSupPr>
                            <m:ctrlPr>
                              <a:rPr lang="pt-BR" i="1" smtClean="0">
                                <a:latin typeface="Cambria Math" panose="02040503050406030204" pitchFamily="18" charset="0"/>
                              </a:rPr>
                            </m:ctrlPr>
                          </m:sSupPr>
                          <m:e>
                            <m:r>
                              <a:rPr lang="en-US" b="0" i="1" smtClean="0">
                                <a:latin typeface="Cambria Math"/>
                              </a:rPr>
                              <m:t>𝑦</m:t>
                            </m:r>
                          </m:e>
                          <m:sup>
                            <m:r>
                              <a:rPr lang="pt-BR" i="1" smtClean="0">
                                <a:latin typeface="Cambria Math"/>
                              </a:rPr>
                              <m:t>𝑛</m:t>
                            </m:r>
                            <m:r>
                              <a:rPr lang="pt-BR" i="1" smtClean="0">
                                <a:latin typeface="Cambria Math"/>
                              </a:rPr>
                              <m:t>−</m:t>
                            </m:r>
                            <m:r>
                              <a:rPr lang="pt-BR" i="1" smtClean="0">
                                <a:latin typeface="Cambria Math"/>
                              </a:rPr>
                              <m:t>𝑘</m:t>
                            </m:r>
                          </m:sup>
                        </m:sSup>
                      </m:e>
                    </m:nary>
                  </m:oMath>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0E4783E4-8C6B-4D7F-9E3C-EFBF72397067}" type="slidenum">
              <a:rPr lang="en-US" smtClean="0"/>
              <a:t>8</a:t>
            </a:fld>
            <a:endParaRPr lang="en-US" dirty="0"/>
          </a:p>
        </p:txBody>
      </p:sp>
    </p:spTree>
    <p:extLst>
      <p:ext uri="{BB962C8B-B14F-4D97-AF65-F5344CB8AC3E}">
        <p14:creationId xmlns:p14="http://schemas.microsoft.com/office/powerpoint/2010/main" val="345290208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Subsets</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smtClean="0"/>
                  <a:t>2</a:t>
                </a:r>
                <a:r>
                  <a:rPr lang="en-US" baseline="30000" dirty="0" smtClean="0"/>
                  <a:t>n </a:t>
                </a:r>
                <a:r>
                  <a:rPr lang="en-US" dirty="0" smtClean="0"/>
                  <a:t> = # of different subsets (of any size) of an n-element set</a:t>
                </a:r>
              </a:p>
              <a:p>
                <a:pPr marL="0" indent="0">
                  <a:buNone/>
                </a:pPr>
                <a:r>
                  <a:rPr lang="en-US" dirty="0"/>
                  <a:t> </a:t>
                </a:r>
                <a:r>
                  <a:rPr lang="en-US" dirty="0" smtClean="0"/>
                  <a:t>  = </a:t>
                </a:r>
                <a14:m>
                  <m:oMath xmlns:m="http://schemas.openxmlformats.org/officeDocument/2006/math">
                    <m:nary>
                      <m:naryPr>
                        <m:chr m:val="∑"/>
                        <m:ctrlPr>
                          <a:rPr lang="en-US" i="1" smtClean="0">
                            <a:latin typeface="Cambria Math" panose="02040503050406030204" pitchFamily="18" charset="0"/>
                          </a:rPr>
                        </m:ctrlPr>
                      </m:naryPr>
                      <m:sub>
                        <m:r>
                          <m:rPr>
                            <m:brk m:alnAt="23"/>
                          </m:rPr>
                          <a:rPr lang="en-US" b="0" i="1" smtClean="0">
                            <a:latin typeface="Cambria Math"/>
                          </a:rPr>
                          <m:t>𝑘</m:t>
                        </m:r>
                        <m:r>
                          <a:rPr lang="en-US" b="0" i="1" smtClean="0">
                            <a:latin typeface="Cambria Math"/>
                          </a:rPr>
                          <m:t>=0</m:t>
                        </m:r>
                      </m:sub>
                      <m:sup>
                        <m:r>
                          <a:rPr lang="en-US" b="0" i="1" smtClean="0">
                            <a:latin typeface="Cambria Math"/>
                          </a:rPr>
                          <m:t>𝑛</m:t>
                        </m:r>
                      </m:sup>
                      <m:e>
                        <m:d>
                          <m:dPr>
                            <m:ctrlPr>
                              <a:rPr lang="en-US" i="1" smtClean="0">
                                <a:latin typeface="Cambria Math" panose="02040503050406030204" pitchFamily="18" charset="0"/>
                              </a:rPr>
                            </m:ctrlPr>
                          </m:dPr>
                          <m:e>
                            <m:f>
                              <m:fPr>
                                <m:type m:val="noBar"/>
                                <m:ctrlPr>
                                  <a:rPr lang="en-US" i="1" smtClean="0">
                                    <a:latin typeface="Cambria Math" panose="02040503050406030204" pitchFamily="18" charset="0"/>
                                  </a:rPr>
                                </m:ctrlPr>
                              </m:fPr>
                              <m:num>
                                <m:r>
                                  <a:rPr lang="en-US" b="0" i="1" smtClean="0">
                                    <a:latin typeface="Cambria Math"/>
                                  </a:rPr>
                                  <m:t>𝑛</m:t>
                                </m:r>
                              </m:num>
                              <m:den>
                                <m:r>
                                  <a:rPr lang="en-US" b="0" i="1" smtClean="0">
                                    <a:latin typeface="Cambria Math"/>
                                  </a:rPr>
                                  <m:t>𝑘</m:t>
                                </m:r>
                              </m:den>
                            </m:f>
                          </m:e>
                        </m:d>
                      </m:e>
                    </m:nary>
                  </m:oMath>
                </a14:m>
                <a:r>
                  <a:rPr lang="en-US" dirty="0" smtClean="0"/>
                  <a:t>1</a:t>
                </a:r>
                <a:r>
                  <a:rPr lang="en-US" baseline="30000" dirty="0" smtClean="0"/>
                  <a:t>k </a:t>
                </a:r>
                <a:r>
                  <a:rPr lang="en-US" dirty="0" smtClean="0"/>
                  <a:t> 1</a:t>
                </a:r>
                <a:r>
                  <a:rPr lang="en-US" baseline="30000" dirty="0" smtClean="0"/>
                  <a:t>n-k</a:t>
                </a:r>
                <a:r>
                  <a:rPr lang="en-US" dirty="0" smtClean="0"/>
                  <a:t>  = (1+1)</a:t>
                </a:r>
                <a:r>
                  <a:rPr lang="en-US" baseline="30000" dirty="0" smtClean="0"/>
                  <a:t>n</a:t>
                </a:r>
                <a:r>
                  <a:rPr lang="en-US" dirty="0" smtClean="0"/>
                  <a:t> = 2</a:t>
                </a:r>
                <a:r>
                  <a:rPr lang="en-US" baseline="30000" dirty="0" smtClean="0"/>
                  <a:t>n</a:t>
                </a:r>
                <a:r>
                  <a:rPr lang="en-US" dirty="0" smtClean="0"/>
                  <a:t> = </a:t>
                </a:r>
                <a14:m>
                  <m:oMath xmlns:m="http://schemas.openxmlformats.org/officeDocument/2006/math">
                    <m:nary>
                      <m:naryPr>
                        <m:chr m:val="∑"/>
                        <m:ctrlPr>
                          <a:rPr lang="en-US" i="1" smtClean="0">
                            <a:latin typeface="Cambria Math" panose="02040503050406030204" pitchFamily="18" charset="0"/>
                          </a:rPr>
                        </m:ctrlPr>
                      </m:naryPr>
                      <m:sub>
                        <m:r>
                          <m:rPr>
                            <m:brk m:alnAt="23"/>
                          </m:rPr>
                          <a:rPr lang="en-US" b="0" i="1" smtClean="0">
                            <a:latin typeface="Cambria Math"/>
                          </a:rPr>
                          <m:t>𝑘</m:t>
                        </m:r>
                        <m:r>
                          <a:rPr lang="en-US" b="0" i="1" smtClean="0">
                            <a:latin typeface="Cambria Math"/>
                          </a:rPr>
                          <m:t>=0</m:t>
                        </m:r>
                      </m:sub>
                      <m:sup>
                        <m:r>
                          <a:rPr lang="en-US" b="0" i="1" smtClean="0">
                            <a:latin typeface="Cambria Math"/>
                          </a:rPr>
                          <m:t>𝑛</m:t>
                        </m:r>
                      </m:sup>
                      <m:e>
                        <m:d>
                          <m:dPr>
                            <m:ctrlPr>
                              <a:rPr lang="en-US" i="1" smtClean="0">
                                <a:latin typeface="Cambria Math" panose="02040503050406030204" pitchFamily="18" charset="0"/>
                              </a:rPr>
                            </m:ctrlPr>
                          </m:dPr>
                          <m:e>
                            <m:f>
                              <m:fPr>
                                <m:type m:val="noBar"/>
                                <m:ctrlPr>
                                  <a:rPr lang="en-US" i="1" smtClean="0">
                                    <a:latin typeface="Cambria Math" panose="02040503050406030204" pitchFamily="18" charset="0"/>
                                  </a:rPr>
                                </m:ctrlPr>
                              </m:fPr>
                              <m:num>
                                <m:r>
                                  <a:rPr lang="en-US" b="0" i="1" smtClean="0">
                                    <a:latin typeface="Cambria Math"/>
                                  </a:rPr>
                                  <m:t>𝑛</m:t>
                                </m:r>
                              </m:num>
                              <m:den>
                                <m:r>
                                  <a:rPr lang="en-US" b="0" i="1" smtClean="0">
                                    <a:latin typeface="Cambria Math"/>
                                  </a:rPr>
                                  <m:t>𝑘</m:t>
                                </m:r>
                              </m:den>
                            </m:f>
                          </m:e>
                        </m:d>
                      </m:e>
                    </m:nary>
                  </m:oMath>
                </a14:m>
                <a:r>
                  <a:rPr lang="en-US" dirty="0" smtClean="0"/>
                  <a:t> </a:t>
                </a:r>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1630" t="-1752" r="-1778"/>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0E4783E4-8C6B-4D7F-9E3C-EFBF72397067}" type="slidenum">
              <a:rPr lang="en-US" smtClean="0"/>
              <a:t>9</a:t>
            </a:fld>
            <a:endParaRPr lang="en-US" dirty="0"/>
          </a:p>
        </p:txBody>
      </p:sp>
    </p:spTree>
    <p:extLst>
      <p:ext uri="{BB962C8B-B14F-4D97-AF65-F5344CB8AC3E}">
        <p14:creationId xmlns:p14="http://schemas.microsoft.com/office/powerpoint/2010/main" val="318126942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Multinomial Coefficients</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lnSpcReduction="10000"/>
              </a:bodyPr>
              <a:lstStyle/>
              <a:p>
                <a14:m>
                  <m:oMath xmlns:m="http://schemas.openxmlformats.org/officeDocument/2006/math">
                    <m:d>
                      <m:dPr>
                        <m:ctrlPr>
                          <a:rPr lang="en-US" i="1" smtClean="0">
                            <a:latin typeface="Cambria Math" panose="02040503050406030204" pitchFamily="18" charset="0"/>
                          </a:rPr>
                        </m:ctrlPr>
                      </m:dPr>
                      <m:e>
                        <m:f>
                          <m:fPr>
                            <m:type m:val="noBar"/>
                            <m:ctrlPr>
                              <a:rPr lang="en-US" i="1" smtClean="0">
                                <a:latin typeface="Cambria Math" panose="02040503050406030204" pitchFamily="18" charset="0"/>
                              </a:rPr>
                            </m:ctrlPr>
                          </m:fPr>
                          <m:num>
                            <m:r>
                              <a:rPr lang="en-US" b="0" i="1" smtClean="0">
                                <a:latin typeface="Cambria Math"/>
                              </a:rPr>
                              <m:t>𝑛</m:t>
                            </m:r>
                          </m:num>
                          <m:den>
                            <m:sSub>
                              <m:sSubPr>
                                <m:ctrlPr>
                                  <a:rPr lang="en-US" i="1" smtClean="0">
                                    <a:latin typeface="Cambria Math" panose="02040503050406030204" pitchFamily="18" charset="0"/>
                                  </a:rPr>
                                </m:ctrlPr>
                              </m:sSubPr>
                              <m:e>
                                <m:r>
                                  <a:rPr lang="en-US" b="0" i="1" smtClean="0">
                                    <a:latin typeface="Cambria Math"/>
                                  </a:rPr>
                                  <m:t>𝑛</m:t>
                                </m:r>
                              </m:e>
                              <m:sub>
                                <m:r>
                                  <a:rPr lang="en-US" b="0" i="1" smtClean="0">
                                    <a:latin typeface="Cambria Math"/>
                                  </a:rPr>
                                  <m:t>1</m:t>
                                </m:r>
                              </m:sub>
                            </m:sSub>
                            <m:r>
                              <a:rPr lang="en-US" b="0" i="1" smtClean="0">
                                <a:latin typeface="Cambria Math"/>
                              </a:rPr>
                              <m:t> </m:t>
                            </m:r>
                            <m:sSub>
                              <m:sSubPr>
                                <m:ctrlPr>
                                  <a:rPr lang="en-US" b="0" i="1" smtClean="0">
                                    <a:latin typeface="Cambria Math" panose="02040503050406030204" pitchFamily="18" charset="0"/>
                                  </a:rPr>
                                </m:ctrlPr>
                              </m:sSubPr>
                              <m:e>
                                <m:r>
                                  <a:rPr lang="en-US" b="0" i="1" smtClean="0">
                                    <a:latin typeface="Cambria Math"/>
                                  </a:rPr>
                                  <m:t>𝑛</m:t>
                                </m:r>
                              </m:e>
                              <m:sub>
                                <m:r>
                                  <a:rPr lang="en-US" b="0" i="1" smtClean="0">
                                    <a:latin typeface="Cambria Math"/>
                                  </a:rPr>
                                  <m:t>2</m:t>
                                </m:r>
                              </m:sub>
                            </m:sSub>
                            <m:sSub>
                              <m:sSubPr>
                                <m:ctrlPr>
                                  <a:rPr lang="en-US" b="0" i="1" smtClean="0">
                                    <a:latin typeface="Cambria Math" panose="02040503050406030204" pitchFamily="18" charset="0"/>
                                  </a:rPr>
                                </m:ctrlPr>
                              </m:sSubPr>
                              <m:e>
                                <m:r>
                                  <a:rPr lang="en-US" b="0" i="1" smtClean="0">
                                    <a:latin typeface="Cambria Math"/>
                                  </a:rPr>
                                  <m:t>𝑛</m:t>
                                </m:r>
                              </m:e>
                              <m:sub>
                                <m:r>
                                  <a:rPr lang="en-US" b="0" i="1" smtClean="0">
                                    <a:latin typeface="Cambria Math"/>
                                  </a:rPr>
                                  <m:t>3</m:t>
                                </m:r>
                              </m:sub>
                            </m:sSub>
                            <m:r>
                              <a:rPr lang="en-US" b="0" i="1" smtClean="0">
                                <a:latin typeface="Cambria Math"/>
                                <a:ea typeface="Cambria Math"/>
                              </a:rPr>
                              <m:t>⋯</m:t>
                            </m:r>
                            <m:sSub>
                              <m:sSubPr>
                                <m:ctrlPr>
                                  <a:rPr lang="en-US" b="0" i="1" smtClean="0">
                                    <a:latin typeface="Cambria Math" panose="02040503050406030204" pitchFamily="18" charset="0"/>
                                    <a:ea typeface="Cambria Math"/>
                                  </a:rPr>
                                </m:ctrlPr>
                              </m:sSubPr>
                              <m:e>
                                <m:r>
                                  <a:rPr lang="en-US" b="0" i="1" smtClean="0">
                                    <a:latin typeface="Cambria Math"/>
                                    <a:ea typeface="Cambria Math"/>
                                  </a:rPr>
                                  <m:t>𝑛</m:t>
                                </m:r>
                              </m:e>
                              <m:sub>
                                <m:r>
                                  <a:rPr lang="en-US" b="0" i="1" smtClean="0">
                                    <a:latin typeface="Cambria Math"/>
                                    <a:ea typeface="Cambria Math"/>
                                  </a:rPr>
                                  <m:t>𝑘</m:t>
                                </m:r>
                              </m:sub>
                            </m:sSub>
                          </m:den>
                        </m:f>
                      </m:e>
                    </m:d>
                    <m:r>
                      <a:rPr lang="en-US" i="1" smtClean="0">
                        <a:latin typeface="Cambria Math"/>
                        <a:ea typeface="Cambria Math"/>
                      </a:rPr>
                      <m:t>=</m:t>
                    </m:r>
                    <m:f>
                      <m:fPr>
                        <m:ctrlPr>
                          <a:rPr lang="en-US" i="1" smtClean="0">
                            <a:latin typeface="Cambria Math" panose="02040503050406030204" pitchFamily="18" charset="0"/>
                            <a:ea typeface="Cambria Math"/>
                          </a:rPr>
                        </m:ctrlPr>
                      </m:fPr>
                      <m:num>
                        <m:r>
                          <a:rPr lang="en-US" b="0" i="1" smtClean="0">
                            <a:latin typeface="Cambria Math"/>
                            <a:ea typeface="Cambria Math"/>
                          </a:rPr>
                          <m:t>𝑛</m:t>
                        </m:r>
                        <m:r>
                          <a:rPr lang="en-US" b="0" i="1" smtClean="0">
                            <a:latin typeface="Cambria Math"/>
                            <a:ea typeface="Cambria Math"/>
                          </a:rPr>
                          <m:t>!</m:t>
                        </m:r>
                      </m:num>
                      <m:den>
                        <m:sSub>
                          <m:sSubPr>
                            <m:ctrlPr>
                              <a:rPr lang="en-US" i="1" smtClean="0">
                                <a:latin typeface="Cambria Math" panose="02040503050406030204" pitchFamily="18" charset="0"/>
                                <a:ea typeface="Cambria Math"/>
                              </a:rPr>
                            </m:ctrlPr>
                          </m:sSubPr>
                          <m:e>
                            <m:r>
                              <a:rPr lang="en-US" b="0" i="1" smtClean="0">
                                <a:latin typeface="Cambria Math"/>
                                <a:ea typeface="Cambria Math"/>
                              </a:rPr>
                              <m:t>𝑛</m:t>
                            </m:r>
                          </m:e>
                          <m:sub>
                            <m:r>
                              <a:rPr lang="en-US" b="0" i="1" smtClean="0">
                                <a:latin typeface="Cambria Math"/>
                                <a:ea typeface="Cambria Math"/>
                              </a:rPr>
                              <m:t>1</m:t>
                            </m:r>
                          </m:sub>
                        </m:sSub>
                        <m:r>
                          <a:rPr lang="en-US" b="0" i="1" smtClean="0">
                            <a:latin typeface="Cambria Math"/>
                            <a:ea typeface="Cambria Math"/>
                          </a:rPr>
                          <m:t>! </m:t>
                        </m:r>
                        <m:sSub>
                          <m:sSubPr>
                            <m:ctrlPr>
                              <a:rPr lang="en-US" b="0" i="1" smtClean="0">
                                <a:latin typeface="Cambria Math" panose="02040503050406030204" pitchFamily="18" charset="0"/>
                                <a:ea typeface="Cambria Math"/>
                              </a:rPr>
                            </m:ctrlPr>
                          </m:sSubPr>
                          <m:e>
                            <m:r>
                              <a:rPr lang="en-US" b="0" i="1" smtClean="0">
                                <a:latin typeface="Cambria Math"/>
                                <a:ea typeface="Cambria Math"/>
                              </a:rPr>
                              <m:t>𝑛</m:t>
                            </m:r>
                          </m:e>
                          <m:sub>
                            <m:r>
                              <a:rPr lang="en-US" b="0" i="1" smtClean="0">
                                <a:latin typeface="Cambria Math"/>
                                <a:ea typeface="Cambria Math"/>
                              </a:rPr>
                              <m:t>2</m:t>
                            </m:r>
                          </m:sub>
                        </m:sSub>
                        <m:r>
                          <a:rPr lang="en-US" b="0" i="1" smtClean="0">
                            <a:latin typeface="Cambria Math"/>
                            <a:ea typeface="Cambria Math"/>
                          </a:rPr>
                          <m:t>!⋯</m:t>
                        </m:r>
                        <m:sSub>
                          <m:sSubPr>
                            <m:ctrlPr>
                              <a:rPr lang="en-US" b="0" i="1" smtClean="0">
                                <a:latin typeface="Cambria Math" panose="02040503050406030204" pitchFamily="18" charset="0"/>
                                <a:ea typeface="Cambria Math"/>
                              </a:rPr>
                            </m:ctrlPr>
                          </m:sSubPr>
                          <m:e>
                            <m:r>
                              <a:rPr lang="en-US" b="0" i="1" smtClean="0">
                                <a:latin typeface="Cambria Math"/>
                                <a:ea typeface="Cambria Math"/>
                              </a:rPr>
                              <m:t>𝑛</m:t>
                            </m:r>
                          </m:e>
                          <m:sub>
                            <m:r>
                              <a:rPr lang="en-US" b="0" i="1" smtClean="0">
                                <a:latin typeface="Cambria Math"/>
                                <a:ea typeface="Cambria Math"/>
                              </a:rPr>
                              <m:t>𝑘</m:t>
                            </m:r>
                          </m:sub>
                        </m:sSub>
                        <m:r>
                          <a:rPr lang="en-US" b="0" i="1" smtClean="0">
                            <a:latin typeface="Cambria Math"/>
                            <a:ea typeface="Cambria Math"/>
                          </a:rPr>
                          <m:t>!</m:t>
                        </m:r>
                      </m:den>
                    </m:f>
                  </m:oMath>
                </a14:m>
                <a:r>
                  <a:rPr lang="en-US" dirty="0" smtClean="0"/>
                  <a:t>,  where </a:t>
                </a:r>
                <a14:m>
                  <m:oMath xmlns:m="http://schemas.openxmlformats.org/officeDocument/2006/math">
                    <m:nary>
                      <m:naryPr>
                        <m:chr m:val="∑"/>
                        <m:supHide m:val="on"/>
                        <m:ctrlPr>
                          <a:rPr lang="en-US" i="1" smtClean="0">
                            <a:latin typeface="Cambria Math" panose="02040503050406030204" pitchFamily="18" charset="0"/>
                          </a:rPr>
                        </m:ctrlPr>
                      </m:naryPr>
                      <m:sub>
                        <m:r>
                          <m:rPr>
                            <m:brk m:alnAt="7"/>
                          </m:rPr>
                          <a:rPr lang="en-US" b="0" i="1" smtClean="0">
                            <a:latin typeface="Cambria Math"/>
                          </a:rPr>
                          <m:t>𝑖</m:t>
                        </m:r>
                      </m:sub>
                      <m:sup/>
                      <m:e>
                        <m:sSub>
                          <m:sSubPr>
                            <m:ctrlPr>
                              <a:rPr lang="en-US" i="1" smtClean="0">
                                <a:latin typeface="Cambria Math" panose="02040503050406030204" pitchFamily="18" charset="0"/>
                              </a:rPr>
                            </m:ctrlPr>
                          </m:sSubPr>
                          <m:e>
                            <m:r>
                              <a:rPr lang="en-US" b="0" i="1" smtClean="0">
                                <a:latin typeface="Cambria Math"/>
                              </a:rPr>
                              <m:t>𝑛</m:t>
                            </m:r>
                          </m:e>
                          <m:sub>
                            <m:r>
                              <a:rPr lang="en-US" b="0" i="1" smtClean="0">
                                <a:latin typeface="Cambria Math"/>
                              </a:rPr>
                              <m:t>𝑖</m:t>
                            </m:r>
                          </m:sub>
                        </m:sSub>
                        <m:r>
                          <a:rPr lang="en-US" i="1" smtClean="0">
                            <a:latin typeface="Cambria Math"/>
                            <a:ea typeface="Cambria Math"/>
                          </a:rPr>
                          <m:t>=</m:t>
                        </m:r>
                        <m:r>
                          <a:rPr lang="en-US" b="0" i="1" smtClean="0">
                            <a:latin typeface="Cambria Math"/>
                            <a:ea typeface="Cambria Math"/>
                          </a:rPr>
                          <m:t>𝑛</m:t>
                        </m:r>
                      </m:e>
                    </m:nary>
                  </m:oMath>
                </a14:m>
                <a:endParaRPr lang="en-US" dirty="0" smtClean="0"/>
              </a:p>
              <a:p>
                <a:r>
                  <a:rPr lang="en-US" dirty="0" smtClean="0"/>
                  <a:t>= number of different “spellings” of a word with n letters, n</a:t>
                </a:r>
                <a:r>
                  <a:rPr lang="en-US" baseline="-25000" dirty="0" smtClean="0"/>
                  <a:t>1</a:t>
                </a:r>
                <a:r>
                  <a:rPr lang="en-US" dirty="0" smtClean="0"/>
                  <a:t> of which are the same, n</a:t>
                </a:r>
                <a:r>
                  <a:rPr lang="en-US" baseline="-25000" dirty="0" smtClean="0"/>
                  <a:t>2</a:t>
                </a:r>
                <a:r>
                  <a:rPr lang="en-US" dirty="0" smtClean="0"/>
                  <a:t> are the same, etc.</a:t>
                </a:r>
              </a:p>
              <a:p>
                <a:r>
                  <a:rPr lang="en-US" dirty="0" smtClean="0"/>
                  <a:t>Ex:  How many different spellings of “MISSISSIPPI” are there”</a:t>
                </a:r>
              </a:p>
              <a:p>
                <a:pPr marL="457200" lvl="1" indent="0">
                  <a:buNone/>
                </a:pPr>
                <a14:m>
                  <m:oMathPara xmlns:m="http://schemas.openxmlformats.org/officeDocument/2006/math">
                    <m:oMathParaPr>
                      <m:jc m:val="centerGroup"/>
                    </m:oMathParaPr>
                    <m:oMath xmlns:m="http://schemas.openxmlformats.org/officeDocument/2006/math">
                      <m:f>
                        <m:fPr>
                          <m:ctrlPr>
                            <a:rPr lang="en-US" sz="4000" i="1" smtClean="0">
                              <a:latin typeface="Cambria Math" panose="02040503050406030204" pitchFamily="18" charset="0"/>
                            </a:rPr>
                          </m:ctrlPr>
                        </m:fPr>
                        <m:num>
                          <m:r>
                            <a:rPr lang="en-US" sz="4000" b="0" i="1" smtClean="0">
                              <a:latin typeface="Cambria Math"/>
                            </a:rPr>
                            <m:t>11!</m:t>
                          </m:r>
                        </m:num>
                        <m:den>
                          <m:r>
                            <a:rPr lang="en-US" sz="4000" b="0" i="1" smtClean="0">
                              <a:latin typeface="Cambria Math"/>
                            </a:rPr>
                            <m:t>1!4!4!2!</m:t>
                          </m:r>
                        </m:den>
                      </m:f>
                    </m:oMath>
                  </m:oMathPara>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1630" t="-135" r="-2296"/>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0E4783E4-8C6B-4D7F-9E3C-EFBF72397067}" type="slidenum">
              <a:rPr lang="en-US" smtClean="0"/>
              <a:t>10</a:t>
            </a:fld>
            <a:endParaRPr lang="en-US" dirty="0"/>
          </a:p>
        </p:txBody>
      </p:sp>
    </p:spTree>
    <p:extLst>
      <p:ext uri="{BB962C8B-B14F-4D97-AF65-F5344CB8AC3E}">
        <p14:creationId xmlns:p14="http://schemas.microsoft.com/office/powerpoint/2010/main" val="310075539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Basic Set Theory</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smtClean="0"/>
                  <a:t>Sets:  usual set theory:</a:t>
                </a:r>
              </a:p>
              <a:p>
                <a:pPr lvl="1"/>
                <a14:m>
                  <m:oMath xmlns:m="http://schemas.openxmlformats.org/officeDocument/2006/math">
                    <m:r>
                      <a:rPr lang="en-US" b="0" i="1" smtClean="0">
                        <a:latin typeface="Cambria Math"/>
                      </a:rPr>
                      <m:t>𝐴</m:t>
                    </m:r>
                    <m:r>
                      <a:rPr lang="en-US" b="0" i="1" smtClean="0">
                        <a:latin typeface="Cambria Math"/>
                      </a:rPr>
                      <m:t>, </m:t>
                    </m:r>
                    <m:r>
                      <a:rPr lang="en-US" b="0" i="1" smtClean="0">
                        <a:latin typeface="Cambria Math"/>
                      </a:rPr>
                      <m:t>𝐴</m:t>
                    </m:r>
                    <m:r>
                      <a:rPr lang="en-US" b="0" i="1" smtClean="0">
                        <a:latin typeface="Cambria Math"/>
                        <a:ea typeface="Cambria Math"/>
                      </a:rPr>
                      <m:t>∪</m:t>
                    </m:r>
                    <m:r>
                      <a:rPr lang="en-US" b="0" i="1" smtClean="0">
                        <a:latin typeface="Cambria Math"/>
                        <a:ea typeface="Cambria Math"/>
                      </a:rPr>
                      <m:t>𝐵</m:t>
                    </m:r>
                    <m:r>
                      <a:rPr lang="en-US" b="0" i="1" smtClean="0">
                        <a:latin typeface="Cambria Math"/>
                        <a:ea typeface="Cambria Math"/>
                      </a:rPr>
                      <m:t>, </m:t>
                    </m:r>
                    <m:r>
                      <a:rPr lang="en-US" b="0" i="1" smtClean="0">
                        <a:latin typeface="Cambria Math"/>
                        <a:ea typeface="Cambria Math"/>
                      </a:rPr>
                      <m:t>𝐴</m:t>
                    </m:r>
                    <m:r>
                      <a:rPr lang="en-US" b="0" i="1" smtClean="0">
                        <a:latin typeface="Cambria Math"/>
                        <a:ea typeface="Cambria Math"/>
                      </a:rPr>
                      <m:t>∩</m:t>
                    </m:r>
                    <m:r>
                      <a:rPr lang="en-US" b="0" i="1" smtClean="0">
                        <a:latin typeface="Cambria Math"/>
                        <a:ea typeface="Cambria Math"/>
                      </a:rPr>
                      <m:t>𝐵</m:t>
                    </m:r>
                    <m:r>
                      <a:rPr lang="en-US" b="0" i="1" smtClean="0">
                        <a:latin typeface="Cambria Math"/>
                        <a:ea typeface="Cambria Math"/>
                      </a:rPr>
                      <m:t>, </m:t>
                    </m:r>
                    <m:sSup>
                      <m:sSupPr>
                        <m:ctrlPr>
                          <a:rPr lang="en-US" b="0" i="1" smtClean="0">
                            <a:latin typeface="Cambria Math" panose="02040503050406030204" pitchFamily="18" charset="0"/>
                            <a:ea typeface="Cambria Math"/>
                          </a:rPr>
                        </m:ctrlPr>
                      </m:sSupPr>
                      <m:e>
                        <m:r>
                          <a:rPr lang="en-US" b="0" i="1" smtClean="0">
                            <a:latin typeface="Cambria Math"/>
                            <a:ea typeface="Cambria Math"/>
                          </a:rPr>
                          <m:t>𝐴</m:t>
                        </m:r>
                      </m:e>
                      <m:sup>
                        <m:r>
                          <a:rPr lang="en-US" b="0" i="1" smtClean="0">
                            <a:latin typeface="Cambria Math"/>
                            <a:ea typeface="Cambria Math"/>
                          </a:rPr>
                          <m:t>𝑐</m:t>
                        </m:r>
                      </m:sup>
                    </m:sSup>
                    <m:r>
                      <a:rPr lang="en-US" b="0" i="1" smtClean="0">
                        <a:latin typeface="Cambria Math"/>
                        <a:ea typeface="Cambria Math"/>
                      </a:rPr>
                      <m:t>=</m:t>
                    </m:r>
                    <m:acc>
                      <m:accPr>
                        <m:chr m:val="̅"/>
                        <m:ctrlPr>
                          <a:rPr lang="en-US" b="0" i="1" smtClean="0">
                            <a:latin typeface="Cambria Math" panose="02040503050406030204" pitchFamily="18" charset="0"/>
                            <a:ea typeface="Cambria Math"/>
                          </a:rPr>
                        </m:ctrlPr>
                      </m:accPr>
                      <m:e>
                        <m:r>
                          <a:rPr lang="en-US" b="0" i="1" smtClean="0">
                            <a:latin typeface="Cambria Math"/>
                            <a:ea typeface="Cambria Math"/>
                          </a:rPr>
                          <m:t>𝐴</m:t>
                        </m:r>
                      </m:e>
                    </m:acc>
                    <m:r>
                      <a:rPr lang="en-US" b="0" i="1" smtClean="0">
                        <a:latin typeface="Cambria Math"/>
                      </a:rPr>
                      <m:t>, </m:t>
                    </m:r>
                    <m:r>
                      <a:rPr lang="en-US" b="0" i="1" smtClean="0">
                        <a:latin typeface="Cambria Math"/>
                      </a:rPr>
                      <m:t>𝑆</m:t>
                    </m:r>
                    <m:r>
                      <a:rPr lang="en-US" b="0" i="1" smtClean="0">
                        <a:latin typeface="Cambria Math"/>
                        <a:ea typeface="Cambria Math"/>
                      </a:rPr>
                      <m:t>∖</m:t>
                    </m:r>
                    <m:r>
                      <a:rPr lang="en-US" b="0" i="1" smtClean="0">
                        <a:latin typeface="Cambria Math"/>
                      </a:rPr>
                      <m:t>𝐴</m:t>
                    </m:r>
                  </m:oMath>
                </a14:m>
                <a:r>
                  <a:rPr lang="en-US" b="0" dirty="0" smtClean="0"/>
                  <a:t>,</a:t>
                </a:r>
                <a14:m>
                  <m:oMath xmlns:m="http://schemas.openxmlformats.org/officeDocument/2006/math">
                    <m:r>
                      <a:rPr lang="en-US" b="0" i="1" smtClean="0">
                        <a:latin typeface="Cambria Math"/>
                        <a:ea typeface="Cambria Math"/>
                      </a:rPr>
                      <m:t>∅</m:t>
                    </m:r>
                  </m:oMath>
                </a14:m>
                <a:endParaRPr lang="en-US" b="0" dirty="0" smtClean="0">
                  <a:ea typeface="Cambria Math"/>
                </a:endParaRPr>
              </a:p>
              <a:p>
                <a:r>
                  <a:rPr lang="en-US" b="0" dirty="0" smtClean="0"/>
                  <a:t>De Morgan’s Laws:</a:t>
                </a:r>
              </a:p>
              <a:p>
                <a:pPr lvl="1"/>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a:rPr>
                          <m:t>(</m:t>
                        </m:r>
                        <m:r>
                          <a:rPr lang="en-US" b="0" i="1" smtClean="0">
                            <a:latin typeface="Cambria Math"/>
                          </a:rPr>
                          <m:t>𝐸</m:t>
                        </m:r>
                        <m:r>
                          <a:rPr lang="en-US" b="0" i="1" smtClean="0">
                            <a:latin typeface="Cambria Math"/>
                            <a:ea typeface="Cambria Math"/>
                          </a:rPr>
                          <m:t>∪</m:t>
                        </m:r>
                        <m:r>
                          <a:rPr lang="en-US" b="0" i="1" smtClean="0">
                            <a:latin typeface="Cambria Math"/>
                            <a:ea typeface="Cambria Math"/>
                          </a:rPr>
                          <m:t>𝐹</m:t>
                        </m:r>
                        <m:r>
                          <a:rPr lang="en-US" b="0" i="1" smtClean="0">
                            <a:latin typeface="Cambria Math"/>
                            <a:ea typeface="Cambria Math"/>
                          </a:rPr>
                          <m:t>)</m:t>
                        </m:r>
                      </m:e>
                      <m:sup>
                        <m:r>
                          <a:rPr lang="en-US" b="0" i="1" smtClean="0">
                            <a:latin typeface="Cambria Math"/>
                          </a:rPr>
                          <m:t>𝑐</m:t>
                        </m:r>
                      </m:sup>
                    </m:sSup>
                    <m:r>
                      <a:rPr lang="en-US" b="0" i="1" smtClean="0">
                        <a:latin typeface="Cambria Math"/>
                        <a:ea typeface="Cambria Math"/>
                      </a:rPr>
                      <m:t>=</m:t>
                    </m:r>
                    <m:sSup>
                      <m:sSupPr>
                        <m:ctrlPr>
                          <a:rPr lang="en-US" b="0" i="1" smtClean="0">
                            <a:latin typeface="Cambria Math" panose="02040503050406030204" pitchFamily="18" charset="0"/>
                            <a:ea typeface="Cambria Math"/>
                          </a:rPr>
                        </m:ctrlPr>
                      </m:sSupPr>
                      <m:e>
                        <m:r>
                          <a:rPr lang="en-US" b="0" i="1" smtClean="0">
                            <a:latin typeface="Cambria Math"/>
                            <a:ea typeface="Cambria Math"/>
                          </a:rPr>
                          <m:t>𝐸</m:t>
                        </m:r>
                      </m:e>
                      <m:sup>
                        <m:r>
                          <a:rPr lang="en-US" b="0" i="1" smtClean="0">
                            <a:latin typeface="Cambria Math"/>
                            <a:ea typeface="Cambria Math"/>
                          </a:rPr>
                          <m:t>𝑐</m:t>
                        </m:r>
                      </m:sup>
                    </m:sSup>
                    <m:r>
                      <a:rPr lang="en-US" b="0" i="1" smtClean="0">
                        <a:latin typeface="Cambria Math"/>
                        <a:ea typeface="Cambria Math"/>
                      </a:rPr>
                      <m:t>∩</m:t>
                    </m:r>
                    <m:sSup>
                      <m:sSupPr>
                        <m:ctrlPr>
                          <a:rPr lang="en-US" b="0" i="1" smtClean="0">
                            <a:latin typeface="Cambria Math" panose="02040503050406030204" pitchFamily="18" charset="0"/>
                            <a:ea typeface="Cambria Math"/>
                          </a:rPr>
                        </m:ctrlPr>
                      </m:sSupPr>
                      <m:e>
                        <m:r>
                          <a:rPr lang="en-US" b="0" i="1" smtClean="0">
                            <a:latin typeface="Cambria Math"/>
                            <a:ea typeface="Cambria Math"/>
                          </a:rPr>
                          <m:t>𝐹</m:t>
                        </m:r>
                      </m:e>
                      <m:sup>
                        <m:r>
                          <a:rPr lang="en-US" b="0" i="1" smtClean="0">
                            <a:latin typeface="Cambria Math"/>
                            <a:ea typeface="Cambria Math"/>
                          </a:rPr>
                          <m:t>𝑐</m:t>
                        </m:r>
                      </m:sup>
                    </m:sSup>
                  </m:oMath>
                </a14:m>
                <a:endParaRPr lang="en-US" b="0" dirty="0" smtClean="0">
                  <a:ea typeface="Cambria Math"/>
                </a:endParaRPr>
              </a:p>
              <a:p>
                <a:pPr lvl="1"/>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a:rPr>
                          <m:t>(</m:t>
                        </m:r>
                        <m:r>
                          <a:rPr lang="en-US" b="0" i="1" smtClean="0">
                            <a:latin typeface="Cambria Math"/>
                          </a:rPr>
                          <m:t>𝐸</m:t>
                        </m:r>
                        <m:r>
                          <a:rPr lang="en-US" b="0" i="1" smtClean="0">
                            <a:latin typeface="Cambria Math"/>
                            <a:ea typeface="Cambria Math"/>
                          </a:rPr>
                          <m:t>∩</m:t>
                        </m:r>
                        <m:r>
                          <a:rPr lang="en-US" b="0" i="1" smtClean="0">
                            <a:latin typeface="Cambria Math"/>
                            <a:ea typeface="Cambria Math"/>
                          </a:rPr>
                          <m:t>𝐹</m:t>
                        </m:r>
                        <m:r>
                          <a:rPr lang="en-US" b="0" i="1" smtClean="0">
                            <a:latin typeface="Cambria Math"/>
                            <a:ea typeface="Cambria Math"/>
                          </a:rPr>
                          <m:t>)</m:t>
                        </m:r>
                      </m:e>
                      <m:sup>
                        <m:r>
                          <a:rPr lang="en-US" b="0" i="1" smtClean="0">
                            <a:latin typeface="Cambria Math"/>
                          </a:rPr>
                          <m:t>𝑐</m:t>
                        </m:r>
                      </m:sup>
                    </m:sSup>
                    <m:r>
                      <a:rPr lang="en-US" b="0" i="1" smtClean="0">
                        <a:latin typeface="Cambria Math"/>
                        <a:ea typeface="Cambria Math"/>
                      </a:rPr>
                      <m:t>=</m:t>
                    </m:r>
                    <m:sSup>
                      <m:sSupPr>
                        <m:ctrlPr>
                          <a:rPr lang="en-US" b="0" i="1" smtClean="0">
                            <a:latin typeface="Cambria Math" panose="02040503050406030204" pitchFamily="18" charset="0"/>
                            <a:ea typeface="Cambria Math"/>
                          </a:rPr>
                        </m:ctrlPr>
                      </m:sSupPr>
                      <m:e>
                        <m:r>
                          <a:rPr lang="en-US" b="0" i="1" smtClean="0">
                            <a:latin typeface="Cambria Math"/>
                            <a:ea typeface="Cambria Math"/>
                          </a:rPr>
                          <m:t>𝐸</m:t>
                        </m:r>
                      </m:e>
                      <m:sup>
                        <m:r>
                          <a:rPr lang="en-US" b="0" i="1" smtClean="0">
                            <a:latin typeface="Cambria Math"/>
                            <a:ea typeface="Cambria Math"/>
                          </a:rPr>
                          <m:t>𝑐</m:t>
                        </m:r>
                      </m:sup>
                    </m:sSup>
                    <m:r>
                      <a:rPr lang="en-US" b="0" i="1" smtClean="0">
                        <a:latin typeface="Cambria Math"/>
                        <a:ea typeface="Cambria Math"/>
                      </a:rPr>
                      <m:t>∪</m:t>
                    </m:r>
                    <m:sSup>
                      <m:sSupPr>
                        <m:ctrlPr>
                          <a:rPr lang="en-US" b="0" i="1" smtClean="0">
                            <a:latin typeface="Cambria Math" panose="02040503050406030204" pitchFamily="18" charset="0"/>
                            <a:ea typeface="Cambria Math"/>
                          </a:rPr>
                        </m:ctrlPr>
                      </m:sSupPr>
                      <m:e>
                        <m:r>
                          <a:rPr lang="en-US" b="0" i="1" smtClean="0">
                            <a:latin typeface="Cambria Math"/>
                            <a:ea typeface="Cambria Math"/>
                          </a:rPr>
                          <m:t>𝐹</m:t>
                        </m:r>
                      </m:e>
                      <m:sup>
                        <m:r>
                          <a:rPr lang="en-US" b="0" i="1" smtClean="0">
                            <a:latin typeface="Cambria Math"/>
                            <a:ea typeface="Cambria Math"/>
                          </a:rPr>
                          <m:t>𝑐</m:t>
                        </m:r>
                      </m:sup>
                    </m:sSup>
                  </m:oMath>
                </a14:m>
                <a:endParaRPr lang="en-US" b="0" dirty="0" smtClean="0"/>
              </a:p>
              <a:p>
                <a:pPr lvl="1"/>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1630" t="-1752"/>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0E4783E4-8C6B-4D7F-9E3C-EFBF72397067}" type="slidenum">
              <a:rPr lang="en-US" smtClean="0"/>
              <a:t>11</a:t>
            </a:fld>
            <a:endParaRPr lang="en-US" dirty="0"/>
          </a:p>
        </p:txBody>
      </p:sp>
    </p:spTree>
    <p:extLst>
      <p:ext uri="{BB962C8B-B14F-4D97-AF65-F5344CB8AC3E}">
        <p14:creationId xmlns:p14="http://schemas.microsoft.com/office/powerpoint/2010/main" val="234652767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Sample Space</a:t>
            </a:r>
            <a:endParaRPr lang="en-US" dirty="0"/>
          </a:p>
        </p:txBody>
      </p:sp>
      <p:sp>
        <p:nvSpPr>
          <p:cNvPr id="3" name="Content Placeholder 2"/>
          <p:cNvSpPr>
            <a:spLocks noGrp="1"/>
          </p:cNvSpPr>
          <p:nvPr>
            <p:ph idx="1"/>
          </p:nvPr>
        </p:nvSpPr>
        <p:spPr/>
        <p:txBody>
          <a:bodyPr/>
          <a:lstStyle/>
          <a:p>
            <a:r>
              <a:rPr lang="en-US" dirty="0" smtClean="0"/>
              <a:t>Consider an experiment</a:t>
            </a:r>
          </a:p>
          <a:p>
            <a:r>
              <a:rPr lang="en-US" dirty="0" smtClean="0"/>
              <a:t>Definition:  The </a:t>
            </a:r>
            <a:r>
              <a:rPr lang="en-US" i="1" dirty="0" smtClean="0"/>
              <a:t>sample space</a:t>
            </a:r>
            <a:r>
              <a:rPr lang="en-US" dirty="0" smtClean="0"/>
              <a:t>, S, is the set of all possible outcomes of the experiment.</a:t>
            </a:r>
          </a:p>
          <a:p>
            <a:pPr marL="0" indent="0">
              <a:buNone/>
            </a:pPr>
            <a:endParaRPr lang="en-US" dirty="0"/>
          </a:p>
        </p:txBody>
      </p:sp>
      <p:sp>
        <p:nvSpPr>
          <p:cNvPr id="4" name="Slide Number Placeholder 3"/>
          <p:cNvSpPr>
            <a:spLocks noGrp="1"/>
          </p:cNvSpPr>
          <p:nvPr>
            <p:ph type="sldNum" sz="quarter" idx="12"/>
          </p:nvPr>
        </p:nvSpPr>
        <p:spPr/>
        <p:txBody>
          <a:bodyPr/>
          <a:lstStyle/>
          <a:p>
            <a:fld id="{0E4783E4-8C6B-4D7F-9E3C-EFBF72397067}" type="slidenum">
              <a:rPr lang="en-US" smtClean="0"/>
              <a:t>12</a:t>
            </a:fld>
            <a:endParaRPr lang="en-US" dirty="0"/>
          </a:p>
        </p:txBody>
      </p:sp>
    </p:spTree>
    <p:extLst>
      <p:ext uri="{BB962C8B-B14F-4D97-AF65-F5344CB8AC3E}">
        <p14:creationId xmlns:p14="http://schemas.microsoft.com/office/powerpoint/2010/main" val="264608771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Examples of </a:t>
            </a:r>
            <a:r>
              <a:rPr lang="en-US" i="1" dirty="0" smtClean="0"/>
              <a:t>S</a:t>
            </a:r>
            <a:endParaRPr lang="en-US" dirty="0"/>
          </a:p>
        </p:txBody>
      </p:sp>
      <p:sp>
        <p:nvSpPr>
          <p:cNvPr id="3" name="Content Placeholder 2"/>
          <p:cNvSpPr>
            <a:spLocks noGrp="1"/>
          </p:cNvSpPr>
          <p:nvPr>
            <p:ph idx="1"/>
          </p:nvPr>
        </p:nvSpPr>
        <p:spPr/>
        <p:txBody>
          <a:bodyPr/>
          <a:lstStyle/>
          <a:p>
            <a:r>
              <a:rPr lang="en-US" dirty="0" smtClean="0"/>
              <a:t>Experiment: Have a baby</a:t>
            </a:r>
          </a:p>
          <a:p>
            <a:pPr marL="457200" lvl="1" indent="0">
              <a:buNone/>
            </a:pPr>
            <a:r>
              <a:rPr lang="en-US" i="1" dirty="0" smtClean="0"/>
              <a:t>S</a:t>
            </a:r>
            <a:r>
              <a:rPr lang="en-US" dirty="0" smtClean="0"/>
              <a:t>={</a:t>
            </a:r>
            <a:r>
              <a:rPr lang="en-US" dirty="0" err="1" smtClean="0"/>
              <a:t>b,g</a:t>
            </a:r>
            <a:r>
              <a:rPr lang="en-US" dirty="0" smtClean="0"/>
              <a:t>}    (assumes a single child, of a single gender)</a:t>
            </a:r>
          </a:p>
          <a:p>
            <a:r>
              <a:rPr lang="en-US" dirty="0" smtClean="0"/>
              <a:t>Experiment: Roll a die</a:t>
            </a:r>
          </a:p>
          <a:p>
            <a:pPr marL="457200" lvl="1" indent="0">
              <a:buNone/>
            </a:pPr>
            <a:r>
              <a:rPr lang="en-US" i="1" dirty="0" smtClean="0"/>
              <a:t>S</a:t>
            </a:r>
            <a:r>
              <a:rPr lang="en-US" dirty="0" smtClean="0"/>
              <a:t> = {1,2,3,4,5,6}</a:t>
            </a:r>
          </a:p>
          <a:p>
            <a:r>
              <a:rPr lang="en-US" dirty="0" smtClean="0"/>
              <a:t>Experiment: Flip a coin</a:t>
            </a:r>
          </a:p>
          <a:p>
            <a:pPr marL="457200" lvl="1" indent="0">
              <a:buNone/>
            </a:pPr>
            <a:r>
              <a:rPr lang="en-US" i="1" dirty="0" smtClean="0"/>
              <a:t>S</a:t>
            </a:r>
            <a:r>
              <a:rPr lang="en-US" dirty="0" smtClean="0"/>
              <a:t> = {H,T}</a:t>
            </a:r>
            <a:endParaRPr lang="en-US" dirty="0"/>
          </a:p>
          <a:p>
            <a:r>
              <a:rPr lang="en-US" dirty="0" smtClean="0"/>
              <a:t>Experiment: Measure lifetime of a </a:t>
            </a:r>
            <a:r>
              <a:rPr lang="en-US" dirty="0" err="1" smtClean="0"/>
              <a:t>ligthbulb</a:t>
            </a:r>
            <a:endParaRPr lang="en-US" dirty="0" smtClean="0"/>
          </a:p>
          <a:p>
            <a:pPr marL="457200" lvl="1" indent="0">
              <a:buNone/>
            </a:pPr>
            <a:r>
              <a:rPr lang="en-US" i="1" dirty="0" smtClean="0"/>
              <a:t>S</a:t>
            </a:r>
            <a:r>
              <a:rPr lang="en-US" dirty="0" smtClean="0"/>
              <a:t> = {x : 0≤x&lt;</a:t>
            </a:r>
            <a:r>
              <a:rPr lang="en-US" dirty="0" smtClean="0">
                <a:sym typeface="Symbol"/>
              </a:rPr>
              <a:t>}     (nonnegative real numbers)</a:t>
            </a:r>
            <a:endParaRPr lang="en-US" i="1" dirty="0" smtClean="0"/>
          </a:p>
        </p:txBody>
      </p:sp>
      <p:sp>
        <p:nvSpPr>
          <p:cNvPr id="4" name="Slide Number Placeholder 3"/>
          <p:cNvSpPr>
            <a:spLocks noGrp="1"/>
          </p:cNvSpPr>
          <p:nvPr>
            <p:ph type="sldNum" sz="quarter" idx="12"/>
          </p:nvPr>
        </p:nvSpPr>
        <p:spPr/>
        <p:txBody>
          <a:bodyPr/>
          <a:lstStyle/>
          <a:p>
            <a:fld id="{0E4783E4-8C6B-4D7F-9E3C-EFBF72397067}" type="slidenum">
              <a:rPr lang="en-US" smtClean="0"/>
              <a:t>13</a:t>
            </a:fld>
            <a:endParaRPr lang="en-US" dirty="0"/>
          </a:p>
        </p:txBody>
      </p:sp>
    </p:spTree>
    <p:extLst>
      <p:ext uri="{BB962C8B-B14F-4D97-AF65-F5344CB8AC3E}">
        <p14:creationId xmlns:p14="http://schemas.microsoft.com/office/powerpoint/2010/main" val="400052047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Examples of </a:t>
            </a:r>
            <a:r>
              <a:rPr lang="en-US" i="1" dirty="0" smtClean="0"/>
              <a:t>S</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Experiment: Roll a pair of dice</a:t>
            </a:r>
          </a:p>
          <a:p>
            <a:pPr marL="457200" lvl="1" indent="0">
              <a:buNone/>
            </a:pPr>
            <a:r>
              <a:rPr lang="en-US" i="1" dirty="0" smtClean="0"/>
              <a:t>S</a:t>
            </a:r>
            <a:r>
              <a:rPr lang="en-US" dirty="0" smtClean="0"/>
              <a:t>={ (1,1), (1,2), …,(1,6),(2,1),…,(2,6),…,(6,1),…,(6,6)}</a:t>
            </a:r>
          </a:p>
          <a:p>
            <a:r>
              <a:rPr lang="en-US" dirty="0" smtClean="0"/>
              <a:t>Experiment: Select 2 marbles (with replacement) from a box having 1 red, 1 blue, 1 green marble </a:t>
            </a:r>
          </a:p>
          <a:p>
            <a:pPr marL="457200" lvl="1" indent="0">
              <a:buNone/>
            </a:pPr>
            <a:r>
              <a:rPr lang="en-US" i="1" dirty="0" smtClean="0"/>
              <a:t>S</a:t>
            </a:r>
            <a:r>
              <a:rPr lang="en-US" dirty="0" smtClean="0"/>
              <a:t> = {RR, RG, RB, GR, GG, GB, BR, BG, BB}</a:t>
            </a:r>
          </a:p>
          <a:p>
            <a:pPr marL="457200" lvl="1" indent="0">
              <a:buNone/>
            </a:pPr>
            <a:r>
              <a:rPr lang="en-US" dirty="0" smtClean="0"/>
              <a:t>|</a:t>
            </a:r>
            <a:r>
              <a:rPr lang="en-US" i="1" dirty="0" smtClean="0"/>
              <a:t>S</a:t>
            </a:r>
            <a:r>
              <a:rPr lang="en-US" dirty="0" smtClean="0"/>
              <a:t>| = 3*3=9</a:t>
            </a:r>
            <a:endParaRPr lang="en-US" dirty="0"/>
          </a:p>
          <a:p>
            <a:r>
              <a:rPr lang="en-US" dirty="0" smtClean="0"/>
              <a:t>Experiment: Select 2 marbles (w/o replacement) from a box having 1 red, 1 blue, 1 green marble </a:t>
            </a:r>
          </a:p>
          <a:p>
            <a:pPr marL="457200" lvl="1" indent="0">
              <a:buNone/>
            </a:pPr>
            <a:r>
              <a:rPr lang="en-US" i="1" dirty="0" smtClean="0"/>
              <a:t>S</a:t>
            </a:r>
            <a:r>
              <a:rPr lang="en-US" dirty="0" smtClean="0"/>
              <a:t> = {RG, RB, GR, GB, BR, BG}</a:t>
            </a:r>
          </a:p>
          <a:p>
            <a:pPr marL="457200" lvl="1" indent="0">
              <a:buNone/>
            </a:pPr>
            <a:r>
              <a:rPr lang="en-US" dirty="0" smtClean="0"/>
              <a:t>|</a:t>
            </a:r>
            <a:r>
              <a:rPr lang="en-US" i="1" dirty="0" smtClean="0"/>
              <a:t>S</a:t>
            </a:r>
            <a:r>
              <a:rPr lang="en-US" dirty="0" smtClean="0"/>
              <a:t>| = 3*2=6</a:t>
            </a:r>
            <a:endParaRPr lang="en-US" dirty="0"/>
          </a:p>
        </p:txBody>
      </p:sp>
      <p:sp>
        <p:nvSpPr>
          <p:cNvPr id="4" name="Slide Number Placeholder 3"/>
          <p:cNvSpPr>
            <a:spLocks noGrp="1"/>
          </p:cNvSpPr>
          <p:nvPr>
            <p:ph type="sldNum" sz="quarter" idx="12"/>
          </p:nvPr>
        </p:nvSpPr>
        <p:spPr/>
        <p:txBody>
          <a:bodyPr/>
          <a:lstStyle/>
          <a:p>
            <a:fld id="{0E4783E4-8C6B-4D7F-9E3C-EFBF72397067}" type="slidenum">
              <a:rPr lang="en-US" smtClean="0"/>
              <a:t>14</a:t>
            </a:fld>
            <a:endParaRPr lang="en-US" dirty="0"/>
          </a:p>
        </p:txBody>
      </p:sp>
    </p:spTree>
    <p:extLst>
      <p:ext uri="{BB962C8B-B14F-4D97-AF65-F5344CB8AC3E}">
        <p14:creationId xmlns:p14="http://schemas.microsoft.com/office/powerpoint/2010/main" val="295686370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Events</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lnSpcReduction="10000"/>
              </a:bodyPr>
              <a:lstStyle/>
              <a:p>
                <a:r>
                  <a:rPr lang="en-US" dirty="0" smtClean="0"/>
                  <a:t>Def: An </a:t>
                </a:r>
                <a:r>
                  <a:rPr lang="en-US" i="1" dirty="0" smtClean="0"/>
                  <a:t>event</a:t>
                </a:r>
                <a:r>
                  <a:rPr lang="en-US" dirty="0" smtClean="0"/>
                  <a:t> E is a subset of </a:t>
                </a:r>
                <a:r>
                  <a:rPr lang="en-US" i="1" dirty="0" smtClean="0"/>
                  <a:t>S</a:t>
                </a:r>
                <a:r>
                  <a:rPr lang="en-US" dirty="0" smtClean="0"/>
                  <a:t>:  </a:t>
                </a:r>
                <a14:m>
                  <m:oMath xmlns:m="http://schemas.openxmlformats.org/officeDocument/2006/math">
                    <m:r>
                      <a:rPr lang="en-US" b="0" i="1" smtClean="0">
                        <a:latin typeface="Cambria Math"/>
                      </a:rPr>
                      <m:t>𝐸</m:t>
                    </m:r>
                    <m:r>
                      <a:rPr lang="en-US" b="0" i="1" smtClean="0">
                        <a:latin typeface="Cambria Math"/>
                        <a:ea typeface="Cambria Math"/>
                      </a:rPr>
                      <m:t>⊆</m:t>
                    </m:r>
                    <m:r>
                      <a:rPr lang="en-US" b="0" i="1" smtClean="0">
                        <a:latin typeface="Cambria Math"/>
                        <a:ea typeface="Cambria Math"/>
                      </a:rPr>
                      <m:t>𝑆</m:t>
                    </m:r>
                  </m:oMath>
                </a14:m>
                <a:endParaRPr lang="en-US" b="0" dirty="0" smtClean="0">
                  <a:ea typeface="Cambria Math"/>
                </a:endParaRPr>
              </a:p>
              <a:p>
                <a:r>
                  <a:rPr lang="en-US" dirty="0" smtClean="0"/>
                  <a:t>Ex: Experiment: have a baby</a:t>
                </a:r>
              </a:p>
              <a:p>
                <a:pPr marL="457200" lvl="1" indent="0">
                  <a:buNone/>
                </a:pPr>
                <a:r>
                  <a:rPr lang="en-US" dirty="0" smtClean="0"/>
                  <a:t>E = “have a boy” = {b};     S={</a:t>
                </a:r>
                <a:r>
                  <a:rPr lang="en-US" dirty="0" err="1" smtClean="0"/>
                  <a:t>b,g</a:t>
                </a:r>
                <a:r>
                  <a:rPr lang="en-US" dirty="0" smtClean="0"/>
                  <a:t>}</a:t>
                </a:r>
              </a:p>
              <a:p>
                <a:r>
                  <a:rPr lang="en-US" dirty="0" smtClean="0"/>
                  <a:t>Ex: Experiment: Toss 2 coins</a:t>
                </a:r>
              </a:p>
              <a:p>
                <a:pPr marL="457200" lvl="1" indent="0">
                  <a:buNone/>
                </a:pPr>
                <a:r>
                  <a:rPr lang="en-US" dirty="0" smtClean="0"/>
                  <a:t>E = “show same on both tosses” = {HH,TT}</a:t>
                </a:r>
              </a:p>
              <a:p>
                <a:pPr marL="457200" lvl="1" indent="0">
                  <a:buNone/>
                </a:pPr>
                <a:r>
                  <a:rPr lang="en-US" dirty="0" smtClean="0"/>
                  <a:t>S={HH,HT,TH,TT}</a:t>
                </a:r>
              </a:p>
              <a:p>
                <a:r>
                  <a:rPr lang="en-US" dirty="0" smtClean="0"/>
                  <a:t>Ex: Experiment: measure lifetime of a light bulb</a:t>
                </a:r>
              </a:p>
              <a:p>
                <a:pPr marL="457200" lvl="1" indent="0">
                  <a:buNone/>
                </a:pPr>
                <a:r>
                  <a:rPr lang="en-US" dirty="0" smtClean="0"/>
                  <a:t>E = “burns out by time 3.2” = [0,3.2]; S=[0,</a:t>
                </a:r>
                <a:r>
                  <a:rPr lang="en-US" dirty="0" smtClean="0">
                    <a:sym typeface="Symbol"/>
                  </a:rPr>
                  <a:t> )</a:t>
                </a: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704" t="-2695" b="-2291"/>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E4783E4-8C6B-4D7F-9E3C-EFBF72397067}" type="slidenum">
              <a:rPr lang="en-US" smtClean="0"/>
              <a:t>15</a:t>
            </a:fld>
            <a:endParaRPr lang="en-US" dirty="0"/>
          </a:p>
        </p:txBody>
      </p:sp>
    </p:spTree>
    <p:extLst>
      <p:ext uri="{BB962C8B-B14F-4D97-AF65-F5344CB8AC3E}">
        <p14:creationId xmlns:p14="http://schemas.microsoft.com/office/powerpoint/2010/main" val="368504979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Defining Probability P(E)</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smtClean="0"/>
                  <a:t>Frequentist Interpretation:</a:t>
                </a:r>
              </a:p>
              <a:p>
                <a:pPr marL="457200" lvl="1" indent="0">
                  <a:buNone/>
                </a:pPr>
                <a14:m>
                  <m:oMathPara xmlns:m="http://schemas.openxmlformats.org/officeDocument/2006/math">
                    <m:oMathParaPr>
                      <m:jc m:val="centerGroup"/>
                    </m:oMathParaPr>
                    <m:oMath xmlns:m="http://schemas.openxmlformats.org/officeDocument/2006/math">
                      <m:r>
                        <a:rPr lang="en-US" b="0" i="1" smtClean="0">
                          <a:latin typeface="Cambria Math"/>
                        </a:rPr>
                        <m:t>𝑃</m:t>
                      </m:r>
                      <m:r>
                        <a:rPr lang="en-US" b="0" i="1" smtClean="0">
                          <a:latin typeface="Cambria Math"/>
                        </a:rPr>
                        <m:t>(</m:t>
                      </m:r>
                      <m:r>
                        <a:rPr lang="en-US" b="0" i="1" smtClean="0">
                          <a:latin typeface="Cambria Math"/>
                        </a:rPr>
                        <m:t>𝐸</m:t>
                      </m:r>
                      <m:r>
                        <a:rPr lang="en-US" b="0" i="1" smtClean="0">
                          <a:latin typeface="Cambria Math"/>
                        </a:rPr>
                        <m:t>)=</m:t>
                      </m:r>
                      <m:func>
                        <m:funcPr>
                          <m:ctrlPr>
                            <a:rPr lang="en-US" b="0" i="1" smtClean="0">
                              <a:latin typeface="Cambria Math" panose="02040503050406030204" pitchFamily="18" charset="0"/>
                              <a:ea typeface="Cambria Math"/>
                            </a:rPr>
                          </m:ctrlPr>
                        </m:funcPr>
                        <m:fName>
                          <m:limLow>
                            <m:limLowPr>
                              <m:ctrlPr>
                                <a:rPr lang="en-US" b="0" i="1" smtClean="0">
                                  <a:latin typeface="Cambria Math" panose="02040503050406030204" pitchFamily="18" charset="0"/>
                                  <a:ea typeface="Cambria Math"/>
                                </a:rPr>
                              </m:ctrlPr>
                            </m:limLowPr>
                            <m:e>
                              <m:r>
                                <m:rPr>
                                  <m:sty m:val="p"/>
                                </m:rPr>
                                <a:rPr lang="en-US" b="0" i="0" smtClean="0">
                                  <a:latin typeface="Cambria Math"/>
                                  <a:ea typeface="Cambria Math"/>
                                </a:rPr>
                                <m:t>lim</m:t>
                              </m:r>
                            </m:e>
                            <m:lim>
                              <m:r>
                                <a:rPr lang="en-US" b="0" i="1" smtClean="0">
                                  <a:latin typeface="Cambria Math"/>
                                  <a:ea typeface="Cambria Math"/>
                                </a:rPr>
                                <m:t>𝑛</m:t>
                              </m:r>
                              <m:r>
                                <a:rPr lang="en-US" b="0" i="1" smtClean="0">
                                  <a:latin typeface="Cambria Math"/>
                                  <a:ea typeface="Cambria Math"/>
                                </a:rPr>
                                <m:t>→∞</m:t>
                              </m:r>
                            </m:lim>
                          </m:limLow>
                        </m:fName>
                        <m:e>
                          <m:f>
                            <m:fPr>
                              <m:ctrlPr>
                                <a:rPr lang="en-US" b="0" i="1" smtClean="0">
                                  <a:latin typeface="Cambria Math" panose="02040503050406030204" pitchFamily="18" charset="0"/>
                                  <a:ea typeface="Cambria Math"/>
                                </a:rPr>
                              </m:ctrlPr>
                            </m:fPr>
                            <m:num>
                              <m:r>
                                <a:rPr lang="en-US" b="0" i="1" smtClean="0">
                                  <a:latin typeface="Cambria Math"/>
                                  <a:ea typeface="Cambria Math"/>
                                </a:rPr>
                                <m:t>#(</m:t>
                              </m:r>
                              <m:r>
                                <a:rPr lang="en-US" b="0" i="1" smtClean="0">
                                  <a:latin typeface="Cambria Math"/>
                                  <a:ea typeface="Cambria Math"/>
                                </a:rPr>
                                <m:t>𝐸</m:t>
                              </m:r>
                              <m:r>
                                <a:rPr lang="en-US" b="0" i="1" smtClean="0">
                                  <a:latin typeface="Cambria Math"/>
                                  <a:ea typeface="Cambria Math"/>
                                </a:rPr>
                                <m:t>,</m:t>
                              </m:r>
                              <m:r>
                                <a:rPr lang="en-US" b="0" i="1" smtClean="0">
                                  <a:latin typeface="Cambria Math"/>
                                  <a:ea typeface="Cambria Math"/>
                                </a:rPr>
                                <m:t>𝑛</m:t>
                              </m:r>
                              <m:r>
                                <a:rPr lang="en-US" b="0" i="1" smtClean="0">
                                  <a:latin typeface="Cambria Math"/>
                                  <a:ea typeface="Cambria Math"/>
                                </a:rPr>
                                <m:t>)</m:t>
                              </m:r>
                            </m:num>
                            <m:den>
                              <m:r>
                                <a:rPr lang="en-US" b="0" i="1" smtClean="0">
                                  <a:latin typeface="Cambria Math"/>
                                  <a:ea typeface="Cambria Math"/>
                                </a:rPr>
                                <m:t>𝑛</m:t>
                              </m:r>
                            </m:den>
                          </m:f>
                        </m:e>
                      </m:func>
                    </m:oMath>
                  </m:oMathPara>
                </a14:m>
                <a:endParaRPr lang="en-US" dirty="0" smtClean="0"/>
              </a:p>
              <a:p>
                <a:r>
                  <a:rPr lang="en-US" dirty="0" smtClean="0"/>
                  <a:t>Axioms of probability: Basis of modern probability theory</a:t>
                </a: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1630" t="-1752"/>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0E4783E4-8C6B-4D7F-9E3C-EFBF72397067}" type="slidenum">
              <a:rPr lang="en-US" smtClean="0"/>
              <a:t>16</a:t>
            </a:fld>
            <a:endParaRPr lang="en-US" dirty="0"/>
          </a:p>
        </p:txBody>
      </p:sp>
    </p:spTree>
    <p:extLst>
      <p:ext uri="{BB962C8B-B14F-4D97-AF65-F5344CB8AC3E}">
        <p14:creationId xmlns:p14="http://schemas.microsoft.com/office/powerpoint/2010/main" val="31390758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Axioms of Probability</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2438400"/>
                <a:ext cx="8229600" cy="4038600"/>
              </a:xfrm>
            </p:spPr>
            <p:txBody>
              <a:bodyPr/>
              <a:lstStyle/>
              <a:p>
                <a:pPr marL="514350" indent="-514350">
                  <a:buAutoNum type="arabicParenBoth"/>
                </a:pPr>
                <a:r>
                  <a:rPr lang="en-US" dirty="0" smtClean="0"/>
                  <a:t>0 ≤ P(E)   (</a:t>
                </a:r>
                <a:r>
                  <a:rPr lang="en-US" dirty="0" err="1" smtClean="0"/>
                  <a:t>nonnegativity</a:t>
                </a:r>
                <a:r>
                  <a:rPr lang="en-US" dirty="0" smtClean="0"/>
                  <a:t>) </a:t>
                </a:r>
                <a:r>
                  <a:rPr lang="en-US" sz="2400" dirty="0" smtClean="0"/>
                  <a:t> </a:t>
                </a:r>
                <a:endParaRPr lang="en-US" dirty="0" smtClean="0"/>
              </a:p>
              <a:p>
                <a:pPr marL="514350" indent="-514350">
                  <a:buAutoNum type="arabicParenBoth"/>
                </a:pPr>
                <a:r>
                  <a:rPr lang="en-US" dirty="0" smtClean="0"/>
                  <a:t>P(S) = 1   (certainty)</a:t>
                </a:r>
              </a:p>
              <a:p>
                <a:pPr marL="514350" indent="-514350">
                  <a:buAutoNum type="arabicParenBoth"/>
                </a:pPr>
                <a:r>
                  <a:rPr lang="en-US" dirty="0" smtClean="0"/>
                  <a:t>For any pairwise disjoint (mutually exclusive) events E</a:t>
                </a:r>
                <a:r>
                  <a:rPr lang="en-US" baseline="-25000" dirty="0" smtClean="0"/>
                  <a:t>1</a:t>
                </a:r>
                <a:r>
                  <a:rPr lang="en-US" dirty="0" smtClean="0"/>
                  <a:t> , E</a:t>
                </a:r>
                <a:r>
                  <a:rPr lang="en-US" baseline="-25000" dirty="0" smtClean="0"/>
                  <a:t>2</a:t>
                </a:r>
                <a:r>
                  <a:rPr lang="en-US" dirty="0" smtClean="0"/>
                  <a:t> , E</a:t>
                </a:r>
                <a:r>
                  <a:rPr lang="en-US" baseline="-25000" dirty="0" smtClean="0"/>
                  <a:t>3</a:t>
                </a:r>
                <a:r>
                  <a:rPr lang="en-US" dirty="0" smtClean="0"/>
                  <a:t> ,…</a:t>
                </a:r>
              </a:p>
              <a:p>
                <a:pPr marL="400050" lvl="1" indent="0">
                  <a:buNone/>
                </a:pPr>
                <a14:m>
                  <m:oMathPara xmlns:m="http://schemas.openxmlformats.org/officeDocument/2006/math">
                    <m:oMathParaPr>
                      <m:jc m:val="centerGroup"/>
                    </m:oMathParaPr>
                    <m:oMath xmlns:m="http://schemas.openxmlformats.org/officeDocument/2006/math">
                      <m:r>
                        <a:rPr lang="en-US" b="0" i="1" smtClean="0">
                          <a:latin typeface="Cambria Math"/>
                        </a:rPr>
                        <m:t>𝑃</m:t>
                      </m:r>
                      <m:r>
                        <a:rPr lang="en-US" b="0" i="1" smtClean="0">
                          <a:latin typeface="Cambria Math"/>
                        </a:rPr>
                        <m:t>(</m:t>
                      </m:r>
                      <m:nary>
                        <m:naryPr>
                          <m:chr m:val="⋃"/>
                          <m:ctrlPr>
                            <a:rPr lang="en-US" b="0" i="1" smtClean="0">
                              <a:latin typeface="Cambria Math" panose="02040503050406030204" pitchFamily="18" charset="0"/>
                            </a:rPr>
                          </m:ctrlPr>
                        </m:naryPr>
                        <m:sub>
                          <m:r>
                            <m:rPr>
                              <m:brk m:alnAt="23"/>
                            </m:rPr>
                            <a:rPr lang="en-US" b="0" i="1" smtClean="0">
                              <a:latin typeface="Cambria Math"/>
                            </a:rPr>
                            <m:t>𝑖</m:t>
                          </m:r>
                          <m:r>
                            <a:rPr lang="en-US" b="0" i="1" smtClean="0">
                              <a:latin typeface="Cambria Math"/>
                            </a:rPr>
                            <m:t>=1</m:t>
                          </m:r>
                        </m:sub>
                        <m:sup>
                          <m:r>
                            <a:rPr lang="en-US" b="0" i="1" smtClean="0">
                              <a:latin typeface="Cambria Math"/>
                              <a:ea typeface="Cambria Math"/>
                            </a:rPr>
                            <m:t>∞</m:t>
                          </m:r>
                        </m:sup>
                        <m:e>
                          <m:sSub>
                            <m:sSubPr>
                              <m:ctrlPr>
                                <a:rPr lang="en-US" b="0" i="1" smtClean="0">
                                  <a:latin typeface="Cambria Math" panose="02040503050406030204" pitchFamily="18" charset="0"/>
                                </a:rPr>
                              </m:ctrlPr>
                            </m:sSubPr>
                            <m:e>
                              <m:r>
                                <a:rPr lang="en-US" b="0" i="1" smtClean="0">
                                  <a:latin typeface="Cambria Math"/>
                                </a:rPr>
                                <m:t>𝐸</m:t>
                              </m:r>
                            </m:e>
                            <m:sub>
                              <m:r>
                                <a:rPr lang="en-US" b="0" i="1" smtClean="0">
                                  <a:latin typeface="Cambria Math"/>
                                </a:rPr>
                                <m:t>𝑖</m:t>
                              </m:r>
                            </m:sub>
                          </m:sSub>
                          <m:r>
                            <a:rPr lang="en-US" b="0" i="1" smtClean="0">
                              <a:latin typeface="Cambria Math"/>
                            </a:rPr>
                            <m:t>)= </m:t>
                          </m:r>
                          <m:nary>
                            <m:naryPr>
                              <m:chr m:val="∑"/>
                              <m:ctrlPr>
                                <a:rPr lang="en-US" b="0" i="1" smtClean="0">
                                  <a:latin typeface="Cambria Math" panose="02040503050406030204" pitchFamily="18" charset="0"/>
                                </a:rPr>
                              </m:ctrlPr>
                            </m:naryPr>
                            <m:sub>
                              <m:r>
                                <m:rPr>
                                  <m:brk m:alnAt="23"/>
                                </m:rPr>
                                <a:rPr lang="en-US" b="0" i="1" smtClean="0">
                                  <a:latin typeface="Cambria Math"/>
                                </a:rPr>
                                <m:t>𝑖</m:t>
                              </m:r>
                              <m:r>
                                <a:rPr lang="en-US" b="0" i="1" smtClean="0">
                                  <a:latin typeface="Cambria Math"/>
                                </a:rPr>
                                <m:t>=1</m:t>
                              </m:r>
                            </m:sub>
                            <m:sup>
                              <m:r>
                                <a:rPr lang="en-US" b="0" i="1" smtClean="0">
                                  <a:latin typeface="Cambria Math"/>
                                  <a:ea typeface="Cambria Math"/>
                                </a:rPr>
                                <m:t>∞</m:t>
                              </m:r>
                            </m:sup>
                            <m:e>
                              <m:r>
                                <a:rPr lang="en-US" b="0" i="1" smtClean="0">
                                  <a:latin typeface="Cambria Math"/>
                                </a:rPr>
                                <m:t>𝑃</m:t>
                              </m:r>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𝐸</m:t>
                                  </m:r>
                                </m:e>
                                <m:sub>
                                  <m:r>
                                    <a:rPr lang="en-US" b="0" i="1" smtClean="0">
                                      <a:latin typeface="Cambria Math"/>
                                    </a:rPr>
                                    <m:t>𝑖</m:t>
                                  </m:r>
                                </m:sub>
                              </m:sSub>
                              <m:r>
                                <a:rPr lang="en-US" b="0" i="1" smtClean="0">
                                  <a:latin typeface="Cambria Math"/>
                                </a:rPr>
                                <m:t>)</m:t>
                              </m:r>
                            </m:e>
                          </m:nary>
                        </m:e>
                      </m:nary>
                    </m:oMath>
                  </m:oMathPara>
                </a14:m>
                <a:endParaRPr lang="en-US" dirty="0" smtClean="0"/>
              </a:p>
              <a:p>
                <a:pPr marL="400050" lvl="1" indent="0">
                  <a:buNone/>
                </a:pPr>
                <a:r>
                  <a:rPr lang="en-US" dirty="0"/>
                  <a:t> </a:t>
                </a:r>
                <a:r>
                  <a:rPr lang="en-US" dirty="0" smtClean="0"/>
                  <a:t> </a:t>
                </a:r>
                <a:r>
                  <a:rPr lang="en-US" sz="3200" dirty="0" smtClean="0"/>
                  <a:t>(countable </a:t>
                </a:r>
                <a:r>
                  <a:rPr lang="en-US" sz="3200" dirty="0" err="1" smtClean="0"/>
                  <a:t>additivity</a:t>
                </a:r>
                <a:r>
                  <a:rPr lang="en-US" sz="3200" dirty="0" smtClean="0"/>
                  <a:t>)</a:t>
                </a:r>
                <a:endParaRPr lang="en-US" sz="3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2438400"/>
                <a:ext cx="8229600" cy="4038600"/>
              </a:xfrm>
              <a:blipFill rotWithShape="1">
                <a:blip r:embed="rId3"/>
                <a:stretch>
                  <a:fillRect l="-1926" t="-2262" r="-1037" b="-3771"/>
                </a:stretch>
              </a:blipFill>
            </p:spPr>
            <p:txBody>
              <a:bodyPr/>
              <a:lstStyle/>
              <a:p>
                <a:r>
                  <a:rPr lang="en-US">
                    <a:noFill/>
                  </a:rPr>
                  <a:t> </a:t>
                </a:r>
              </a:p>
            </p:txBody>
          </p:sp>
        </mc:Fallback>
      </mc:AlternateContent>
      <p:sp>
        <p:nvSpPr>
          <p:cNvPr id="4" name="TextBox 3"/>
          <p:cNvSpPr txBox="1"/>
          <p:nvPr/>
        </p:nvSpPr>
        <p:spPr>
          <a:xfrm>
            <a:off x="5410200" y="2477869"/>
            <a:ext cx="3124200" cy="646331"/>
          </a:xfrm>
          <a:prstGeom prst="rect">
            <a:avLst/>
          </a:prstGeom>
          <a:solidFill>
            <a:srgbClr val="FFFF00"/>
          </a:solidFill>
        </p:spPr>
        <p:txBody>
          <a:bodyPr wrap="square" rtlCol="0">
            <a:spAutoFit/>
          </a:bodyPr>
          <a:lstStyle/>
          <a:p>
            <a:r>
              <a:rPr lang="en-US" dirty="0" smtClean="0"/>
              <a:t>Note: Do not need P(E) ≤ 1; this</a:t>
            </a:r>
          </a:p>
          <a:p>
            <a:r>
              <a:rPr lang="en-US" dirty="0" smtClean="0"/>
              <a:t>Follows from the axioms </a:t>
            </a:r>
            <a:endParaRPr lang="en-US" dirty="0"/>
          </a:p>
        </p:txBody>
      </p:sp>
      <p:sp>
        <p:nvSpPr>
          <p:cNvPr id="5" name="TextBox 4"/>
          <p:cNvSpPr txBox="1"/>
          <p:nvPr/>
        </p:nvSpPr>
        <p:spPr>
          <a:xfrm>
            <a:off x="228600" y="1371600"/>
            <a:ext cx="8763000" cy="1200329"/>
          </a:xfrm>
          <a:prstGeom prst="rect">
            <a:avLst/>
          </a:prstGeom>
          <a:noFill/>
        </p:spPr>
        <p:txBody>
          <a:bodyPr wrap="square" rtlCol="0">
            <a:spAutoFit/>
          </a:bodyPr>
          <a:lstStyle/>
          <a:p>
            <a:r>
              <a:rPr lang="en-US" sz="2400" dirty="0" smtClean="0"/>
              <a:t>Let S be a sample space for an experiment.  A function P defined on the events of S is called a </a:t>
            </a:r>
            <a:r>
              <a:rPr lang="en-US" sz="2400" i="1" dirty="0" smtClean="0"/>
              <a:t>probability measure</a:t>
            </a:r>
            <a:r>
              <a:rPr lang="en-US" sz="2400" dirty="0" smtClean="0"/>
              <a:t> if it satisfies the following 3 conditions:</a:t>
            </a:r>
            <a:endParaRPr lang="en-US" sz="2400" dirty="0"/>
          </a:p>
        </p:txBody>
      </p:sp>
      <p:sp>
        <p:nvSpPr>
          <p:cNvPr id="6" name="TextBox 5"/>
          <p:cNvSpPr txBox="1"/>
          <p:nvPr/>
        </p:nvSpPr>
        <p:spPr>
          <a:xfrm>
            <a:off x="6096000" y="4495800"/>
            <a:ext cx="2895600" cy="923330"/>
          </a:xfrm>
          <a:prstGeom prst="rect">
            <a:avLst/>
          </a:prstGeom>
          <a:noFill/>
        </p:spPr>
        <p:txBody>
          <a:bodyPr wrap="square" rtlCol="0">
            <a:spAutoFit/>
          </a:bodyPr>
          <a:lstStyle/>
          <a:p>
            <a:r>
              <a:rPr lang="en-US" dirty="0" smtClean="0"/>
              <a:t>More formally: We must speak of “</a:t>
            </a:r>
            <a:r>
              <a:rPr lang="en-US" dirty="0" smtClean="0">
                <a:latin typeface="Symbol" pitchFamily="18" charset="2"/>
              </a:rPr>
              <a:t>s</a:t>
            </a:r>
            <a:r>
              <a:rPr lang="en-US" dirty="0" smtClean="0"/>
              <a:t>-algebras” and require E to be “measurable”</a:t>
            </a:r>
            <a:endParaRPr lang="en-US" dirty="0"/>
          </a:p>
        </p:txBody>
      </p:sp>
      <p:sp>
        <p:nvSpPr>
          <p:cNvPr id="7" name="TextBox 6"/>
          <p:cNvSpPr txBox="1"/>
          <p:nvPr/>
        </p:nvSpPr>
        <p:spPr>
          <a:xfrm>
            <a:off x="6324600" y="5859672"/>
            <a:ext cx="2667000" cy="369332"/>
          </a:xfrm>
          <a:prstGeom prst="rect">
            <a:avLst/>
          </a:prstGeom>
          <a:noFill/>
        </p:spPr>
        <p:txBody>
          <a:bodyPr wrap="square" rtlCol="0">
            <a:spAutoFit/>
          </a:bodyPr>
          <a:lstStyle/>
          <a:p>
            <a:r>
              <a:rPr lang="en-US" dirty="0" smtClean="0">
                <a:hlinkClick r:id="rId4" tooltip="Andrey Kolmogorov"/>
              </a:rPr>
              <a:t>[</a:t>
            </a:r>
            <a:r>
              <a:rPr lang="en-US" dirty="0" err="1" smtClean="0">
                <a:hlinkClick r:id="rId4" tooltip="Andrey Kolmogorov"/>
              </a:rPr>
              <a:t>Andrey</a:t>
            </a:r>
            <a:r>
              <a:rPr lang="en-US" dirty="0" smtClean="0">
                <a:hlinkClick r:id="rId4" tooltip="Andrey Kolmogorov"/>
              </a:rPr>
              <a:t> Kolmogorov</a:t>
            </a:r>
            <a:r>
              <a:rPr lang="en-US" dirty="0" smtClean="0"/>
              <a:t>]</a:t>
            </a:r>
            <a:endParaRPr lang="en-US" dirty="0"/>
          </a:p>
        </p:txBody>
      </p:sp>
      <p:sp>
        <p:nvSpPr>
          <p:cNvPr id="8" name="TextBox 7"/>
          <p:cNvSpPr txBox="1"/>
          <p:nvPr/>
        </p:nvSpPr>
        <p:spPr>
          <a:xfrm>
            <a:off x="228600" y="6396335"/>
            <a:ext cx="8763000" cy="461665"/>
          </a:xfrm>
          <a:prstGeom prst="rect">
            <a:avLst/>
          </a:prstGeom>
          <a:noFill/>
        </p:spPr>
        <p:txBody>
          <a:bodyPr wrap="square" rtlCol="0">
            <a:spAutoFit/>
          </a:bodyPr>
          <a:lstStyle/>
          <a:p>
            <a:r>
              <a:rPr lang="en-US" sz="2400" dirty="0" smtClean="0"/>
              <a:t>We then say that P(E) is the “probability of event E”</a:t>
            </a:r>
            <a:endParaRPr lang="en-US" sz="2400" dirty="0"/>
          </a:p>
        </p:txBody>
      </p:sp>
      <p:sp>
        <p:nvSpPr>
          <p:cNvPr id="9" name="Slide Number Placeholder 8"/>
          <p:cNvSpPr>
            <a:spLocks noGrp="1"/>
          </p:cNvSpPr>
          <p:nvPr>
            <p:ph type="sldNum" sz="quarter" idx="12"/>
          </p:nvPr>
        </p:nvSpPr>
        <p:spPr/>
        <p:txBody>
          <a:bodyPr/>
          <a:lstStyle/>
          <a:p>
            <a:fld id="{0E4783E4-8C6B-4D7F-9E3C-EFBF72397067}" type="slidenum">
              <a:rPr lang="en-US" smtClean="0"/>
              <a:t>17</a:t>
            </a:fld>
            <a:endParaRPr lang="en-US" dirty="0"/>
          </a:p>
        </p:txBody>
      </p:sp>
    </p:spTree>
    <p:extLst>
      <p:ext uri="{BB962C8B-B14F-4D97-AF65-F5344CB8AC3E}">
        <p14:creationId xmlns:p14="http://schemas.microsoft.com/office/powerpoint/2010/main" val="378920601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Fact (1) [Prop 4.1]</a:t>
            </a:r>
            <a:endParaRPr lang="en-US" dirty="0"/>
          </a:p>
        </p:txBody>
      </p:sp>
      <p:sp>
        <p:nvSpPr>
          <p:cNvPr id="3" name="Content Placeholder 2"/>
          <p:cNvSpPr>
            <a:spLocks noGrp="1"/>
          </p:cNvSpPr>
          <p:nvPr>
            <p:ph idx="1"/>
          </p:nvPr>
        </p:nvSpPr>
        <p:spPr/>
        <p:txBody>
          <a:bodyPr>
            <a:normAutofit lnSpcReduction="10000"/>
          </a:bodyPr>
          <a:lstStyle/>
          <a:p>
            <a:endParaRPr lang="en-US" dirty="0" smtClean="0"/>
          </a:p>
          <a:p>
            <a:r>
              <a:rPr lang="en-US" dirty="0" smtClean="0"/>
              <a:t>P(</a:t>
            </a:r>
            <a:r>
              <a:rPr lang="en-US" dirty="0" err="1" smtClean="0"/>
              <a:t>E</a:t>
            </a:r>
            <a:r>
              <a:rPr lang="en-US" baseline="30000" dirty="0" err="1" smtClean="0"/>
              <a:t>c</a:t>
            </a:r>
            <a:r>
              <a:rPr lang="en-US" dirty="0" smtClean="0"/>
              <a:t>) = 1 - P(E)</a:t>
            </a:r>
          </a:p>
          <a:p>
            <a:r>
              <a:rPr lang="en-US" dirty="0" smtClean="0"/>
              <a:t>Why?</a:t>
            </a:r>
          </a:p>
          <a:p>
            <a:pPr marL="457200" lvl="1" indent="0">
              <a:buNone/>
            </a:pPr>
            <a:r>
              <a:rPr lang="en-US" dirty="0" smtClean="0"/>
              <a:t>1 = P(S) = P(E </a:t>
            </a:r>
            <a:r>
              <a:rPr lang="en-US" dirty="0" smtClean="0">
                <a:sym typeface="Symbol"/>
              </a:rPr>
              <a:t> </a:t>
            </a:r>
            <a:r>
              <a:rPr lang="en-US" dirty="0" err="1" smtClean="0">
                <a:sym typeface="Symbol"/>
              </a:rPr>
              <a:t>E</a:t>
            </a:r>
            <a:r>
              <a:rPr lang="en-US" baseline="30000" dirty="0" err="1" smtClean="0">
                <a:sym typeface="Symbol"/>
              </a:rPr>
              <a:t>c</a:t>
            </a:r>
            <a:r>
              <a:rPr lang="en-US" dirty="0" smtClean="0">
                <a:sym typeface="Symbol"/>
              </a:rPr>
              <a:t> ) = P(E) + P(</a:t>
            </a:r>
            <a:r>
              <a:rPr lang="en-US" dirty="0" err="1" smtClean="0">
                <a:sym typeface="Symbol"/>
              </a:rPr>
              <a:t>E</a:t>
            </a:r>
            <a:r>
              <a:rPr lang="en-US" baseline="30000" dirty="0" err="1" smtClean="0">
                <a:sym typeface="Symbol"/>
              </a:rPr>
              <a:t>c</a:t>
            </a:r>
            <a:r>
              <a:rPr lang="en-US" dirty="0" smtClean="0">
                <a:sym typeface="Symbol"/>
              </a:rPr>
              <a:t>)</a:t>
            </a:r>
          </a:p>
          <a:p>
            <a:endParaRPr lang="en-US" dirty="0">
              <a:sym typeface="Symbol"/>
            </a:endParaRPr>
          </a:p>
          <a:p>
            <a:r>
              <a:rPr lang="en-US" dirty="0" smtClean="0">
                <a:sym typeface="Symbol"/>
              </a:rPr>
              <a:t>Ex: Toss coin 5 times.  </a:t>
            </a:r>
          </a:p>
          <a:p>
            <a:pPr lvl="1"/>
            <a:r>
              <a:rPr lang="en-US" dirty="0" smtClean="0">
                <a:sym typeface="Symbol"/>
              </a:rPr>
              <a:t>S = {HHHHH,HHHHT,…,TTTTT}</a:t>
            </a:r>
          </a:p>
          <a:p>
            <a:pPr lvl="1"/>
            <a:r>
              <a:rPr lang="en-US" dirty="0" smtClean="0">
                <a:sym typeface="Symbol"/>
              </a:rPr>
              <a:t>P(“at least 1 head in 5 tosses”) = 1-P(“no head in 5 tosses”) = 1-P({TTTTT}) = 1-(1/32) = 31/32</a:t>
            </a:r>
            <a:endParaRPr lang="en-US" dirty="0"/>
          </a:p>
        </p:txBody>
      </p:sp>
      <p:sp>
        <p:nvSpPr>
          <p:cNvPr id="4" name="TextBox 3"/>
          <p:cNvSpPr txBox="1"/>
          <p:nvPr/>
        </p:nvSpPr>
        <p:spPr>
          <a:xfrm>
            <a:off x="914400" y="3886200"/>
            <a:ext cx="1219200" cy="369332"/>
          </a:xfrm>
          <a:prstGeom prst="rect">
            <a:avLst/>
          </a:prstGeom>
          <a:noFill/>
        </p:spPr>
        <p:txBody>
          <a:bodyPr wrap="square" rtlCol="0">
            <a:spAutoFit/>
          </a:bodyPr>
          <a:lstStyle/>
          <a:p>
            <a:r>
              <a:rPr lang="en-US" dirty="0" smtClean="0"/>
              <a:t>Axiom(2)</a:t>
            </a:r>
            <a:endParaRPr lang="en-US" dirty="0"/>
          </a:p>
        </p:txBody>
      </p:sp>
      <p:sp>
        <p:nvSpPr>
          <p:cNvPr id="5" name="TextBox 4"/>
          <p:cNvSpPr txBox="1"/>
          <p:nvPr/>
        </p:nvSpPr>
        <p:spPr>
          <a:xfrm>
            <a:off x="3429000" y="3886200"/>
            <a:ext cx="1219200" cy="369332"/>
          </a:xfrm>
          <a:prstGeom prst="rect">
            <a:avLst/>
          </a:prstGeom>
          <a:noFill/>
        </p:spPr>
        <p:txBody>
          <a:bodyPr wrap="square" rtlCol="0">
            <a:spAutoFit/>
          </a:bodyPr>
          <a:lstStyle/>
          <a:p>
            <a:r>
              <a:rPr lang="en-US" dirty="0" smtClean="0"/>
              <a:t>Axiom(3)</a:t>
            </a:r>
            <a:endParaRPr lang="en-US" dirty="0"/>
          </a:p>
        </p:txBody>
      </p:sp>
    </p:spTree>
    <p:extLst>
      <p:ext uri="{BB962C8B-B14F-4D97-AF65-F5344CB8AC3E}">
        <p14:creationId xmlns:p14="http://schemas.microsoft.com/office/powerpoint/2010/main" val="42099373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Fact (2) [Prop 4.2]</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endParaRPr lang="en-US" dirty="0" smtClean="0"/>
              </a:p>
              <a:p>
                <a:r>
                  <a:rPr lang="en-US" dirty="0" smtClean="0"/>
                  <a:t>If </a:t>
                </a:r>
                <a14:m>
                  <m:oMath xmlns:m="http://schemas.openxmlformats.org/officeDocument/2006/math">
                    <m:r>
                      <a:rPr lang="en-US" b="0" i="1" smtClean="0">
                        <a:latin typeface="Cambria Math"/>
                      </a:rPr>
                      <m:t>𝐸</m:t>
                    </m:r>
                    <m:r>
                      <a:rPr lang="en-US" b="0" i="1" smtClean="0">
                        <a:latin typeface="Cambria Math"/>
                        <a:ea typeface="Cambria Math"/>
                      </a:rPr>
                      <m:t>⊆</m:t>
                    </m:r>
                    <m:r>
                      <a:rPr lang="en-US" b="0" i="1" smtClean="0">
                        <a:latin typeface="Cambria Math"/>
                        <a:ea typeface="Cambria Math"/>
                      </a:rPr>
                      <m:t>𝐹</m:t>
                    </m:r>
                  </m:oMath>
                </a14:m>
                <a:r>
                  <a:rPr lang="en-US" dirty="0" smtClean="0"/>
                  <a:t> then </a:t>
                </a:r>
                <a14:m>
                  <m:oMath xmlns:m="http://schemas.openxmlformats.org/officeDocument/2006/math">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𝐸</m:t>
                        </m:r>
                      </m:e>
                    </m:d>
                    <m:r>
                      <a:rPr lang="en-US" b="0" i="1" smtClean="0">
                        <a:latin typeface="Cambria Math"/>
                        <a:ea typeface="Cambria Math"/>
                      </a:rPr>
                      <m:t>≤</m:t>
                    </m:r>
                    <m:r>
                      <a:rPr lang="en-US" b="0" i="1" smtClean="0">
                        <a:latin typeface="Cambria Math"/>
                        <a:ea typeface="Cambria Math"/>
                      </a:rPr>
                      <m:t>𝑃</m:t>
                    </m:r>
                    <m:r>
                      <a:rPr lang="en-US" b="0" i="1" smtClean="0">
                        <a:latin typeface="Cambria Math"/>
                        <a:ea typeface="Cambria Math"/>
                      </a:rPr>
                      <m:t>(</m:t>
                    </m:r>
                    <m:r>
                      <a:rPr lang="en-US" b="0" i="1" smtClean="0">
                        <a:latin typeface="Cambria Math"/>
                        <a:ea typeface="Cambria Math"/>
                      </a:rPr>
                      <m:t>𝐹</m:t>
                    </m:r>
                    <m:r>
                      <a:rPr lang="en-US" b="0" i="1" smtClean="0">
                        <a:latin typeface="Cambria Math"/>
                        <a:ea typeface="Cambria Math"/>
                      </a:rPr>
                      <m:t>)</m:t>
                    </m:r>
                  </m:oMath>
                </a14:m>
                <a:r>
                  <a:rPr lang="en-US" dirty="0" smtClean="0"/>
                  <a:t> </a:t>
                </a:r>
              </a:p>
              <a:p>
                <a:r>
                  <a:rPr lang="en-US" dirty="0" smtClean="0"/>
                  <a:t>Why?</a:t>
                </a:r>
              </a:p>
              <a:p>
                <a:r>
                  <a:rPr lang="en-US" dirty="0" smtClean="0"/>
                  <a:t>Corollary:  P(E) ≤ 1    (since E is contained in 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1630"/>
                </a:stretch>
              </a:blipFill>
            </p:spPr>
            <p:txBody>
              <a:bodyPr/>
              <a:lstStyle/>
              <a:p>
                <a:r>
                  <a:rPr lang="en-US">
                    <a:noFill/>
                  </a:rPr>
                  <a:t> </a:t>
                </a:r>
              </a:p>
            </p:txBody>
          </p:sp>
        </mc:Fallback>
      </mc:AlternateContent>
    </p:spTree>
    <p:extLst>
      <p:ext uri="{BB962C8B-B14F-4D97-AF65-F5344CB8AC3E}">
        <p14:creationId xmlns:p14="http://schemas.microsoft.com/office/powerpoint/2010/main" val="325691115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Fact (3) [Prop 4.3]</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endParaRPr lang="en-US" dirty="0" smtClean="0"/>
              </a:p>
              <a:p>
                <a14:m>
                  <m:oMath xmlns:m="http://schemas.openxmlformats.org/officeDocument/2006/math">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𝐸</m:t>
                        </m:r>
                        <m:r>
                          <a:rPr lang="en-US" b="0" i="1" smtClean="0">
                            <a:latin typeface="Cambria Math"/>
                            <a:ea typeface="Cambria Math"/>
                          </a:rPr>
                          <m:t>∪</m:t>
                        </m:r>
                        <m:r>
                          <a:rPr lang="en-US" b="0" i="1" smtClean="0">
                            <a:latin typeface="Cambria Math"/>
                            <a:ea typeface="Cambria Math"/>
                          </a:rPr>
                          <m:t>𝐹</m:t>
                        </m:r>
                      </m:e>
                    </m:d>
                    <m:r>
                      <a:rPr lang="en-US" b="0" i="1" smtClean="0">
                        <a:latin typeface="Cambria Math"/>
                        <a:ea typeface="Cambria Math"/>
                      </a:rPr>
                      <m:t>=</m:t>
                    </m:r>
                    <m:r>
                      <a:rPr lang="en-US" b="0" i="1" smtClean="0">
                        <a:latin typeface="Cambria Math"/>
                        <a:ea typeface="Cambria Math"/>
                      </a:rPr>
                      <m:t>𝑃</m:t>
                    </m:r>
                    <m:d>
                      <m:dPr>
                        <m:ctrlPr>
                          <a:rPr lang="en-US" b="0" i="1" smtClean="0">
                            <a:latin typeface="Cambria Math" panose="02040503050406030204" pitchFamily="18" charset="0"/>
                            <a:ea typeface="Cambria Math"/>
                          </a:rPr>
                        </m:ctrlPr>
                      </m:dPr>
                      <m:e>
                        <m:r>
                          <a:rPr lang="en-US" b="0" i="1" smtClean="0">
                            <a:latin typeface="Cambria Math"/>
                            <a:ea typeface="Cambria Math"/>
                          </a:rPr>
                          <m:t>𝐸</m:t>
                        </m:r>
                      </m:e>
                    </m:d>
                    <m:r>
                      <a:rPr lang="en-US" b="0" i="1" smtClean="0">
                        <a:latin typeface="Cambria Math"/>
                        <a:ea typeface="Cambria Math"/>
                      </a:rPr>
                      <m:t>+</m:t>
                    </m:r>
                    <m:r>
                      <a:rPr lang="en-US" b="0" i="1" smtClean="0">
                        <a:latin typeface="Cambria Math"/>
                        <a:ea typeface="Cambria Math"/>
                      </a:rPr>
                      <m:t>𝑃</m:t>
                    </m:r>
                    <m:d>
                      <m:dPr>
                        <m:ctrlPr>
                          <a:rPr lang="en-US" b="0" i="1" smtClean="0">
                            <a:latin typeface="Cambria Math" panose="02040503050406030204" pitchFamily="18" charset="0"/>
                            <a:ea typeface="Cambria Math"/>
                          </a:rPr>
                        </m:ctrlPr>
                      </m:dPr>
                      <m:e>
                        <m:r>
                          <a:rPr lang="en-US" b="0" i="1" smtClean="0">
                            <a:latin typeface="Cambria Math"/>
                            <a:ea typeface="Cambria Math"/>
                          </a:rPr>
                          <m:t>𝐹</m:t>
                        </m:r>
                      </m:e>
                    </m:d>
                    <m:r>
                      <a:rPr lang="en-US" b="0" i="1" smtClean="0">
                        <a:latin typeface="Cambria Math"/>
                        <a:ea typeface="Cambria Math"/>
                      </a:rPr>
                      <m:t>−</m:t>
                    </m:r>
                    <m:r>
                      <a:rPr lang="en-US" b="0" i="1" smtClean="0">
                        <a:latin typeface="Cambria Math"/>
                        <a:ea typeface="Cambria Math"/>
                      </a:rPr>
                      <m:t>𝑃</m:t>
                    </m:r>
                    <m:r>
                      <a:rPr lang="en-US" b="0" i="1" smtClean="0">
                        <a:latin typeface="Cambria Math"/>
                        <a:ea typeface="Cambria Math"/>
                      </a:rPr>
                      <m:t>(</m:t>
                    </m:r>
                    <m:r>
                      <a:rPr lang="en-US" b="0" i="1" smtClean="0">
                        <a:latin typeface="Cambria Math"/>
                        <a:ea typeface="Cambria Math"/>
                      </a:rPr>
                      <m:t>𝐸</m:t>
                    </m:r>
                    <m:r>
                      <a:rPr lang="en-US" b="0" i="1" smtClean="0">
                        <a:latin typeface="Cambria Math"/>
                        <a:ea typeface="Cambria Math"/>
                      </a:rPr>
                      <m:t>∩</m:t>
                    </m:r>
                    <m:r>
                      <a:rPr lang="en-US" b="0" i="1" smtClean="0">
                        <a:latin typeface="Cambria Math"/>
                        <a:ea typeface="Cambria Math"/>
                      </a:rPr>
                      <m:t>𝐹</m:t>
                    </m:r>
                    <m:r>
                      <a:rPr lang="en-US" b="0" i="1" smtClean="0">
                        <a:latin typeface="Cambria Math"/>
                        <a:ea typeface="Cambria Math"/>
                      </a:rPr>
                      <m:t>)</m:t>
                    </m:r>
                  </m:oMath>
                </a14:m>
                <a:endParaRPr lang="en-US" dirty="0" smtClean="0"/>
              </a:p>
              <a:p>
                <a:r>
                  <a:rPr lang="en-US" dirty="0" smtClean="0"/>
                  <a:t>Why?</a:t>
                </a:r>
              </a:p>
              <a:p>
                <a:r>
                  <a:rPr lang="en-US" dirty="0" smtClean="0"/>
                  <a:t>Corollary: </a:t>
                </a:r>
                <a14:m>
                  <m:oMath xmlns:m="http://schemas.openxmlformats.org/officeDocument/2006/math">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𝐸</m:t>
                        </m:r>
                        <m:r>
                          <a:rPr lang="en-US" b="0" i="1" smtClean="0">
                            <a:latin typeface="Cambria Math"/>
                            <a:ea typeface="Cambria Math"/>
                          </a:rPr>
                          <m:t>∪</m:t>
                        </m:r>
                        <m:r>
                          <a:rPr lang="en-US" b="0" i="1" smtClean="0">
                            <a:latin typeface="Cambria Math"/>
                            <a:ea typeface="Cambria Math"/>
                          </a:rPr>
                          <m:t>𝐹</m:t>
                        </m:r>
                      </m:e>
                    </m:d>
                    <m:r>
                      <a:rPr lang="en-US" b="0" i="1" smtClean="0">
                        <a:latin typeface="Cambria Math"/>
                        <a:ea typeface="Cambria Math"/>
                      </a:rPr>
                      <m:t>≤</m:t>
                    </m:r>
                    <m:r>
                      <a:rPr lang="en-US" b="0" i="1" smtClean="0">
                        <a:latin typeface="Cambria Math"/>
                        <a:ea typeface="Cambria Math"/>
                      </a:rPr>
                      <m:t>𝑃</m:t>
                    </m:r>
                    <m:d>
                      <m:dPr>
                        <m:ctrlPr>
                          <a:rPr lang="en-US" b="0" i="1" smtClean="0">
                            <a:latin typeface="Cambria Math" panose="02040503050406030204" pitchFamily="18" charset="0"/>
                            <a:ea typeface="Cambria Math"/>
                          </a:rPr>
                        </m:ctrlPr>
                      </m:dPr>
                      <m:e>
                        <m:r>
                          <a:rPr lang="en-US" b="0" i="1" smtClean="0">
                            <a:latin typeface="Cambria Math"/>
                            <a:ea typeface="Cambria Math"/>
                          </a:rPr>
                          <m:t>𝐸</m:t>
                        </m:r>
                      </m:e>
                    </m:d>
                    <m:r>
                      <a:rPr lang="en-US" b="0" i="1" smtClean="0">
                        <a:latin typeface="Cambria Math"/>
                        <a:ea typeface="Cambria Math"/>
                      </a:rPr>
                      <m:t>+</m:t>
                    </m:r>
                    <m:r>
                      <a:rPr lang="en-US" b="0" i="1" smtClean="0">
                        <a:latin typeface="Cambria Math"/>
                        <a:ea typeface="Cambria Math"/>
                      </a:rPr>
                      <m:t>𝑃</m:t>
                    </m:r>
                    <m:r>
                      <a:rPr lang="en-US" b="0" i="1" smtClean="0">
                        <a:latin typeface="Cambria Math"/>
                        <a:ea typeface="Cambria Math"/>
                      </a:rPr>
                      <m:t>(</m:t>
                    </m:r>
                    <m:r>
                      <a:rPr lang="en-US" b="0" i="1" smtClean="0">
                        <a:latin typeface="Cambria Math"/>
                        <a:ea typeface="Cambria Math"/>
                      </a:rPr>
                      <m:t>𝐹</m:t>
                    </m:r>
                    <m:r>
                      <a:rPr lang="en-US" b="0" i="1" smtClean="0">
                        <a:latin typeface="Cambria Math"/>
                        <a:ea typeface="Cambria Math"/>
                      </a:rPr>
                      <m:t>)</m:t>
                    </m:r>
                  </m:oMath>
                </a14:m>
                <a:endParaRPr lang="en-US" dirty="0" smtClean="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1630"/>
                </a:stretch>
              </a:blipFill>
            </p:spPr>
            <p:txBody>
              <a:bodyPr/>
              <a:lstStyle/>
              <a:p>
                <a:r>
                  <a:rPr lang="en-US">
                    <a:noFill/>
                  </a:rPr>
                  <a:t> </a:t>
                </a:r>
              </a:p>
            </p:txBody>
          </p:sp>
        </mc:Fallback>
      </mc:AlternateContent>
    </p:spTree>
    <p:extLst>
      <p:ext uri="{BB962C8B-B14F-4D97-AF65-F5344CB8AC3E}">
        <p14:creationId xmlns:p14="http://schemas.microsoft.com/office/powerpoint/2010/main" val="165177687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Fact (4) [Prop 4.4]</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1970" y="1371600"/>
            <a:ext cx="9112030" cy="2743200"/>
          </a:xfrm>
        </p:spPr>
      </p:pic>
    </p:spTree>
    <p:extLst>
      <p:ext uri="{BB962C8B-B14F-4D97-AF65-F5344CB8AC3E}">
        <p14:creationId xmlns:p14="http://schemas.microsoft.com/office/powerpoint/2010/main" val="157725508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Fact (5)</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14:m>
                  <m:oMath xmlns:m="http://schemas.openxmlformats.org/officeDocument/2006/math">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ea typeface="Cambria Math"/>
                          </a:rPr>
                          <m:t>∅</m:t>
                        </m:r>
                      </m:e>
                    </m:d>
                    <m:r>
                      <a:rPr lang="en-US" b="0" i="1" smtClean="0">
                        <a:latin typeface="Cambria Math"/>
                        <a:ea typeface="Cambria Math"/>
                      </a:rPr>
                      <m:t>=0</m:t>
                    </m:r>
                  </m:oMath>
                </a14:m>
                <a:endParaRPr lang="en-US" b="0" dirty="0" smtClean="0">
                  <a:ea typeface="Cambria Math"/>
                </a:endParaRPr>
              </a:p>
              <a:p>
                <a:r>
                  <a:rPr lang="en-US" dirty="0" smtClean="0"/>
                  <a:t>Why?</a:t>
                </a:r>
              </a:p>
              <a:p>
                <a:pPr marL="457200" lvl="1" indent="0">
                  <a:buNone/>
                </a:pPr>
                <a14:m>
                  <m:oMathPara xmlns:m="http://schemas.openxmlformats.org/officeDocument/2006/math">
                    <m:oMathParaPr>
                      <m:jc m:val="centerGroup"/>
                    </m:oMathParaPr>
                    <m:oMath xmlns:m="http://schemas.openxmlformats.org/officeDocument/2006/math">
                      <m:r>
                        <a:rPr lang="en-US" b="0" i="1" smtClean="0">
                          <a:latin typeface="Cambria Math"/>
                        </a:rPr>
                        <m:t>1=</m:t>
                      </m:r>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𝑆</m:t>
                          </m:r>
                        </m:e>
                      </m:d>
                      <m:r>
                        <a:rPr lang="en-US" b="0" i="1" smtClean="0">
                          <a:latin typeface="Cambria Math"/>
                        </a:rPr>
                        <m:t>=</m:t>
                      </m:r>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𝑆</m:t>
                          </m:r>
                          <m:r>
                            <a:rPr lang="en-US" b="0" i="1" smtClean="0">
                              <a:latin typeface="Cambria Math"/>
                              <a:ea typeface="Cambria Math"/>
                            </a:rPr>
                            <m:t>∪∅</m:t>
                          </m:r>
                        </m:e>
                      </m:d>
                      <m:r>
                        <a:rPr lang="en-US" b="0" i="1" smtClean="0">
                          <a:latin typeface="Cambria Math"/>
                          <a:ea typeface="Cambria Math"/>
                        </a:rPr>
                        <m:t>=</m:t>
                      </m:r>
                      <m:r>
                        <a:rPr lang="en-US" b="0" i="1" smtClean="0">
                          <a:latin typeface="Cambria Math"/>
                          <a:ea typeface="Cambria Math"/>
                        </a:rPr>
                        <m:t>𝑃</m:t>
                      </m:r>
                      <m:d>
                        <m:dPr>
                          <m:ctrlPr>
                            <a:rPr lang="en-US" b="0" i="1" smtClean="0">
                              <a:latin typeface="Cambria Math" panose="02040503050406030204" pitchFamily="18" charset="0"/>
                              <a:ea typeface="Cambria Math"/>
                            </a:rPr>
                          </m:ctrlPr>
                        </m:dPr>
                        <m:e>
                          <m:r>
                            <a:rPr lang="en-US" b="0" i="1" smtClean="0">
                              <a:latin typeface="Cambria Math"/>
                              <a:ea typeface="Cambria Math"/>
                            </a:rPr>
                            <m:t>𝑆</m:t>
                          </m:r>
                        </m:e>
                      </m:d>
                      <m:r>
                        <a:rPr lang="en-US" b="0" i="1" smtClean="0">
                          <a:latin typeface="Cambria Math"/>
                          <a:ea typeface="Cambria Math"/>
                        </a:rPr>
                        <m:t>+</m:t>
                      </m:r>
                      <m:r>
                        <a:rPr lang="en-US" b="0" i="1" smtClean="0">
                          <a:latin typeface="Cambria Math"/>
                          <a:ea typeface="Cambria Math"/>
                        </a:rPr>
                        <m:t>𝑃</m:t>
                      </m:r>
                      <m:d>
                        <m:dPr>
                          <m:ctrlPr>
                            <a:rPr lang="en-US" b="0" i="1" smtClean="0">
                              <a:latin typeface="Cambria Math" panose="02040503050406030204" pitchFamily="18" charset="0"/>
                              <a:ea typeface="Cambria Math"/>
                            </a:rPr>
                          </m:ctrlPr>
                        </m:dPr>
                        <m:e>
                          <m:r>
                            <a:rPr lang="en-US" b="0" i="1" smtClean="0">
                              <a:latin typeface="Cambria Math"/>
                              <a:ea typeface="Cambria Math"/>
                            </a:rPr>
                            <m:t>∅</m:t>
                          </m:r>
                        </m:e>
                      </m:d>
                      <m:r>
                        <a:rPr lang="en-US" b="0" i="1" smtClean="0">
                          <a:latin typeface="Cambria Math"/>
                          <a:ea typeface="Cambria Math"/>
                        </a:rPr>
                        <m:t>=1+</m:t>
                      </m:r>
                      <m:r>
                        <a:rPr lang="en-US" b="0" i="1" smtClean="0">
                          <a:latin typeface="Cambria Math"/>
                          <a:ea typeface="Cambria Math"/>
                        </a:rPr>
                        <m:t>𝑃</m:t>
                      </m:r>
                      <m:r>
                        <a:rPr lang="en-US" b="0" i="1" smtClean="0">
                          <a:latin typeface="Cambria Math"/>
                          <a:ea typeface="Cambria Math"/>
                        </a:rPr>
                        <m:t>(∅)</m:t>
                      </m:r>
                    </m:oMath>
                  </m:oMathPara>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1630"/>
                </a:stretch>
              </a:blipFill>
            </p:spPr>
            <p:txBody>
              <a:bodyPr/>
              <a:lstStyle/>
              <a:p>
                <a:r>
                  <a:rPr lang="en-US">
                    <a:noFill/>
                  </a:rPr>
                  <a:t> </a:t>
                </a:r>
              </a:p>
            </p:txBody>
          </p:sp>
        </mc:Fallback>
      </mc:AlternateContent>
    </p:spTree>
    <p:extLst>
      <p:ext uri="{BB962C8B-B14F-4D97-AF65-F5344CB8AC3E}">
        <p14:creationId xmlns:p14="http://schemas.microsoft.com/office/powerpoint/2010/main" val="83564406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Fact (6)</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14:m>
                  <m:oMath xmlns:m="http://schemas.openxmlformats.org/officeDocument/2006/math">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𝐸</m:t>
                        </m:r>
                      </m:e>
                    </m:d>
                    <m:r>
                      <a:rPr lang="en-US" b="0" i="1" smtClean="0">
                        <a:latin typeface="Cambria Math"/>
                      </a:rPr>
                      <m:t>=</m:t>
                    </m:r>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𝐸</m:t>
                        </m:r>
                        <m:r>
                          <a:rPr lang="en-US" b="0" i="1" smtClean="0">
                            <a:latin typeface="Cambria Math"/>
                            <a:ea typeface="Cambria Math"/>
                          </a:rPr>
                          <m:t>∩</m:t>
                        </m:r>
                        <m:r>
                          <a:rPr lang="en-US" b="0" i="1" smtClean="0">
                            <a:latin typeface="Cambria Math"/>
                            <a:ea typeface="Cambria Math"/>
                          </a:rPr>
                          <m:t>𝐹</m:t>
                        </m:r>
                      </m:e>
                    </m:d>
                    <m:r>
                      <a:rPr lang="en-US" b="0" i="1" smtClean="0">
                        <a:latin typeface="Cambria Math"/>
                        <a:ea typeface="Cambria Math"/>
                      </a:rPr>
                      <m:t>+</m:t>
                    </m:r>
                    <m:r>
                      <a:rPr lang="en-US" b="0" i="1" smtClean="0">
                        <a:latin typeface="Cambria Math"/>
                        <a:ea typeface="Cambria Math"/>
                      </a:rPr>
                      <m:t>𝑃</m:t>
                    </m:r>
                    <m:d>
                      <m:dPr>
                        <m:ctrlPr>
                          <a:rPr lang="en-US" b="0" i="1" smtClean="0">
                            <a:latin typeface="Cambria Math" panose="02040503050406030204" pitchFamily="18" charset="0"/>
                            <a:ea typeface="Cambria Math"/>
                          </a:rPr>
                        </m:ctrlPr>
                      </m:dPr>
                      <m:e>
                        <m:r>
                          <a:rPr lang="en-US" b="0" i="1" smtClean="0">
                            <a:latin typeface="Cambria Math"/>
                            <a:ea typeface="Cambria Math"/>
                          </a:rPr>
                          <m:t>𝐸</m:t>
                        </m:r>
                        <m:r>
                          <a:rPr lang="en-US" b="0" i="1" smtClean="0">
                            <a:latin typeface="Cambria Math"/>
                            <a:ea typeface="Cambria Math"/>
                          </a:rPr>
                          <m:t> ∩</m:t>
                        </m:r>
                        <m:sSup>
                          <m:sSupPr>
                            <m:ctrlPr>
                              <a:rPr lang="en-US" b="0" i="1" smtClean="0">
                                <a:latin typeface="Cambria Math" panose="02040503050406030204" pitchFamily="18" charset="0"/>
                                <a:ea typeface="Cambria Math"/>
                              </a:rPr>
                            </m:ctrlPr>
                          </m:sSupPr>
                          <m:e>
                            <m:r>
                              <a:rPr lang="en-US" b="0" i="1" smtClean="0">
                                <a:latin typeface="Cambria Math"/>
                                <a:ea typeface="Cambria Math"/>
                              </a:rPr>
                              <m:t>𝐹</m:t>
                            </m:r>
                          </m:e>
                          <m:sup>
                            <m:r>
                              <a:rPr lang="en-US" b="0" i="1" smtClean="0">
                                <a:latin typeface="Cambria Math"/>
                                <a:ea typeface="Cambria Math"/>
                              </a:rPr>
                              <m:t>𝑐</m:t>
                            </m:r>
                          </m:sup>
                        </m:sSup>
                      </m:e>
                    </m:d>
                  </m:oMath>
                </a14:m>
                <a:endParaRPr lang="en-US" b="0" dirty="0" smtClean="0">
                  <a:ea typeface="Cambria Math"/>
                </a:endParaRPr>
              </a:p>
              <a:p>
                <a:r>
                  <a:rPr lang="en-US" dirty="0" smtClean="0"/>
                  <a:t>More generally, for any partition of S into sets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a:rPr>
                          <m:t>𝐹</m:t>
                        </m:r>
                      </m:e>
                      <m:sub>
                        <m:r>
                          <a:rPr lang="en-US" b="0" i="1" smtClean="0">
                            <a:latin typeface="Cambria Math"/>
                          </a:rPr>
                          <m:t>1</m:t>
                        </m:r>
                      </m:sub>
                    </m:sSub>
                    <m:r>
                      <a:rPr lang="en-US" b="0" i="1" smtClean="0">
                        <a:latin typeface="Cambria Math"/>
                      </a:rPr>
                      <m:t>, </m:t>
                    </m:r>
                    <m:sSub>
                      <m:sSubPr>
                        <m:ctrlPr>
                          <a:rPr lang="en-US" b="0" i="1" smtClean="0">
                            <a:latin typeface="Cambria Math" panose="02040503050406030204" pitchFamily="18" charset="0"/>
                          </a:rPr>
                        </m:ctrlPr>
                      </m:sSubPr>
                      <m:e>
                        <m:r>
                          <a:rPr lang="en-US" b="0" i="1" smtClean="0">
                            <a:latin typeface="Cambria Math"/>
                          </a:rPr>
                          <m:t>𝐹</m:t>
                        </m:r>
                      </m:e>
                      <m:sub>
                        <m:r>
                          <a:rPr lang="en-US" b="0" i="1" smtClean="0">
                            <a:latin typeface="Cambria Math"/>
                          </a:rPr>
                          <m:t>2</m:t>
                        </m:r>
                      </m:sub>
                    </m:sSub>
                    <m:r>
                      <a:rPr lang="en-US" b="0" i="1" smtClean="0">
                        <a:latin typeface="Cambria Math"/>
                      </a:rPr>
                      <m:t>, </m:t>
                    </m:r>
                    <m:sSub>
                      <m:sSubPr>
                        <m:ctrlPr>
                          <a:rPr lang="en-US" b="0" i="1" smtClean="0">
                            <a:latin typeface="Cambria Math" panose="02040503050406030204" pitchFamily="18" charset="0"/>
                          </a:rPr>
                        </m:ctrlPr>
                      </m:sSubPr>
                      <m:e>
                        <m:r>
                          <a:rPr lang="en-US" b="0" i="1" smtClean="0">
                            <a:latin typeface="Cambria Math"/>
                          </a:rPr>
                          <m:t>𝐹</m:t>
                        </m:r>
                      </m:e>
                      <m:sub>
                        <m:r>
                          <a:rPr lang="en-US" b="0" i="1" smtClean="0">
                            <a:latin typeface="Cambria Math"/>
                          </a:rPr>
                          <m:t>3</m:t>
                        </m:r>
                      </m:sub>
                    </m:sSub>
                    <m:r>
                      <a:rPr lang="en-US" b="0" i="1" smtClean="0">
                        <a:latin typeface="Cambria Math"/>
                      </a:rPr>
                      <m:t>,…</m:t>
                    </m:r>
                  </m:oMath>
                </a14:m>
                <a:r>
                  <a:rPr lang="en-US" dirty="0" smtClean="0"/>
                  <a:t>, we have that</a:t>
                </a:r>
              </a:p>
              <a:p>
                <a:pPr marL="457200" lvl="1" indent="0">
                  <a:buNone/>
                </a:pPr>
                <a14:m>
                  <m:oMathPara xmlns:m="http://schemas.openxmlformats.org/officeDocument/2006/math">
                    <m:oMathParaPr>
                      <m:jc m:val="centerGroup"/>
                    </m:oMathParaPr>
                    <m:oMath xmlns:m="http://schemas.openxmlformats.org/officeDocument/2006/math">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𝐸</m:t>
                          </m:r>
                        </m:e>
                      </m:d>
                      <m:r>
                        <a:rPr lang="en-US" b="0" i="1" smtClean="0">
                          <a:latin typeface="Cambria Math"/>
                        </a:rPr>
                        <m:t>= </m:t>
                      </m:r>
                      <m:nary>
                        <m:naryPr>
                          <m:chr m:val="∑"/>
                          <m:supHide m:val="on"/>
                          <m:ctrlPr>
                            <a:rPr lang="en-US" b="0" i="1" smtClean="0">
                              <a:latin typeface="Cambria Math" panose="02040503050406030204" pitchFamily="18" charset="0"/>
                            </a:rPr>
                          </m:ctrlPr>
                        </m:naryPr>
                        <m:sub>
                          <m:r>
                            <m:rPr>
                              <m:brk m:alnAt="7"/>
                            </m:rPr>
                            <a:rPr lang="en-US" b="0" i="1" smtClean="0">
                              <a:latin typeface="Cambria Math"/>
                            </a:rPr>
                            <m:t>𝑖</m:t>
                          </m:r>
                        </m:sub>
                        <m:sup/>
                        <m:e>
                          <m:r>
                            <a:rPr lang="en-US" b="0" i="1" smtClean="0">
                              <a:latin typeface="Cambria Math"/>
                            </a:rPr>
                            <m:t>𝑃</m:t>
                          </m:r>
                          <m:r>
                            <a:rPr lang="en-US" b="0" i="1" smtClean="0">
                              <a:latin typeface="Cambria Math"/>
                            </a:rPr>
                            <m:t>(</m:t>
                          </m:r>
                          <m:r>
                            <a:rPr lang="en-US" b="0" i="1" smtClean="0">
                              <a:latin typeface="Cambria Math"/>
                            </a:rPr>
                            <m:t>𝐸</m:t>
                          </m:r>
                          <m:r>
                            <a:rPr lang="en-US" b="0" i="1" smtClean="0">
                              <a:latin typeface="Cambria Math"/>
                            </a:rPr>
                            <m:t> ∩ </m:t>
                          </m:r>
                          <m:sSub>
                            <m:sSubPr>
                              <m:ctrlPr>
                                <a:rPr lang="en-US" b="0" i="1" smtClean="0">
                                  <a:latin typeface="Cambria Math" panose="02040503050406030204" pitchFamily="18" charset="0"/>
                                  <a:ea typeface="Cambria Math"/>
                                </a:rPr>
                              </m:ctrlPr>
                            </m:sSubPr>
                            <m:e>
                              <m:r>
                                <a:rPr lang="en-US" b="0" i="1" smtClean="0">
                                  <a:latin typeface="Cambria Math"/>
                                  <a:ea typeface="Cambria Math"/>
                                </a:rPr>
                                <m:t>𝐹</m:t>
                              </m:r>
                            </m:e>
                            <m:sub>
                              <m:r>
                                <a:rPr lang="en-US" b="0" i="1" smtClean="0">
                                  <a:latin typeface="Cambria Math"/>
                                  <a:ea typeface="Cambria Math"/>
                                </a:rPr>
                                <m:t>𝑖</m:t>
                              </m:r>
                            </m:sub>
                          </m:sSub>
                          <m:r>
                            <a:rPr lang="en-US" b="0" i="1" smtClean="0">
                              <a:latin typeface="Cambria Math"/>
                              <a:ea typeface="Cambria Math"/>
                            </a:rPr>
                            <m:t>)</m:t>
                          </m:r>
                        </m:e>
                      </m:nary>
                    </m:oMath>
                  </m:oMathPara>
                </a14:m>
                <a:endParaRPr lang="en-US" dirty="0" smtClean="0"/>
              </a:p>
              <a:p>
                <a:pPr marL="457200" lvl="1" indent="0">
                  <a:buNone/>
                </a:pPr>
                <a:r>
                  <a:rPr lang="en-US" dirty="0" smtClean="0"/>
                  <a:t>“Law of Partitions”</a:t>
                </a: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1630" r="-963"/>
                </a:stretch>
              </a:blipFill>
            </p:spPr>
            <p:txBody>
              <a:bodyPr/>
              <a:lstStyle/>
              <a:p>
                <a:r>
                  <a:rPr lang="en-US">
                    <a:noFill/>
                  </a:rPr>
                  <a:t> </a:t>
                </a:r>
              </a:p>
            </p:txBody>
          </p:sp>
        </mc:Fallback>
      </mc:AlternateContent>
    </p:spTree>
    <p:extLst>
      <p:ext uri="{BB962C8B-B14F-4D97-AF65-F5344CB8AC3E}">
        <p14:creationId xmlns:p14="http://schemas.microsoft.com/office/powerpoint/2010/main" val="168988908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600200"/>
                <a:ext cx="8686800" cy="4525963"/>
              </a:xfrm>
            </p:spPr>
            <p:txBody>
              <a:bodyPr/>
              <a:lstStyle/>
              <a:p>
                <a:r>
                  <a:rPr lang="en-US" dirty="0" smtClean="0"/>
                  <a:t>Ex: Suppose we know that P(A)=0.3 and P(B)=0.5</a:t>
                </a:r>
              </a:p>
              <a:p>
                <a:pPr marL="0" indent="0">
                  <a:buNone/>
                </a:pPr>
                <a:r>
                  <a:rPr lang="en-US" dirty="0" smtClean="0"/>
                  <a:t>What is the largest </a:t>
                </a:r>
                <a:r>
                  <a:rPr lang="en-US" i="1" dirty="0" smtClean="0"/>
                  <a:t>possible</a:t>
                </a:r>
                <a:r>
                  <a:rPr lang="en-US" dirty="0" smtClean="0"/>
                  <a:t> value of P(</a:t>
                </a:r>
                <a14:m>
                  <m:oMath xmlns:m="http://schemas.openxmlformats.org/officeDocument/2006/math">
                    <m:r>
                      <a:rPr lang="en-US" b="0" i="1" smtClean="0">
                        <a:latin typeface="Cambria Math"/>
                      </a:rPr>
                      <m:t>𝐴</m:t>
                    </m:r>
                    <m:r>
                      <a:rPr lang="en-US" b="0" i="1" smtClean="0">
                        <a:latin typeface="Cambria Math"/>
                        <a:ea typeface="Cambria Math"/>
                      </a:rPr>
                      <m:t>∩</m:t>
                    </m:r>
                    <m:r>
                      <a:rPr lang="en-US" b="0" i="1" smtClean="0">
                        <a:latin typeface="Cambria Math"/>
                        <a:ea typeface="Cambria Math"/>
                      </a:rPr>
                      <m:t>𝐵</m:t>
                    </m:r>
                  </m:oMath>
                </a14:m>
                <a:r>
                  <a:rPr lang="en-US" dirty="0" smtClean="0"/>
                  <a:t>)?</a:t>
                </a:r>
              </a:p>
              <a:p>
                <a:pPr marL="0" indent="0">
                  <a:buNone/>
                </a:pPr>
                <a:r>
                  <a:rPr lang="en-US" dirty="0" smtClean="0"/>
                  <a:t>What is the largest </a:t>
                </a:r>
                <a:r>
                  <a:rPr lang="en-US" i="1" dirty="0" smtClean="0"/>
                  <a:t>possible</a:t>
                </a:r>
                <a:r>
                  <a:rPr lang="en-US" dirty="0" smtClean="0"/>
                  <a:t> value of P(</a:t>
                </a:r>
                <a14:m>
                  <m:oMath xmlns:m="http://schemas.openxmlformats.org/officeDocument/2006/math">
                    <m:r>
                      <a:rPr lang="en-US" b="0" i="1" smtClean="0">
                        <a:latin typeface="Cambria Math"/>
                      </a:rPr>
                      <m:t>𝐴</m:t>
                    </m:r>
                    <m:r>
                      <a:rPr lang="en-US" i="1">
                        <a:latin typeface="Cambria Math"/>
                        <a:ea typeface="Cambria Math"/>
                      </a:rPr>
                      <m:t>∪</m:t>
                    </m:r>
                    <m:r>
                      <a:rPr lang="en-US" b="0" i="1" smtClean="0">
                        <a:latin typeface="Cambria Math"/>
                        <a:ea typeface="Cambria Math"/>
                      </a:rPr>
                      <m:t>𝐵</m:t>
                    </m:r>
                  </m:oMath>
                </a14:m>
                <a:r>
                  <a:rPr lang="en-US" dirty="0" smtClean="0"/>
                  <a:t>)?</a:t>
                </a:r>
              </a:p>
              <a:p>
                <a:pPr marL="0" indent="0">
                  <a:buNone/>
                </a:pPr>
                <a:r>
                  <a:rPr lang="en-US" dirty="0" smtClean="0"/>
                  <a:t>What is the smallest </a:t>
                </a:r>
                <a:r>
                  <a:rPr lang="en-US" i="1" dirty="0" smtClean="0"/>
                  <a:t>possible</a:t>
                </a:r>
                <a:r>
                  <a:rPr lang="en-US" dirty="0" smtClean="0"/>
                  <a:t> value of P(</a:t>
                </a:r>
                <a14:m>
                  <m:oMath xmlns:m="http://schemas.openxmlformats.org/officeDocument/2006/math">
                    <m:r>
                      <a:rPr lang="en-US" b="0" i="1" smtClean="0">
                        <a:latin typeface="Cambria Math"/>
                      </a:rPr>
                      <m:t>𝐴</m:t>
                    </m:r>
                    <m:r>
                      <a:rPr lang="en-US" b="0" i="1" smtClean="0">
                        <a:latin typeface="Cambria Math"/>
                        <a:ea typeface="Cambria Math"/>
                      </a:rPr>
                      <m:t>∩</m:t>
                    </m:r>
                    <m:r>
                      <a:rPr lang="en-US" b="0" i="1" smtClean="0">
                        <a:latin typeface="Cambria Math"/>
                        <a:ea typeface="Cambria Math"/>
                      </a:rPr>
                      <m:t>𝐵</m:t>
                    </m:r>
                  </m:oMath>
                </a14:m>
                <a:r>
                  <a:rPr lang="en-US" dirty="0" smtClean="0"/>
                  <a:t>)?</a:t>
                </a:r>
              </a:p>
              <a:p>
                <a:pPr marL="0" indent="0">
                  <a:buNone/>
                </a:pPr>
                <a:r>
                  <a:rPr lang="en-US" dirty="0" smtClean="0"/>
                  <a:t>What is the smallest </a:t>
                </a:r>
                <a:r>
                  <a:rPr lang="en-US" i="1" dirty="0" smtClean="0"/>
                  <a:t>possible</a:t>
                </a:r>
                <a:r>
                  <a:rPr lang="en-US" dirty="0" smtClean="0"/>
                  <a:t> value of P(</a:t>
                </a:r>
                <a14:m>
                  <m:oMath xmlns:m="http://schemas.openxmlformats.org/officeDocument/2006/math">
                    <m:r>
                      <a:rPr lang="en-US" b="0" i="1" smtClean="0">
                        <a:latin typeface="Cambria Math"/>
                      </a:rPr>
                      <m:t>𝐴</m:t>
                    </m:r>
                    <m:r>
                      <a:rPr lang="en-US" i="1">
                        <a:latin typeface="Cambria Math"/>
                        <a:ea typeface="Cambria Math"/>
                      </a:rPr>
                      <m:t>∪</m:t>
                    </m:r>
                    <m:r>
                      <a:rPr lang="en-US" b="0" i="1" smtClean="0">
                        <a:latin typeface="Cambria Math"/>
                        <a:ea typeface="Cambria Math"/>
                      </a:rPr>
                      <m:t>𝐵</m:t>
                    </m:r>
                  </m:oMath>
                </a14:m>
                <a:r>
                  <a:rPr lang="en-US" dirty="0" smtClean="0"/>
                  <a:t>)?</a:t>
                </a: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1600200"/>
                <a:ext cx="8686800" cy="4525963"/>
              </a:xfrm>
              <a:blipFill rotWithShape="1">
                <a:blip r:embed="rId3"/>
                <a:stretch>
                  <a:fillRect l="-1754" t="-1752" r="-281"/>
                </a:stretch>
              </a:blipFill>
            </p:spPr>
            <p:txBody>
              <a:bodyPr/>
              <a:lstStyle/>
              <a:p>
                <a:r>
                  <a:rPr lang="en-US">
                    <a:noFill/>
                  </a:rPr>
                  <a:t> </a:t>
                </a:r>
              </a:p>
            </p:txBody>
          </p:sp>
        </mc:Fallback>
      </mc:AlternateContent>
    </p:spTree>
    <p:extLst>
      <p:ext uri="{BB962C8B-B14F-4D97-AF65-F5344CB8AC3E}">
        <p14:creationId xmlns:p14="http://schemas.microsoft.com/office/powerpoint/2010/main" val="10454965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600200"/>
                <a:ext cx="8686800" cy="4525963"/>
              </a:xfrm>
            </p:spPr>
            <p:txBody>
              <a:bodyPr/>
              <a:lstStyle/>
              <a:p>
                <a:r>
                  <a:rPr lang="en-US" dirty="0" smtClean="0"/>
                  <a:t>Ex: Suppose we know that P(A)=0.8 and P(B)=0.5</a:t>
                </a:r>
              </a:p>
              <a:p>
                <a:pPr marL="0" indent="0">
                  <a:buNone/>
                </a:pPr>
                <a:r>
                  <a:rPr lang="en-US" dirty="0" smtClean="0"/>
                  <a:t>What is the largest </a:t>
                </a:r>
                <a:r>
                  <a:rPr lang="en-US" i="1" dirty="0" smtClean="0"/>
                  <a:t>possible</a:t>
                </a:r>
                <a:r>
                  <a:rPr lang="en-US" dirty="0" smtClean="0"/>
                  <a:t> value of P(</a:t>
                </a:r>
                <a14:m>
                  <m:oMath xmlns:m="http://schemas.openxmlformats.org/officeDocument/2006/math">
                    <m:r>
                      <a:rPr lang="en-US" b="0" i="1" smtClean="0">
                        <a:latin typeface="Cambria Math"/>
                      </a:rPr>
                      <m:t>𝐴</m:t>
                    </m:r>
                    <m:r>
                      <a:rPr lang="en-US" b="0" i="1" smtClean="0">
                        <a:latin typeface="Cambria Math"/>
                        <a:ea typeface="Cambria Math"/>
                      </a:rPr>
                      <m:t>∩</m:t>
                    </m:r>
                    <m:r>
                      <a:rPr lang="en-US" b="0" i="1" smtClean="0">
                        <a:latin typeface="Cambria Math"/>
                        <a:ea typeface="Cambria Math"/>
                      </a:rPr>
                      <m:t>𝐵</m:t>
                    </m:r>
                  </m:oMath>
                </a14:m>
                <a:r>
                  <a:rPr lang="en-US" dirty="0" smtClean="0"/>
                  <a:t>)?</a:t>
                </a:r>
              </a:p>
              <a:p>
                <a:pPr marL="0" indent="0">
                  <a:buNone/>
                </a:pPr>
                <a:r>
                  <a:rPr lang="en-US" dirty="0" smtClean="0"/>
                  <a:t>What is the largest </a:t>
                </a:r>
                <a:r>
                  <a:rPr lang="en-US" i="1" dirty="0" smtClean="0"/>
                  <a:t>possible</a:t>
                </a:r>
                <a:r>
                  <a:rPr lang="en-US" dirty="0" smtClean="0"/>
                  <a:t> value of P(</a:t>
                </a:r>
                <a14:m>
                  <m:oMath xmlns:m="http://schemas.openxmlformats.org/officeDocument/2006/math">
                    <m:r>
                      <a:rPr lang="en-US" b="0" i="1" smtClean="0">
                        <a:latin typeface="Cambria Math"/>
                      </a:rPr>
                      <m:t>𝐴</m:t>
                    </m:r>
                    <m:r>
                      <a:rPr lang="en-US" i="1">
                        <a:latin typeface="Cambria Math"/>
                        <a:ea typeface="Cambria Math"/>
                      </a:rPr>
                      <m:t>∪</m:t>
                    </m:r>
                    <m:r>
                      <a:rPr lang="en-US" b="0" i="1" smtClean="0">
                        <a:latin typeface="Cambria Math"/>
                        <a:ea typeface="Cambria Math"/>
                      </a:rPr>
                      <m:t>𝐵</m:t>
                    </m:r>
                  </m:oMath>
                </a14:m>
                <a:r>
                  <a:rPr lang="en-US" dirty="0" smtClean="0"/>
                  <a:t>)?</a:t>
                </a:r>
              </a:p>
              <a:p>
                <a:pPr marL="0" indent="0">
                  <a:buNone/>
                </a:pPr>
                <a:r>
                  <a:rPr lang="en-US" dirty="0" smtClean="0"/>
                  <a:t>What is the smallest </a:t>
                </a:r>
                <a:r>
                  <a:rPr lang="en-US" i="1" dirty="0" smtClean="0"/>
                  <a:t>possible</a:t>
                </a:r>
                <a:r>
                  <a:rPr lang="en-US" dirty="0" smtClean="0"/>
                  <a:t> value of P(</a:t>
                </a:r>
                <a14:m>
                  <m:oMath xmlns:m="http://schemas.openxmlformats.org/officeDocument/2006/math">
                    <m:r>
                      <a:rPr lang="en-US" b="0" i="1" smtClean="0">
                        <a:latin typeface="Cambria Math"/>
                      </a:rPr>
                      <m:t>𝐴</m:t>
                    </m:r>
                    <m:r>
                      <a:rPr lang="en-US" b="0" i="1" smtClean="0">
                        <a:latin typeface="Cambria Math"/>
                        <a:ea typeface="Cambria Math"/>
                      </a:rPr>
                      <m:t>∩</m:t>
                    </m:r>
                    <m:r>
                      <a:rPr lang="en-US" b="0" i="1" smtClean="0">
                        <a:latin typeface="Cambria Math"/>
                        <a:ea typeface="Cambria Math"/>
                      </a:rPr>
                      <m:t>𝐵</m:t>
                    </m:r>
                  </m:oMath>
                </a14:m>
                <a:r>
                  <a:rPr lang="en-US" dirty="0" smtClean="0"/>
                  <a:t>)?</a:t>
                </a:r>
              </a:p>
              <a:p>
                <a:pPr marL="0" indent="0">
                  <a:buNone/>
                </a:pPr>
                <a:r>
                  <a:rPr lang="en-US" dirty="0" smtClean="0"/>
                  <a:t>What is the smallest </a:t>
                </a:r>
                <a:r>
                  <a:rPr lang="en-US" i="1" dirty="0" smtClean="0"/>
                  <a:t>possible</a:t>
                </a:r>
                <a:r>
                  <a:rPr lang="en-US" dirty="0" smtClean="0"/>
                  <a:t> value of P(</a:t>
                </a:r>
                <a14:m>
                  <m:oMath xmlns:m="http://schemas.openxmlformats.org/officeDocument/2006/math">
                    <m:r>
                      <a:rPr lang="en-US" b="0" i="1" smtClean="0">
                        <a:latin typeface="Cambria Math"/>
                      </a:rPr>
                      <m:t>𝐴</m:t>
                    </m:r>
                    <m:r>
                      <a:rPr lang="en-US" i="1">
                        <a:latin typeface="Cambria Math"/>
                        <a:ea typeface="Cambria Math"/>
                      </a:rPr>
                      <m:t>∪</m:t>
                    </m:r>
                    <m:r>
                      <a:rPr lang="en-US" b="0" i="1" smtClean="0">
                        <a:latin typeface="Cambria Math"/>
                        <a:ea typeface="Cambria Math"/>
                      </a:rPr>
                      <m:t>𝐵</m:t>
                    </m:r>
                  </m:oMath>
                </a14:m>
                <a:r>
                  <a:rPr lang="en-US" dirty="0" smtClean="0"/>
                  <a:t>)?</a:t>
                </a: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1600200"/>
                <a:ext cx="8686800" cy="4525963"/>
              </a:xfrm>
              <a:blipFill rotWithShape="1">
                <a:blip r:embed="rId2"/>
                <a:stretch>
                  <a:fillRect l="-1754" t="-1752" r="-281"/>
                </a:stretch>
              </a:blipFill>
            </p:spPr>
            <p:txBody>
              <a:bodyPr/>
              <a:lstStyle/>
              <a:p>
                <a:r>
                  <a:rPr lang="en-US">
                    <a:noFill/>
                  </a:rPr>
                  <a:t> </a:t>
                </a:r>
              </a:p>
            </p:txBody>
          </p:sp>
        </mc:Fallback>
      </mc:AlternateContent>
    </p:spTree>
    <p:extLst>
      <p:ext uri="{BB962C8B-B14F-4D97-AF65-F5344CB8AC3E}">
        <p14:creationId xmlns:p14="http://schemas.microsoft.com/office/powerpoint/2010/main" val="5971623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Sample Spaces with Equally Likely Outcomes</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smtClean="0"/>
                  <a:t>Suppose that each outcome of S={a</a:t>
                </a:r>
                <a:r>
                  <a:rPr lang="en-US" baseline="-25000" dirty="0" smtClean="0"/>
                  <a:t>1</a:t>
                </a:r>
                <a:r>
                  <a:rPr lang="en-US" baseline="-25000" dirty="0"/>
                  <a:t> </a:t>
                </a:r>
                <a:r>
                  <a:rPr lang="en-US" dirty="0" smtClean="0"/>
                  <a:t> , a</a:t>
                </a:r>
                <a:r>
                  <a:rPr lang="en-US" baseline="-25000" dirty="0" smtClean="0"/>
                  <a:t>2</a:t>
                </a:r>
                <a:r>
                  <a:rPr lang="en-US" dirty="0" smtClean="0"/>
                  <a:t> , …, a</a:t>
                </a:r>
                <a:r>
                  <a:rPr lang="en-US" baseline="-25000" dirty="0" smtClean="0"/>
                  <a:t>n</a:t>
                </a:r>
                <a:r>
                  <a:rPr lang="en-US" dirty="0" smtClean="0"/>
                  <a:t> } is “equally likely” (meaning that P({</a:t>
                </a:r>
                <a:r>
                  <a:rPr lang="en-US" dirty="0" err="1" smtClean="0"/>
                  <a:t>a</a:t>
                </a:r>
                <a:r>
                  <a:rPr lang="en-US" baseline="-25000" dirty="0" err="1" smtClean="0"/>
                  <a:t>i</a:t>
                </a:r>
                <a:r>
                  <a:rPr lang="en-US" dirty="0" smtClean="0"/>
                  <a:t>}) = P({</a:t>
                </a:r>
                <a:r>
                  <a:rPr lang="en-US" dirty="0" err="1" smtClean="0"/>
                  <a:t>a</a:t>
                </a:r>
                <a:r>
                  <a:rPr lang="en-US" baseline="-25000" dirty="0" err="1" smtClean="0"/>
                  <a:t>j</a:t>
                </a:r>
                <a:r>
                  <a:rPr lang="en-US" dirty="0" smtClean="0"/>
                  <a:t>}) for each </a:t>
                </a:r>
                <a:r>
                  <a:rPr lang="en-US" dirty="0" err="1" smtClean="0"/>
                  <a:t>i</a:t>
                </a:r>
                <a:r>
                  <a:rPr lang="en-US" dirty="0" smtClean="0"/>
                  <a:t> not equal to j)</a:t>
                </a:r>
              </a:p>
              <a:p>
                <a:pPr marL="457200" lvl="1" indent="0">
                  <a:buNone/>
                </a:pPr>
                <a:r>
                  <a:rPr lang="en-US" dirty="0" smtClean="0"/>
                  <a:t>(note that S must be finite for this to make sense)</a:t>
                </a:r>
              </a:p>
              <a:p>
                <a:r>
                  <a:rPr lang="en-US" dirty="0" smtClean="0"/>
                  <a:t>Then, from the axioms of probability (why?), we get that</a:t>
                </a:r>
              </a:p>
              <a:p>
                <a:pPr marL="457200" lvl="1" indent="0">
                  <a:buNone/>
                </a:pPr>
                <a14:m>
                  <m:oMathPara xmlns:m="http://schemas.openxmlformats.org/officeDocument/2006/math">
                    <m:oMathParaPr>
                      <m:jc m:val="centerGroup"/>
                    </m:oMathParaPr>
                    <m:oMath xmlns:m="http://schemas.openxmlformats.org/officeDocument/2006/math">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𝐸</m:t>
                          </m:r>
                        </m:e>
                      </m:d>
                      <m:r>
                        <a:rPr lang="en-US" b="0" i="1" smtClean="0">
                          <a:latin typeface="Cambria Math"/>
                        </a:rPr>
                        <m:t>= </m:t>
                      </m:r>
                      <m:f>
                        <m:fPr>
                          <m:ctrlPr>
                            <a:rPr lang="en-US" b="0" i="1" smtClean="0">
                              <a:latin typeface="Cambria Math" panose="02040503050406030204" pitchFamily="18" charset="0"/>
                            </a:rPr>
                          </m:ctrlPr>
                        </m:fPr>
                        <m:num>
                          <m:r>
                            <a:rPr lang="en-US" b="0" i="1" smtClean="0">
                              <a:latin typeface="Cambria Math"/>
                            </a:rPr>
                            <m:t>|</m:t>
                          </m:r>
                          <m:r>
                            <a:rPr lang="en-US" b="0" i="1" smtClean="0">
                              <a:latin typeface="Cambria Math"/>
                            </a:rPr>
                            <m:t>𝐸</m:t>
                          </m:r>
                          <m:r>
                            <a:rPr lang="en-US" b="0" i="1" smtClean="0">
                              <a:latin typeface="Cambria Math"/>
                            </a:rPr>
                            <m:t>|</m:t>
                          </m:r>
                        </m:num>
                        <m:den>
                          <m:r>
                            <a:rPr lang="en-US" b="0" i="1" smtClean="0">
                              <a:latin typeface="Cambria Math"/>
                            </a:rPr>
                            <m:t>|</m:t>
                          </m:r>
                          <m:r>
                            <a:rPr lang="en-US" b="0" i="1" smtClean="0">
                              <a:latin typeface="Cambria Math"/>
                            </a:rPr>
                            <m:t>𝑆</m:t>
                          </m:r>
                          <m:r>
                            <a:rPr lang="en-US" b="0" i="1" smtClean="0">
                              <a:latin typeface="Cambria Math"/>
                            </a:rPr>
                            <m:t>|</m:t>
                          </m:r>
                        </m:den>
                      </m:f>
                    </m:oMath>
                  </m:oMathPara>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1630" t="-1752"/>
                </a:stretch>
              </a:blipFill>
            </p:spPr>
            <p:txBody>
              <a:bodyPr/>
              <a:lstStyle/>
              <a:p>
                <a:r>
                  <a:rPr lang="en-US">
                    <a:noFill/>
                  </a:rPr>
                  <a:t> </a:t>
                </a:r>
              </a:p>
            </p:txBody>
          </p:sp>
        </mc:Fallback>
      </mc:AlternateContent>
    </p:spTree>
    <p:extLst>
      <p:ext uri="{BB962C8B-B14F-4D97-AF65-F5344CB8AC3E}">
        <p14:creationId xmlns:p14="http://schemas.microsoft.com/office/powerpoint/2010/main" val="380768961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Roll 2 dice (red, blue)</a:t>
            </a:r>
          </a:p>
          <a:p>
            <a:r>
              <a:rPr lang="en-US" dirty="0" smtClean="0"/>
              <a:t>Let E = “at least one 4”, A=“red is 4”, and B=“blue is 4”</a:t>
            </a:r>
          </a:p>
          <a:p>
            <a:r>
              <a:rPr lang="en-US" dirty="0" smtClean="0"/>
              <a:t>Find P(E) = P(A</a:t>
            </a:r>
            <a:r>
              <a:rPr lang="en-US" dirty="0" smtClean="0">
                <a:sym typeface="Symbol"/>
              </a:rPr>
              <a:t>B)</a:t>
            </a:r>
            <a:endParaRPr lang="en-US" dirty="0" smtClean="0"/>
          </a:p>
          <a:p>
            <a:pPr marL="457200" lvl="1" indent="0">
              <a:buNone/>
            </a:pPr>
            <a:r>
              <a:rPr lang="en-US" dirty="0" smtClean="0"/>
              <a:t>S={(1,1),(1,2),…,(6,6)}, with |S|=36 equally likely outcomes (assuming 2 fair dice); here, “(</a:t>
            </a:r>
            <a:r>
              <a:rPr lang="en-US" dirty="0" err="1" smtClean="0"/>
              <a:t>i,j</a:t>
            </a:r>
            <a:r>
              <a:rPr lang="en-US" dirty="0" smtClean="0"/>
              <a:t>)” means that the red die is I and the blue die is j</a:t>
            </a:r>
          </a:p>
          <a:p>
            <a:pPr marL="457200" lvl="1" indent="0">
              <a:buNone/>
            </a:pPr>
            <a:r>
              <a:rPr lang="en-US" dirty="0" smtClean="0"/>
              <a:t>P(A) = P({(4,1),(4,2),…,(4,6)}) = 6/36 = 1/6</a:t>
            </a:r>
          </a:p>
          <a:p>
            <a:pPr marL="457200" lvl="1" indent="0">
              <a:buNone/>
            </a:pPr>
            <a:r>
              <a:rPr lang="en-US" dirty="0" smtClean="0"/>
              <a:t>P(B) = P({(1,4),(2,4),…,(6,4)}) = 6/36 = 1/6</a:t>
            </a:r>
          </a:p>
          <a:p>
            <a:pPr marL="457200" lvl="1" indent="0">
              <a:buNone/>
            </a:pPr>
            <a:r>
              <a:rPr lang="en-US" dirty="0" smtClean="0"/>
              <a:t>A</a:t>
            </a:r>
            <a:r>
              <a:rPr lang="en-US" dirty="0" smtClean="0">
                <a:sym typeface="Symbol"/>
              </a:rPr>
              <a:t>B = {(4,4)}, so P(AB) = 1/36</a:t>
            </a:r>
            <a:endParaRPr lang="en-US" dirty="0" smtClean="0"/>
          </a:p>
          <a:p>
            <a:pPr marL="457200" lvl="1" indent="0">
              <a:buNone/>
            </a:pPr>
            <a:r>
              <a:rPr lang="en-US" dirty="0" smtClean="0"/>
              <a:t>E=A</a:t>
            </a:r>
            <a:r>
              <a:rPr lang="en-US" dirty="0" smtClean="0">
                <a:sym typeface="Symbol"/>
              </a:rPr>
              <a:t>B, so P(E) = P(A)+P(B)-P(AB) = 1/6+1/6-1/36=11/36</a:t>
            </a:r>
          </a:p>
          <a:p>
            <a:pPr marL="457200" lvl="1" indent="0">
              <a:buNone/>
            </a:pPr>
            <a:r>
              <a:rPr lang="en-US" dirty="0" smtClean="0">
                <a:sym typeface="Symbol"/>
              </a:rPr>
              <a:t>(or, do directly, using AB = {(1,4),(2,4),…,(4,6),…,(6,4)}, a set with 11 elements)</a:t>
            </a:r>
          </a:p>
          <a:p>
            <a:pPr marL="457200" lvl="1" indent="0">
              <a:buNone/>
            </a:pPr>
            <a:endParaRPr lang="en-US" dirty="0"/>
          </a:p>
        </p:txBody>
      </p:sp>
    </p:spTree>
    <p:extLst>
      <p:ext uri="{BB962C8B-B14F-4D97-AF65-F5344CB8AC3E}">
        <p14:creationId xmlns:p14="http://schemas.microsoft.com/office/powerpoint/2010/main" val="397164684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Urn Problems</a:t>
            </a:r>
            <a:endParaRPr lang="en-US" dirty="0"/>
          </a:p>
        </p:txBody>
      </p:sp>
      <p:sp>
        <p:nvSpPr>
          <p:cNvPr id="3" name="Content Placeholder 2"/>
          <p:cNvSpPr>
            <a:spLocks noGrp="1"/>
          </p:cNvSpPr>
          <p:nvPr>
            <p:ph idx="1"/>
          </p:nvPr>
        </p:nvSpPr>
        <p:spPr/>
        <p:txBody>
          <a:bodyPr/>
          <a:lstStyle/>
          <a:p>
            <a:r>
              <a:rPr lang="en-US" dirty="0" smtClean="0"/>
              <a:t>Given a box (or “urn”) with r red balls and b blue balls in it, select k balls at random and examine their colors</a:t>
            </a:r>
          </a:p>
          <a:p>
            <a:r>
              <a:rPr lang="en-US" dirty="0" smtClean="0">
                <a:solidFill>
                  <a:srgbClr val="FF0000"/>
                </a:solidFill>
              </a:rPr>
              <a:t>Without</a:t>
            </a:r>
            <a:r>
              <a:rPr lang="en-US" dirty="0" smtClean="0"/>
              <a:t> replacement vs. </a:t>
            </a:r>
            <a:r>
              <a:rPr lang="en-US" dirty="0">
                <a:solidFill>
                  <a:srgbClr val="FF0000"/>
                </a:solidFill>
              </a:rPr>
              <a:t>With </a:t>
            </a:r>
            <a:r>
              <a:rPr lang="en-US" dirty="0" smtClean="0"/>
              <a:t>replacement</a:t>
            </a:r>
          </a:p>
          <a:p>
            <a:r>
              <a:rPr lang="en-US" dirty="0" smtClean="0"/>
              <a:t>Balls are distinct or not.</a:t>
            </a:r>
            <a:endParaRPr lang="en-US" dirty="0"/>
          </a:p>
        </p:txBody>
      </p:sp>
    </p:spTree>
    <p:extLst>
      <p:ext uri="{BB962C8B-B14F-4D97-AF65-F5344CB8AC3E}">
        <p14:creationId xmlns:p14="http://schemas.microsoft.com/office/powerpoint/2010/main" val="228410610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Urn Problems</a:t>
            </a:r>
            <a:endParaRPr lang="en-US" dirty="0"/>
          </a:p>
        </p:txBody>
      </p:sp>
      <p:sp>
        <p:nvSpPr>
          <p:cNvPr id="3" name="Content Placeholder 2"/>
          <p:cNvSpPr>
            <a:spLocks noGrp="1"/>
          </p:cNvSpPr>
          <p:nvPr>
            <p:ph idx="1"/>
          </p:nvPr>
        </p:nvSpPr>
        <p:spPr/>
        <p:txBody>
          <a:bodyPr/>
          <a:lstStyle/>
          <a:p>
            <a:r>
              <a:rPr lang="en-US" dirty="0" smtClean="0"/>
              <a:t>Box of 12 red and 8 blue balls; select 4 without replacement</a:t>
            </a:r>
          </a:p>
          <a:p>
            <a:r>
              <a:rPr lang="en-US" dirty="0" smtClean="0"/>
              <a:t>Find P(we get exactly 2 balls of each color)</a:t>
            </a:r>
          </a:p>
          <a:p>
            <a:pPr marL="457200" lvl="1" indent="0">
              <a:buNone/>
            </a:pPr>
            <a:r>
              <a:rPr lang="en-US" dirty="0" smtClean="0"/>
              <a:t>S = ?</a:t>
            </a:r>
          </a:p>
          <a:p>
            <a:pPr marL="457200" lvl="1" indent="0">
              <a:buNone/>
            </a:pPr>
            <a:r>
              <a:rPr lang="en-US" dirty="0" smtClean="0"/>
              <a:t>Let E = “we get exactly 2 balls of each color”</a:t>
            </a:r>
          </a:p>
          <a:p>
            <a:pPr marL="457200" lvl="1" indent="0">
              <a:buNone/>
            </a:pPr>
            <a:r>
              <a:rPr lang="en-US" dirty="0" smtClean="0"/>
              <a:t>Want: P(E) </a:t>
            </a:r>
            <a:endParaRPr lang="en-US" dirty="0"/>
          </a:p>
        </p:txBody>
      </p:sp>
    </p:spTree>
    <p:extLst>
      <p:ext uri="{BB962C8B-B14F-4D97-AF65-F5344CB8AC3E}">
        <p14:creationId xmlns:p14="http://schemas.microsoft.com/office/powerpoint/2010/main" val="38741909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Urn Problems</a:t>
            </a: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Box of 12 red and 8 blue balls; select 4 </a:t>
            </a:r>
            <a:r>
              <a:rPr lang="en-US" dirty="0" smtClean="0">
                <a:solidFill>
                  <a:srgbClr val="FF0000"/>
                </a:solidFill>
              </a:rPr>
              <a:t>without </a:t>
            </a:r>
            <a:r>
              <a:rPr lang="en-US" dirty="0" smtClean="0"/>
              <a:t>replacement</a:t>
            </a:r>
          </a:p>
          <a:p>
            <a:r>
              <a:rPr lang="en-US" dirty="0" smtClean="0"/>
              <a:t>Find P(we get exactly 2 balls of each color)</a:t>
            </a:r>
          </a:p>
          <a:p>
            <a:pPr marL="457200" lvl="1" indent="0">
              <a:buNone/>
            </a:pPr>
            <a:r>
              <a:rPr lang="en-US" dirty="0" smtClean="0"/>
              <a:t>S = ?</a:t>
            </a:r>
          </a:p>
          <a:p>
            <a:pPr marL="457200" lvl="1" indent="0">
              <a:buNone/>
            </a:pPr>
            <a:r>
              <a:rPr lang="en-US" dirty="0" smtClean="0"/>
              <a:t>One solution:  Treat the 20 balls as </a:t>
            </a:r>
            <a:r>
              <a:rPr lang="en-US" i="1" dirty="0" smtClean="0">
                <a:solidFill>
                  <a:srgbClr val="FF0000"/>
                </a:solidFill>
              </a:rPr>
              <a:t>distinct</a:t>
            </a:r>
            <a:r>
              <a:rPr lang="en-US" dirty="0" smtClean="0"/>
              <a:t>: imagine painting little numbers on them to label them as r</a:t>
            </a:r>
            <a:r>
              <a:rPr lang="en-US" baseline="-25000" dirty="0" smtClean="0"/>
              <a:t>1</a:t>
            </a:r>
            <a:r>
              <a:rPr lang="en-US" dirty="0" smtClean="0"/>
              <a:t>, r</a:t>
            </a:r>
            <a:r>
              <a:rPr lang="en-US" baseline="-25000" dirty="0" smtClean="0"/>
              <a:t>2</a:t>
            </a:r>
            <a:r>
              <a:rPr lang="en-US" dirty="0" smtClean="0"/>
              <a:t>, …, r</a:t>
            </a:r>
            <a:r>
              <a:rPr lang="en-US" baseline="-25000" dirty="0" smtClean="0"/>
              <a:t>12</a:t>
            </a:r>
            <a:r>
              <a:rPr lang="en-US" dirty="0" smtClean="0"/>
              <a:t>, b</a:t>
            </a:r>
            <a:r>
              <a:rPr lang="en-US" baseline="-25000" dirty="0" smtClean="0"/>
              <a:t>1</a:t>
            </a:r>
            <a:r>
              <a:rPr lang="en-US" dirty="0" smtClean="0"/>
              <a:t>, b</a:t>
            </a:r>
            <a:r>
              <a:rPr lang="en-US" baseline="-25000" dirty="0" smtClean="0"/>
              <a:t>2</a:t>
            </a:r>
            <a:r>
              <a:rPr lang="en-US" dirty="0" smtClean="0"/>
              <a:t>, …, b</a:t>
            </a:r>
            <a:r>
              <a:rPr lang="en-US" baseline="-25000" dirty="0" smtClean="0"/>
              <a:t>8</a:t>
            </a:r>
            <a:endParaRPr lang="en-US" dirty="0" smtClean="0"/>
          </a:p>
          <a:p>
            <a:pPr marL="457200" lvl="1" indent="0">
              <a:buNone/>
            </a:pPr>
            <a:r>
              <a:rPr lang="en-US" dirty="0" smtClean="0"/>
              <a:t>Let S = the set of all 4-element subsets of {r</a:t>
            </a:r>
            <a:r>
              <a:rPr lang="en-US" baseline="-25000" dirty="0" smtClean="0"/>
              <a:t>1</a:t>
            </a:r>
            <a:r>
              <a:rPr lang="en-US" dirty="0" smtClean="0"/>
              <a:t>, r</a:t>
            </a:r>
            <a:r>
              <a:rPr lang="en-US" baseline="-25000" dirty="0" smtClean="0"/>
              <a:t>2</a:t>
            </a:r>
            <a:r>
              <a:rPr lang="en-US" dirty="0" smtClean="0"/>
              <a:t>, …, r</a:t>
            </a:r>
            <a:r>
              <a:rPr lang="en-US" baseline="-25000" dirty="0" smtClean="0"/>
              <a:t>12</a:t>
            </a:r>
            <a:r>
              <a:rPr lang="en-US" dirty="0" smtClean="0"/>
              <a:t>, b</a:t>
            </a:r>
            <a:r>
              <a:rPr lang="en-US" baseline="-25000" dirty="0" smtClean="0"/>
              <a:t>1</a:t>
            </a:r>
            <a:r>
              <a:rPr lang="en-US" dirty="0" smtClean="0"/>
              <a:t>, b</a:t>
            </a:r>
            <a:r>
              <a:rPr lang="en-US" baseline="-25000" dirty="0" smtClean="0"/>
              <a:t>2</a:t>
            </a:r>
            <a:r>
              <a:rPr lang="en-US" dirty="0" smtClean="0"/>
              <a:t>, …, b</a:t>
            </a:r>
            <a:r>
              <a:rPr lang="en-US" baseline="-25000" dirty="0" smtClean="0"/>
              <a:t>8</a:t>
            </a:r>
            <a:r>
              <a:rPr lang="en-US" dirty="0" smtClean="0"/>
              <a:t>}</a:t>
            </a:r>
          </a:p>
          <a:p>
            <a:pPr marL="457200" lvl="1" indent="0">
              <a:buNone/>
            </a:pPr>
            <a:r>
              <a:rPr lang="en-US" dirty="0" smtClean="0"/>
              <a:t>So, S = { {r</a:t>
            </a:r>
            <a:r>
              <a:rPr lang="en-US" baseline="-25000" dirty="0" smtClean="0"/>
              <a:t>2</a:t>
            </a:r>
            <a:r>
              <a:rPr lang="en-US" dirty="0" smtClean="0"/>
              <a:t>,r</a:t>
            </a:r>
            <a:r>
              <a:rPr lang="en-US" baseline="-25000" dirty="0" smtClean="0"/>
              <a:t>7</a:t>
            </a:r>
            <a:r>
              <a:rPr lang="en-US" dirty="0" smtClean="0"/>
              <a:t>,r</a:t>
            </a:r>
            <a:r>
              <a:rPr lang="en-US" baseline="-25000" dirty="0" smtClean="0"/>
              <a:t>8</a:t>
            </a:r>
            <a:r>
              <a:rPr lang="en-US" dirty="0" smtClean="0"/>
              <a:t>,b</a:t>
            </a:r>
            <a:r>
              <a:rPr lang="en-US" baseline="-25000" dirty="0" smtClean="0"/>
              <a:t>3</a:t>
            </a:r>
            <a:r>
              <a:rPr lang="en-US" dirty="0" smtClean="0"/>
              <a:t>}, {…}, …   }</a:t>
            </a:r>
          </a:p>
          <a:p>
            <a:pPr marL="457200" lvl="1" indent="0">
              <a:buNone/>
            </a:pPr>
            <a:r>
              <a:rPr lang="en-US" dirty="0" smtClean="0"/>
              <a:t>(here we think of the 20 balls as distinct, and we consider S to be a set of subsets (</a:t>
            </a:r>
            <a:r>
              <a:rPr lang="en-US" dirty="0" smtClean="0">
                <a:solidFill>
                  <a:srgbClr val="FF0000"/>
                </a:solidFill>
              </a:rPr>
              <a:t>unordered</a:t>
            </a:r>
            <a:r>
              <a:rPr lang="en-US" dirty="0" smtClean="0"/>
              <a:t>) )</a:t>
            </a:r>
            <a:endParaRPr lang="en-US" dirty="0"/>
          </a:p>
        </p:txBody>
      </p:sp>
    </p:spTree>
    <p:extLst>
      <p:ext uri="{BB962C8B-B14F-4D97-AF65-F5344CB8AC3E}">
        <p14:creationId xmlns:p14="http://schemas.microsoft.com/office/powerpoint/2010/main" val="359446156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Urn Problems</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92500" lnSpcReduction="20000"/>
              </a:bodyPr>
              <a:lstStyle/>
              <a:p>
                <a:r>
                  <a:rPr lang="en-US" dirty="0" smtClean="0"/>
                  <a:t>Box of 12 red and 8 blue balls; select 4 </a:t>
                </a:r>
                <a:r>
                  <a:rPr lang="en-US" dirty="0" smtClean="0">
                    <a:solidFill>
                      <a:srgbClr val="FF0000"/>
                    </a:solidFill>
                  </a:rPr>
                  <a:t>without </a:t>
                </a:r>
                <a:r>
                  <a:rPr lang="en-US" dirty="0" smtClean="0"/>
                  <a:t>replacement</a:t>
                </a:r>
              </a:p>
              <a:p>
                <a:r>
                  <a:rPr lang="en-US" dirty="0" smtClean="0"/>
                  <a:t>Find P(we get exactly 2 balls of each color)</a:t>
                </a:r>
              </a:p>
              <a:p>
                <a:pPr marL="457200" lvl="1" indent="0">
                  <a:buNone/>
                </a:pPr>
                <a:r>
                  <a:rPr lang="en-US" dirty="0" smtClean="0"/>
                  <a:t>Then,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a:rPr>
                          <m:t>𝑆</m:t>
                        </m:r>
                      </m:e>
                    </m:d>
                    <m:r>
                      <a:rPr lang="en-US" b="0" i="1" smtClean="0">
                        <a:latin typeface="Cambria Math"/>
                      </a:rPr>
                      <m:t>= </m:t>
                    </m:r>
                    <m:d>
                      <m:dPr>
                        <m:ctrlPr>
                          <a:rPr lang="en-US" b="0" i="1" smtClean="0">
                            <a:latin typeface="Cambria Math" panose="02040503050406030204" pitchFamily="18" charset="0"/>
                          </a:rPr>
                        </m:ctrlPr>
                      </m:dPr>
                      <m:e>
                        <m:f>
                          <m:fPr>
                            <m:type m:val="noBar"/>
                            <m:ctrlPr>
                              <a:rPr lang="en-US" b="0" i="1" smtClean="0">
                                <a:latin typeface="Cambria Math" panose="02040503050406030204" pitchFamily="18" charset="0"/>
                              </a:rPr>
                            </m:ctrlPr>
                          </m:fPr>
                          <m:num>
                            <m:r>
                              <a:rPr lang="en-US" b="0" i="1" smtClean="0">
                                <a:latin typeface="Cambria Math"/>
                              </a:rPr>
                              <m:t>20</m:t>
                            </m:r>
                          </m:num>
                          <m:den>
                            <m:r>
                              <a:rPr lang="en-US" b="0" i="1" smtClean="0">
                                <a:latin typeface="Cambria Math"/>
                              </a:rPr>
                              <m:t>4</m:t>
                            </m:r>
                          </m:den>
                        </m:f>
                      </m:e>
                    </m:d>
                  </m:oMath>
                </a14:m>
                <a:r>
                  <a:rPr lang="en-US" dirty="0" smtClean="0"/>
                  <a:t>.     Assume outcomes are equally likely (“we select 4 balls at random”)</a:t>
                </a:r>
              </a:p>
              <a:p>
                <a:pPr marL="457200" lvl="1" indent="0">
                  <a:buNone/>
                </a:pPr>
                <a:r>
                  <a:rPr lang="en-US" dirty="0" smtClean="0"/>
                  <a:t>And E = {{r</a:t>
                </a:r>
                <a:r>
                  <a:rPr lang="en-US" baseline="-25000" dirty="0" smtClean="0"/>
                  <a:t>2</a:t>
                </a:r>
                <a:r>
                  <a:rPr lang="en-US" dirty="0" smtClean="0"/>
                  <a:t>,r</a:t>
                </a:r>
                <a:r>
                  <a:rPr lang="en-US" baseline="-25000" dirty="0" smtClean="0"/>
                  <a:t>7</a:t>
                </a:r>
                <a:r>
                  <a:rPr lang="en-US" dirty="0" smtClean="0"/>
                  <a:t>,b</a:t>
                </a:r>
                <a:r>
                  <a:rPr lang="en-US" baseline="-25000" dirty="0"/>
                  <a:t>1</a:t>
                </a:r>
                <a:r>
                  <a:rPr lang="en-US" dirty="0" smtClean="0"/>
                  <a:t>,b</a:t>
                </a:r>
                <a:r>
                  <a:rPr lang="en-US" baseline="-25000" dirty="0" smtClean="0"/>
                  <a:t>3</a:t>
                </a:r>
                <a:r>
                  <a:rPr lang="en-US" dirty="0" smtClean="0"/>
                  <a:t>}, …  }</a:t>
                </a:r>
              </a:p>
              <a:p>
                <a:pPr marL="457200" lvl="1" indent="0">
                  <a:buNone/>
                </a:pPr>
                <a:r>
                  <a:rPr lang="en-US" dirty="0" smtClean="0"/>
                  <a:t>Compute: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a:rPr>
                          <m:t>𝐸</m:t>
                        </m:r>
                      </m:e>
                    </m:d>
                    <m:r>
                      <a:rPr lang="en-US" b="0" i="1" smtClean="0">
                        <a:latin typeface="Cambria Math"/>
                      </a:rPr>
                      <m:t>= </m:t>
                    </m:r>
                    <m:d>
                      <m:dPr>
                        <m:ctrlPr>
                          <a:rPr lang="en-US" b="0" i="1" smtClean="0">
                            <a:latin typeface="Cambria Math" panose="02040503050406030204" pitchFamily="18" charset="0"/>
                          </a:rPr>
                        </m:ctrlPr>
                      </m:dPr>
                      <m:e>
                        <m:f>
                          <m:fPr>
                            <m:type m:val="noBar"/>
                            <m:ctrlPr>
                              <a:rPr lang="en-US" b="0" i="1" smtClean="0">
                                <a:latin typeface="Cambria Math" panose="02040503050406030204" pitchFamily="18" charset="0"/>
                              </a:rPr>
                            </m:ctrlPr>
                          </m:fPr>
                          <m:num>
                            <m:r>
                              <a:rPr lang="en-US" b="0" i="1" smtClean="0">
                                <a:latin typeface="Cambria Math"/>
                              </a:rPr>
                              <m:t>12</m:t>
                            </m:r>
                          </m:num>
                          <m:den>
                            <m:r>
                              <a:rPr lang="en-US" b="0" i="1" smtClean="0">
                                <a:latin typeface="Cambria Math"/>
                              </a:rPr>
                              <m:t>2</m:t>
                            </m:r>
                          </m:den>
                        </m:f>
                      </m:e>
                    </m:d>
                    <m:d>
                      <m:dPr>
                        <m:ctrlPr>
                          <a:rPr lang="en-US" b="0" i="1" smtClean="0">
                            <a:latin typeface="Cambria Math" panose="02040503050406030204" pitchFamily="18" charset="0"/>
                          </a:rPr>
                        </m:ctrlPr>
                      </m:dPr>
                      <m:e>
                        <m:f>
                          <m:fPr>
                            <m:type m:val="noBar"/>
                            <m:ctrlPr>
                              <a:rPr lang="en-US" b="0" i="1" smtClean="0">
                                <a:latin typeface="Cambria Math" panose="02040503050406030204" pitchFamily="18" charset="0"/>
                              </a:rPr>
                            </m:ctrlPr>
                          </m:fPr>
                          <m:num>
                            <m:r>
                              <a:rPr lang="en-US" b="0" i="1" smtClean="0">
                                <a:latin typeface="Cambria Math"/>
                              </a:rPr>
                              <m:t>8</m:t>
                            </m:r>
                          </m:num>
                          <m:den>
                            <m:r>
                              <a:rPr lang="en-US" b="0" i="1" smtClean="0">
                                <a:latin typeface="Cambria Math"/>
                              </a:rPr>
                              <m:t>2</m:t>
                            </m:r>
                          </m:den>
                        </m:f>
                      </m:e>
                    </m:d>
                  </m:oMath>
                </a14:m>
                <a:endParaRPr lang="en-US" dirty="0" smtClean="0"/>
              </a:p>
              <a:p>
                <a:pPr marL="457200" lvl="1" indent="0">
                  <a:buNone/>
                </a:pPr>
                <a:r>
                  <a:rPr lang="en-US" dirty="0" smtClean="0"/>
                  <a:t>Then, </a:t>
                </a:r>
              </a:p>
              <a:p>
                <a:pPr marL="457200" lvl="1" indent="0">
                  <a:buNone/>
                </a:pPr>
                <a14:m>
                  <m:oMathPara xmlns:m="http://schemas.openxmlformats.org/officeDocument/2006/math">
                    <m:oMathParaPr>
                      <m:jc m:val="centerGroup"/>
                    </m:oMathParaPr>
                    <m:oMath xmlns:m="http://schemas.openxmlformats.org/officeDocument/2006/math">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𝐸</m:t>
                          </m:r>
                        </m:e>
                      </m:d>
                      <m:r>
                        <a:rPr lang="en-US" b="0" i="1" smtClean="0">
                          <a:latin typeface="Cambria Math"/>
                        </a:rPr>
                        <m:t>= </m:t>
                      </m:r>
                      <m:f>
                        <m:fPr>
                          <m:ctrlPr>
                            <a:rPr lang="en-US" b="0" i="1" smtClean="0">
                              <a:latin typeface="Cambria Math" panose="02040503050406030204" pitchFamily="18" charset="0"/>
                            </a:rPr>
                          </m:ctrlPr>
                        </m:fPr>
                        <m:num>
                          <m:d>
                            <m:dPr>
                              <m:ctrlPr>
                                <a:rPr lang="en-US" b="0" i="1" smtClean="0">
                                  <a:latin typeface="Cambria Math" panose="02040503050406030204" pitchFamily="18" charset="0"/>
                                </a:rPr>
                              </m:ctrlPr>
                            </m:dPr>
                            <m:e>
                              <m:f>
                                <m:fPr>
                                  <m:type m:val="noBar"/>
                                  <m:ctrlPr>
                                    <a:rPr lang="en-US" b="0" i="1" smtClean="0">
                                      <a:latin typeface="Cambria Math" panose="02040503050406030204" pitchFamily="18" charset="0"/>
                                    </a:rPr>
                                  </m:ctrlPr>
                                </m:fPr>
                                <m:num>
                                  <m:r>
                                    <a:rPr lang="en-US" b="0" i="1" smtClean="0">
                                      <a:latin typeface="Cambria Math"/>
                                    </a:rPr>
                                    <m:t>12</m:t>
                                  </m:r>
                                </m:num>
                                <m:den>
                                  <m:r>
                                    <a:rPr lang="en-US" b="0" i="1" smtClean="0">
                                      <a:latin typeface="Cambria Math"/>
                                    </a:rPr>
                                    <m:t>2</m:t>
                                  </m:r>
                                </m:den>
                              </m:f>
                            </m:e>
                          </m:d>
                          <m:d>
                            <m:dPr>
                              <m:ctrlPr>
                                <a:rPr lang="en-US" b="0" i="1" smtClean="0">
                                  <a:latin typeface="Cambria Math" panose="02040503050406030204" pitchFamily="18" charset="0"/>
                                </a:rPr>
                              </m:ctrlPr>
                            </m:dPr>
                            <m:e>
                              <m:f>
                                <m:fPr>
                                  <m:type m:val="noBar"/>
                                  <m:ctrlPr>
                                    <a:rPr lang="en-US" b="0" i="1" smtClean="0">
                                      <a:latin typeface="Cambria Math" panose="02040503050406030204" pitchFamily="18" charset="0"/>
                                    </a:rPr>
                                  </m:ctrlPr>
                                </m:fPr>
                                <m:num>
                                  <m:r>
                                    <a:rPr lang="en-US" b="0" i="1" smtClean="0">
                                      <a:latin typeface="Cambria Math"/>
                                    </a:rPr>
                                    <m:t>8</m:t>
                                  </m:r>
                                </m:num>
                                <m:den>
                                  <m:r>
                                    <a:rPr lang="en-US" b="0" i="1" smtClean="0">
                                      <a:latin typeface="Cambria Math"/>
                                    </a:rPr>
                                    <m:t>2</m:t>
                                  </m:r>
                                </m:den>
                              </m:f>
                            </m:e>
                          </m:d>
                        </m:num>
                        <m:den>
                          <m:d>
                            <m:dPr>
                              <m:ctrlPr>
                                <a:rPr lang="en-US" b="0" i="1" smtClean="0">
                                  <a:latin typeface="Cambria Math" panose="02040503050406030204" pitchFamily="18" charset="0"/>
                                </a:rPr>
                              </m:ctrlPr>
                            </m:dPr>
                            <m:e>
                              <m:f>
                                <m:fPr>
                                  <m:type m:val="noBar"/>
                                  <m:ctrlPr>
                                    <a:rPr lang="en-US" b="0" i="1" smtClean="0">
                                      <a:latin typeface="Cambria Math" panose="02040503050406030204" pitchFamily="18" charset="0"/>
                                    </a:rPr>
                                  </m:ctrlPr>
                                </m:fPr>
                                <m:num>
                                  <m:r>
                                    <a:rPr lang="en-US" b="0" i="1" smtClean="0">
                                      <a:latin typeface="Cambria Math"/>
                                    </a:rPr>
                                    <m:t>20</m:t>
                                  </m:r>
                                </m:num>
                                <m:den>
                                  <m:r>
                                    <a:rPr lang="en-US" b="0" i="1" smtClean="0">
                                      <a:latin typeface="Cambria Math"/>
                                    </a:rPr>
                                    <m:t>4</m:t>
                                  </m:r>
                                </m:den>
                              </m:f>
                            </m:e>
                          </m:d>
                        </m:den>
                      </m:f>
                    </m:oMath>
                  </m:oMathPara>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481" t="-3504" r="-125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67838947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Urn Problems</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Box of 12 red and 8 blue balls; select 4 </a:t>
            </a:r>
            <a:r>
              <a:rPr lang="en-US" dirty="0" smtClean="0">
                <a:solidFill>
                  <a:srgbClr val="FF0000"/>
                </a:solidFill>
              </a:rPr>
              <a:t>without</a:t>
            </a:r>
            <a:r>
              <a:rPr lang="en-US" dirty="0" smtClean="0"/>
              <a:t> replacement</a:t>
            </a:r>
          </a:p>
          <a:p>
            <a:r>
              <a:rPr lang="en-US" dirty="0" smtClean="0"/>
              <a:t>Find P(we get exactly 2 balls of each color)</a:t>
            </a:r>
          </a:p>
          <a:p>
            <a:pPr marL="457200" lvl="1" indent="0">
              <a:buNone/>
            </a:pPr>
            <a:r>
              <a:rPr lang="en-US" dirty="0" smtClean="0"/>
              <a:t>Now, try other definitions of S:</a:t>
            </a:r>
          </a:p>
          <a:p>
            <a:pPr lvl="1"/>
            <a:r>
              <a:rPr lang="en-US" dirty="0" smtClean="0"/>
              <a:t>balls are </a:t>
            </a:r>
            <a:r>
              <a:rPr lang="en-US" i="1" dirty="0" smtClean="0">
                <a:solidFill>
                  <a:srgbClr val="FF0000"/>
                </a:solidFill>
              </a:rPr>
              <a:t>not</a:t>
            </a:r>
            <a:r>
              <a:rPr lang="en-US" dirty="0" smtClean="0">
                <a:solidFill>
                  <a:srgbClr val="FF0000"/>
                </a:solidFill>
              </a:rPr>
              <a:t> distinct </a:t>
            </a:r>
            <a:r>
              <a:rPr lang="en-US" dirty="0" smtClean="0"/>
              <a:t>(no “numbers”), and we consider the 4 selected balls to be </a:t>
            </a:r>
            <a:r>
              <a:rPr lang="en-US" dirty="0" smtClean="0">
                <a:solidFill>
                  <a:srgbClr val="FF0000"/>
                </a:solidFill>
              </a:rPr>
              <a:t>unordered</a:t>
            </a:r>
          </a:p>
          <a:p>
            <a:pPr lvl="1"/>
            <a:r>
              <a:rPr lang="en-US" dirty="0" smtClean="0"/>
              <a:t>balls are </a:t>
            </a:r>
            <a:r>
              <a:rPr lang="en-US" i="1" dirty="0" smtClean="0">
                <a:solidFill>
                  <a:srgbClr val="FF0000"/>
                </a:solidFill>
              </a:rPr>
              <a:t>not</a:t>
            </a:r>
            <a:r>
              <a:rPr lang="en-US" dirty="0" smtClean="0">
                <a:solidFill>
                  <a:srgbClr val="FF0000"/>
                </a:solidFill>
              </a:rPr>
              <a:t> distinct </a:t>
            </a:r>
            <a:r>
              <a:rPr lang="en-US" dirty="0" smtClean="0"/>
              <a:t>(no “numbers”), and we consider the 4 selected balls to be </a:t>
            </a:r>
            <a:r>
              <a:rPr lang="en-US" dirty="0" smtClean="0">
                <a:solidFill>
                  <a:srgbClr val="FF0000"/>
                </a:solidFill>
              </a:rPr>
              <a:t>ordered</a:t>
            </a:r>
          </a:p>
          <a:p>
            <a:pPr lvl="1"/>
            <a:r>
              <a:rPr lang="en-US" dirty="0" smtClean="0"/>
              <a:t>balls </a:t>
            </a:r>
            <a:r>
              <a:rPr lang="en-US" i="1" dirty="0" smtClean="0"/>
              <a:t>are</a:t>
            </a:r>
            <a:r>
              <a:rPr lang="en-US" dirty="0" smtClean="0"/>
              <a:t> </a:t>
            </a:r>
            <a:r>
              <a:rPr lang="en-US" dirty="0" smtClean="0">
                <a:solidFill>
                  <a:srgbClr val="FF0000"/>
                </a:solidFill>
              </a:rPr>
              <a:t>distinct</a:t>
            </a:r>
            <a:r>
              <a:rPr lang="en-US" dirty="0" smtClean="0"/>
              <a:t> (“numbers”), and we consider the 4 selected balls to be </a:t>
            </a:r>
            <a:r>
              <a:rPr lang="en-US" dirty="0" smtClean="0">
                <a:solidFill>
                  <a:srgbClr val="FF0000"/>
                </a:solidFill>
              </a:rPr>
              <a:t>ordered</a:t>
            </a:r>
          </a:p>
          <a:p>
            <a:pPr lvl="1"/>
            <a:endParaRPr lang="en-US" dirty="0" smtClean="0"/>
          </a:p>
        </p:txBody>
      </p:sp>
    </p:spTree>
    <p:extLst>
      <p:ext uri="{BB962C8B-B14F-4D97-AF65-F5344CB8AC3E}">
        <p14:creationId xmlns:p14="http://schemas.microsoft.com/office/powerpoint/2010/main" val="8012867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3" name="Content Placeholder 2"/>
          <p:cNvSpPr>
            <a:spLocks noGrp="1"/>
          </p:cNvSpPr>
          <p:nvPr>
            <p:ph idx="1"/>
          </p:nvPr>
        </p:nvSpPr>
        <p:spPr/>
        <p:txBody>
          <a:bodyPr/>
          <a:lstStyle/>
          <a:p>
            <a:r>
              <a:rPr lang="en-US" dirty="0" smtClean="0"/>
              <a:t>Pick 5 cards at random from a deck of 52.</a:t>
            </a:r>
          </a:p>
          <a:p>
            <a:r>
              <a:rPr lang="en-US" dirty="0" smtClean="0"/>
              <a:t>Find P(“get exactly 2 spades”)</a:t>
            </a:r>
            <a:endParaRPr lang="en-US" dirty="0"/>
          </a:p>
        </p:txBody>
      </p:sp>
    </p:spTree>
    <p:extLst>
      <p:ext uri="{BB962C8B-B14F-4D97-AF65-F5344CB8AC3E}">
        <p14:creationId xmlns:p14="http://schemas.microsoft.com/office/powerpoint/2010/main" val="4250653099"/>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3" name="Content Placeholder 2"/>
          <p:cNvSpPr>
            <a:spLocks noGrp="1"/>
          </p:cNvSpPr>
          <p:nvPr>
            <p:ph idx="1"/>
          </p:nvPr>
        </p:nvSpPr>
        <p:spPr/>
        <p:txBody>
          <a:bodyPr/>
          <a:lstStyle/>
          <a:p>
            <a:r>
              <a:rPr lang="en-US" dirty="0" smtClean="0"/>
              <a:t>Deal 4 cards: 2 to you, 2 to the dealer</a:t>
            </a:r>
          </a:p>
          <a:p>
            <a:r>
              <a:rPr lang="en-US" dirty="0" smtClean="0"/>
              <a:t>Find P(“neither of you is dealt a blackjack”)</a:t>
            </a:r>
            <a:endParaRPr lang="en-US" dirty="0"/>
          </a:p>
        </p:txBody>
      </p:sp>
    </p:spTree>
    <p:extLst>
      <p:ext uri="{BB962C8B-B14F-4D97-AF65-F5344CB8AC3E}">
        <p14:creationId xmlns:p14="http://schemas.microsoft.com/office/powerpoint/2010/main" val="2350619513"/>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3" name="Content Placeholder 2"/>
          <p:cNvSpPr>
            <a:spLocks noGrp="1"/>
          </p:cNvSpPr>
          <p:nvPr>
            <p:ph idx="1"/>
          </p:nvPr>
        </p:nvSpPr>
        <p:spPr/>
        <p:txBody>
          <a:bodyPr/>
          <a:lstStyle/>
          <a:p>
            <a:r>
              <a:rPr lang="en-US" dirty="0" smtClean="0"/>
              <a:t>Deal a poker player 5 cards from a standard deck of 52</a:t>
            </a:r>
          </a:p>
          <a:p>
            <a:r>
              <a:rPr lang="en-US" dirty="0" smtClean="0"/>
              <a:t>Find P(“he gets a straight”)</a:t>
            </a:r>
          </a:p>
          <a:p>
            <a:r>
              <a:rPr lang="en-US" dirty="0" smtClean="0"/>
              <a:t>Find P(“he gets a full house”)</a:t>
            </a:r>
            <a:endParaRPr lang="en-US" dirty="0"/>
          </a:p>
        </p:txBody>
      </p:sp>
    </p:spTree>
    <p:extLst>
      <p:ext uri="{BB962C8B-B14F-4D97-AF65-F5344CB8AC3E}">
        <p14:creationId xmlns:p14="http://schemas.microsoft.com/office/powerpoint/2010/main" val="4198572654"/>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3" name="Content Placeholder 2"/>
          <p:cNvSpPr>
            <a:spLocks noGrp="1"/>
          </p:cNvSpPr>
          <p:nvPr>
            <p:ph idx="1"/>
          </p:nvPr>
        </p:nvSpPr>
        <p:spPr/>
        <p:txBody>
          <a:bodyPr/>
          <a:lstStyle/>
          <a:p>
            <a:r>
              <a:rPr lang="en-US" dirty="0" smtClean="0"/>
              <a:t>Roll 2 dice</a:t>
            </a:r>
          </a:p>
          <a:p>
            <a:r>
              <a:rPr lang="en-US" dirty="0" smtClean="0"/>
              <a:t>Find P(“sum is 10”)</a:t>
            </a:r>
          </a:p>
          <a:p>
            <a:r>
              <a:rPr lang="en-US" dirty="0" smtClean="0"/>
              <a:t>Find P(“sum is 7”)</a:t>
            </a:r>
            <a:endParaRPr lang="en-US" dirty="0"/>
          </a:p>
        </p:txBody>
      </p:sp>
    </p:spTree>
    <p:extLst>
      <p:ext uri="{BB962C8B-B14F-4D97-AF65-F5344CB8AC3E}">
        <p14:creationId xmlns:p14="http://schemas.microsoft.com/office/powerpoint/2010/main" val="2030740174"/>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3" name="Content Placeholder 2"/>
          <p:cNvSpPr>
            <a:spLocks noGrp="1"/>
          </p:cNvSpPr>
          <p:nvPr>
            <p:ph idx="1"/>
          </p:nvPr>
        </p:nvSpPr>
        <p:spPr/>
        <p:txBody>
          <a:bodyPr/>
          <a:lstStyle/>
          <a:p>
            <a:r>
              <a:rPr lang="en-US" dirty="0" smtClean="0"/>
              <a:t>Urn with 5 red, 6 blue, 8 green balls</a:t>
            </a:r>
          </a:p>
          <a:p>
            <a:r>
              <a:rPr lang="en-US" dirty="0" smtClean="0"/>
              <a:t>Select 3 at random </a:t>
            </a:r>
            <a:r>
              <a:rPr lang="en-US" b="1" i="1" dirty="0" smtClean="0"/>
              <a:t>without replacement</a:t>
            </a:r>
          </a:p>
          <a:p>
            <a:r>
              <a:rPr lang="en-US" dirty="0" smtClean="0"/>
              <a:t>Find P(“all the same color”) = P(E)</a:t>
            </a:r>
          </a:p>
          <a:p>
            <a:r>
              <a:rPr lang="en-US" dirty="0" smtClean="0"/>
              <a:t>Find P(“all different colors”) = P(F)</a:t>
            </a:r>
          </a:p>
          <a:p>
            <a:endParaRPr lang="en-US" dirty="0"/>
          </a:p>
        </p:txBody>
      </p:sp>
    </p:spTree>
    <p:extLst>
      <p:ext uri="{BB962C8B-B14F-4D97-AF65-F5344CB8AC3E}">
        <p14:creationId xmlns:p14="http://schemas.microsoft.com/office/powerpoint/2010/main" val="1353168815"/>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3" name="Content Placeholder 2"/>
          <p:cNvSpPr>
            <a:spLocks noGrp="1"/>
          </p:cNvSpPr>
          <p:nvPr>
            <p:ph idx="1"/>
          </p:nvPr>
        </p:nvSpPr>
        <p:spPr/>
        <p:txBody>
          <a:bodyPr/>
          <a:lstStyle/>
          <a:p>
            <a:r>
              <a:rPr lang="en-US" dirty="0" smtClean="0"/>
              <a:t>Urn with 5 red, 6 blue, 8 green balls</a:t>
            </a:r>
          </a:p>
          <a:p>
            <a:r>
              <a:rPr lang="en-US" dirty="0" smtClean="0"/>
              <a:t>Select 3 at random </a:t>
            </a:r>
            <a:r>
              <a:rPr lang="en-US" b="1" i="1" dirty="0" smtClean="0"/>
              <a:t>with replacement</a:t>
            </a:r>
          </a:p>
          <a:p>
            <a:r>
              <a:rPr lang="en-US" dirty="0" smtClean="0"/>
              <a:t>Find P(“all the same color”) = P(E)</a:t>
            </a:r>
          </a:p>
          <a:p>
            <a:r>
              <a:rPr lang="en-US" dirty="0" smtClean="0"/>
              <a:t>Find P(“all different colors”) = P(F)</a:t>
            </a:r>
          </a:p>
          <a:p>
            <a:endParaRPr lang="en-US" dirty="0"/>
          </a:p>
        </p:txBody>
      </p:sp>
    </p:spTree>
    <p:extLst>
      <p:ext uri="{BB962C8B-B14F-4D97-AF65-F5344CB8AC3E}">
        <p14:creationId xmlns:p14="http://schemas.microsoft.com/office/powerpoint/2010/main" val="3145375386"/>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3" name="Content Placeholder 2"/>
          <p:cNvSpPr>
            <a:spLocks noGrp="1"/>
          </p:cNvSpPr>
          <p:nvPr>
            <p:ph idx="1"/>
          </p:nvPr>
        </p:nvSpPr>
        <p:spPr/>
        <p:txBody>
          <a:bodyPr/>
          <a:lstStyle/>
          <a:p>
            <a:r>
              <a:rPr lang="en-US" dirty="0" smtClean="0"/>
              <a:t>Birthday problem: Room with n people.</a:t>
            </a:r>
          </a:p>
          <a:p>
            <a:r>
              <a:rPr lang="en-US" dirty="0" smtClean="0"/>
              <a:t>Let E = “some 2 people in the room have the same birthday”</a:t>
            </a:r>
          </a:p>
          <a:p>
            <a:r>
              <a:rPr lang="en-US" dirty="0" smtClean="0"/>
              <a:t>Find P(E), for various n</a:t>
            </a:r>
            <a:endParaRPr lang="en-US" dirty="0"/>
          </a:p>
        </p:txBody>
      </p:sp>
    </p:spTree>
    <p:extLst>
      <p:ext uri="{BB962C8B-B14F-4D97-AF65-F5344CB8AC3E}">
        <p14:creationId xmlns:p14="http://schemas.microsoft.com/office/powerpoint/2010/main" val="2421484209"/>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3" name="Content Placeholder 2"/>
          <p:cNvSpPr>
            <a:spLocks noGrp="1"/>
          </p:cNvSpPr>
          <p:nvPr>
            <p:ph idx="1"/>
          </p:nvPr>
        </p:nvSpPr>
        <p:spPr/>
        <p:txBody>
          <a:bodyPr/>
          <a:lstStyle/>
          <a:p>
            <a:r>
              <a:rPr lang="en-US" dirty="0" smtClean="0"/>
              <a:t>[#47, Chap 2, Ross] If there are 12 strangers in a room, what is the probability that no two of them celebrate their birthday in the same month?</a:t>
            </a:r>
            <a:endParaRPr lang="en-US" dirty="0"/>
          </a:p>
        </p:txBody>
      </p:sp>
    </p:spTree>
    <p:extLst>
      <p:ext uri="{BB962C8B-B14F-4D97-AF65-F5344CB8AC3E}">
        <p14:creationId xmlns:p14="http://schemas.microsoft.com/office/powerpoint/2010/main" val="1862006245"/>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3" name="Content Placeholder 2"/>
          <p:cNvSpPr>
            <a:spLocks noGrp="1"/>
          </p:cNvSpPr>
          <p:nvPr>
            <p:ph idx="1"/>
          </p:nvPr>
        </p:nvSpPr>
        <p:spPr/>
        <p:txBody>
          <a:bodyPr/>
          <a:lstStyle/>
          <a:p>
            <a:r>
              <a:rPr lang="en-US" dirty="0" smtClean="0"/>
              <a:t>Deal 52 cards: 13 to each of 4 bridge players</a:t>
            </a:r>
          </a:p>
          <a:p>
            <a:r>
              <a:rPr lang="en-US" dirty="0" smtClean="0"/>
              <a:t>Find P(“one player gets all 13 spades”)</a:t>
            </a:r>
            <a:endParaRPr lang="en-US" dirty="0"/>
          </a:p>
        </p:txBody>
      </p:sp>
    </p:spTree>
    <p:extLst>
      <p:ext uri="{BB962C8B-B14F-4D97-AF65-F5344CB8AC3E}">
        <p14:creationId xmlns:p14="http://schemas.microsoft.com/office/powerpoint/2010/main" val="482045506"/>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3" name="Content Placeholder 2"/>
          <p:cNvSpPr>
            <a:spLocks noGrp="1"/>
          </p:cNvSpPr>
          <p:nvPr>
            <p:ph idx="1"/>
          </p:nvPr>
        </p:nvSpPr>
        <p:spPr/>
        <p:txBody>
          <a:bodyPr/>
          <a:lstStyle/>
          <a:p>
            <a:r>
              <a:rPr lang="en-US" dirty="0" smtClean="0"/>
              <a:t>8 people (4 married couples) sit in a row in a random order</a:t>
            </a:r>
          </a:p>
          <a:p>
            <a:r>
              <a:rPr lang="en-US" dirty="0" smtClean="0"/>
              <a:t>Find P(“each couple sits together”)</a:t>
            </a:r>
          </a:p>
          <a:p>
            <a:endParaRPr lang="en-US" dirty="0"/>
          </a:p>
        </p:txBody>
      </p:sp>
    </p:spTree>
    <p:extLst>
      <p:ext uri="{BB962C8B-B14F-4D97-AF65-F5344CB8AC3E}">
        <p14:creationId xmlns:p14="http://schemas.microsoft.com/office/powerpoint/2010/main" val="1927982766"/>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3" name="Content Placeholder 2"/>
          <p:cNvSpPr>
            <a:spLocks noGrp="1"/>
          </p:cNvSpPr>
          <p:nvPr>
            <p:ph idx="1"/>
          </p:nvPr>
        </p:nvSpPr>
        <p:spPr/>
        <p:txBody>
          <a:bodyPr/>
          <a:lstStyle/>
          <a:p>
            <a:r>
              <a:rPr lang="en-US" dirty="0" smtClean="0"/>
              <a:t>Mixed up shoes:  10 pairs of shoes in a closet.  Pick 8 shoes at random</a:t>
            </a:r>
          </a:p>
          <a:p>
            <a:r>
              <a:rPr lang="en-US" dirty="0" smtClean="0"/>
              <a:t>Find P(“there is no complete pair among 8”)</a:t>
            </a:r>
          </a:p>
          <a:p>
            <a:r>
              <a:rPr lang="en-US" dirty="0" smtClean="0"/>
              <a:t>Find P(“exactly one pair among the 8”)</a:t>
            </a:r>
            <a:endParaRPr lang="en-US" dirty="0"/>
          </a:p>
        </p:txBody>
      </p:sp>
    </p:spTree>
    <p:extLst>
      <p:ext uri="{BB962C8B-B14F-4D97-AF65-F5344CB8AC3E}">
        <p14:creationId xmlns:p14="http://schemas.microsoft.com/office/powerpoint/2010/main" val="37805100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6056</TotalTime>
  <Words>1921</Words>
  <Application>Microsoft Office PowerPoint</Application>
  <PresentationFormat>全屏显示(4:3)</PresentationFormat>
  <Paragraphs>255</Paragraphs>
  <Slides>43</Slides>
  <Notes>6</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43</vt:i4>
      </vt:variant>
    </vt:vector>
  </HeadingPairs>
  <TitlesOfParts>
    <vt:vector size="49" baseType="lpstr">
      <vt:lpstr>宋体</vt:lpstr>
      <vt:lpstr>Arial</vt:lpstr>
      <vt:lpstr>Calibri</vt:lpstr>
      <vt:lpstr>Cambria Math</vt:lpstr>
      <vt:lpstr>Symbol</vt:lpstr>
      <vt:lpstr>Office Theme</vt:lpstr>
      <vt:lpstr>AMS 311</vt:lpstr>
      <vt:lpstr>Text</vt:lpstr>
      <vt:lpstr>PowerPoint 演示文稿</vt:lpstr>
      <vt:lpstr>Background</vt:lpstr>
      <vt:lpstr>A Puzzle</vt:lpstr>
      <vt:lpstr>Review of Basic Counting</vt:lpstr>
      <vt:lpstr>Combinations</vt:lpstr>
      <vt:lpstr>Binomial Theorem</vt:lpstr>
      <vt:lpstr>Subsets</vt:lpstr>
      <vt:lpstr>Multinomial Coefficients</vt:lpstr>
      <vt:lpstr>Basic Set Theory</vt:lpstr>
      <vt:lpstr>Sample Space</vt:lpstr>
      <vt:lpstr>Examples of S</vt:lpstr>
      <vt:lpstr>Examples of S</vt:lpstr>
      <vt:lpstr>Events</vt:lpstr>
      <vt:lpstr>Defining Probability P(E)</vt:lpstr>
      <vt:lpstr>Axioms of Probability</vt:lpstr>
      <vt:lpstr>Fact (1) [Prop 4.1]</vt:lpstr>
      <vt:lpstr>Fact (2) [Prop 4.2]</vt:lpstr>
      <vt:lpstr>Fact (3) [Prop 4.3]</vt:lpstr>
      <vt:lpstr>Fact (4) [Prop 4.4]</vt:lpstr>
      <vt:lpstr>Fact (5)</vt:lpstr>
      <vt:lpstr>Fact (6)</vt:lpstr>
      <vt:lpstr>Example</vt:lpstr>
      <vt:lpstr>Example</vt:lpstr>
      <vt:lpstr>Sample Spaces with Equally Likely Outcomes</vt:lpstr>
      <vt:lpstr>Example</vt:lpstr>
      <vt:lpstr>Example: Urn Problems</vt:lpstr>
      <vt:lpstr>Example: Urn Problems</vt:lpstr>
      <vt:lpstr>Example: Urn Problems</vt:lpstr>
      <vt:lpstr>Example: Urn Problems</vt:lpstr>
      <vt:lpstr>Example: Urn Problems</vt:lpstr>
      <vt:lpstr>Example</vt:lpstr>
      <vt:lpstr>Example</vt:lpstr>
      <vt:lpstr>Example</vt:lpstr>
      <vt:lpstr>Example</vt:lpstr>
      <vt:lpstr>Example</vt:lpstr>
      <vt:lpstr>Example</vt:lpstr>
      <vt:lpstr>Example</vt:lpstr>
      <vt:lpstr>Example</vt:lpstr>
      <vt:lpstr>Example</vt:lpstr>
      <vt:lpstr>Example</vt:lpstr>
      <vt:lpstr>Example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AMS 311</dc:title>
  <dc:creator>Joe</dc:creator>
  <cp:lastModifiedBy>xing</cp:lastModifiedBy>
  <cp:revision>42</cp:revision>
  <dcterms:created xsi:type="dcterms:W3CDTF">2013-08-25T12:37:02Z</dcterms:created>
  <dcterms:modified xsi:type="dcterms:W3CDTF">2026-03-02T10:33:26Z</dcterms:modified>
</cp:coreProperties>
</file>