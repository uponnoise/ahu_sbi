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87" r:id="rId2"/>
    <p:sldId id="490" r:id="rId3"/>
    <p:sldId id="491" r:id="rId4"/>
    <p:sldId id="492" r:id="rId5"/>
    <p:sldId id="494" r:id="rId6"/>
    <p:sldId id="495" r:id="rId7"/>
    <p:sldId id="496" r:id="rId8"/>
    <p:sldId id="497" r:id="rId9"/>
    <p:sldId id="500" r:id="rId10"/>
    <p:sldId id="498" r:id="rId11"/>
    <p:sldId id="499" r:id="rId12"/>
    <p:sldId id="501" r:id="rId13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7F768-C2F4-435A-8089-61447356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Limit theorems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6C5B68-9A5C-4BB2-8888-68D765464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The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weak</a:t>
                </a:r>
                <a:r>
                  <a:rPr lang="en-US" altLang="zh-CN" dirty="0"/>
                  <a:t> law of large numbers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en-US" altLang="zh-CN" dirty="0"/>
                  <a:t> be a sequence of </a:t>
                </a:r>
                <a:r>
                  <a:rPr lang="en-US" altLang="zh-CN" dirty="0" err="1"/>
                  <a:t>i.i.d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r.v</a:t>
                </a:r>
                <a:r>
                  <a:rPr lang="en-US" altLang="zh-CN" dirty="0"/>
                  <a:t>, each having finite mean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. Then, for any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zh-CN" dirty="0"/>
                  <a:t> 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strong </a:t>
                </a:r>
                <a:r>
                  <a:rPr lang="en-US" altLang="zh-CN" dirty="0"/>
                  <a:t>law of large numbers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en-US" altLang="zh-CN" dirty="0"/>
                  <a:t> be a sequence of </a:t>
                </a:r>
                <a:r>
                  <a:rPr lang="en-US" altLang="zh-CN" dirty="0" err="1"/>
                  <a:t>i.i.d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r.v</a:t>
                </a:r>
                <a:r>
                  <a:rPr lang="en-US" altLang="zh-CN" dirty="0"/>
                  <a:t>, each having finite mean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. Then with probability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6C5B68-9A5C-4BB2-8888-68D765464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>
                <a:blip r:embed="rId2"/>
                <a:stretch>
                  <a:fillRect l="-1852" t="-2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36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73C91-E61E-47F9-A22D-0753DCAB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Markov inequality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1FE55D-BB93-4302-BBB8-BE376DF3E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taking nonnegative values, then for any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1FE55D-BB93-4302-BBB8-BE376DF3E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89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9AC28-AB95-45D2-8D38-59551749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Chebyshev inequality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BB5C4-3B4C-40A6-81F6-BDBC5958C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finite mean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, then for any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BB5C4-3B4C-40A6-81F6-BDBC5958C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75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893A9-A2B0-45D6-A4F8-2CBD981F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990600"/>
          </a:xfrm>
        </p:spPr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0F82FD-4662-41CB-AD87-726C6AE0E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17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000" dirty="0"/>
              <a:t>Suppose that it is known that the number of items produced in a factory during a week is a </a:t>
            </a:r>
            <a:r>
              <a:rPr lang="en-US" altLang="zh-CN" sz="3000" dirty="0" err="1"/>
              <a:t>r.v.</a:t>
            </a:r>
            <a:r>
              <a:rPr lang="en-US" altLang="zh-CN" sz="3000" dirty="0"/>
              <a:t> with mean 50.</a:t>
            </a:r>
          </a:p>
          <a:p>
            <a:pPr marL="0" indent="0">
              <a:buNone/>
            </a:pPr>
            <a:r>
              <a:rPr lang="en-US" altLang="zh-CN" sz="3000" dirty="0"/>
              <a:t>(a)What can be said about the probability that this week’s production will exceed 75?</a:t>
            </a:r>
          </a:p>
          <a:p>
            <a:pPr marL="0" indent="0">
              <a:buNone/>
            </a:pPr>
            <a:r>
              <a:rPr lang="en-US" altLang="zh-CN" sz="3000" dirty="0"/>
              <a:t>(b)If the variance of a week’s production is known to equal 25, then what can be said about the probability that this week’s production will be between 40 and 60?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14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FBCEB-F761-46A5-9288-A5A84BCE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A79B31-72F2-48B5-9C2E-FA7F4AE88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The error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uniformly distributed over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/>
                  <a:t>, then estimate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&gt;4}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 two ways. 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A79B31-72F2-48B5-9C2E-FA7F4AE88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2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8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D3E91-55E5-459A-BEF1-22BC4C38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4F3191-04F0-4E13-943C-118305B8F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If var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, then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4F3191-04F0-4E13-943C-118305B8F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05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A8F5E-C19C-4AF1-95F9-FB470357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central limit theorem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FD5F50-4F0A-437D-8FBB-A5148FD9C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3100" dirty="0"/>
                  <a:t>Version 1: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altLang="zh-CN" sz="3100" dirty="0"/>
                  <a:t>be a sequence of </a:t>
                </a:r>
                <a:r>
                  <a:rPr lang="en-US" altLang="zh-CN" sz="3100" dirty="0" err="1"/>
                  <a:t>i.i.d</a:t>
                </a:r>
                <a:r>
                  <a:rPr lang="en-US" altLang="zh-CN" sz="3100" dirty="0"/>
                  <a:t>. </a:t>
                </a:r>
                <a:r>
                  <a:rPr lang="en-US" altLang="zh-CN" sz="3100" dirty="0" err="1"/>
                  <a:t>r.v.</a:t>
                </a:r>
                <a:r>
                  <a:rPr lang="en-US" altLang="zh-CN" sz="3100" dirty="0"/>
                  <a:t> with mean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100" dirty="0"/>
                  <a:t>. Then the distribution of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1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3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3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altLang="zh-CN" sz="31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3100" dirty="0"/>
              </a:p>
              <a:p>
                <a:pPr marL="0" indent="0">
                  <a:buNone/>
                </a:pPr>
                <a:r>
                  <a:rPr lang="en-US" altLang="zh-CN" sz="3100" dirty="0"/>
                  <a:t>Tends to the standard normal as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zh-CN" sz="3100" dirty="0"/>
                  <a:t>. That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31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l-GR" altLang="zh-CN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altLang="zh-CN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1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FD5F50-4F0A-437D-8FBB-A5148FD9C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8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470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73958-ECC7-4D86-B4CC-49E3E59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699D8D-AD33-4B2A-AB45-5471BAA01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A quick application: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If 10 fair dice are rolled, find the approximated probability that the sum obtained is between 30 and 40, inclusive.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Note: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and var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699D8D-AD33-4B2A-AB45-5471BAA01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1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7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35A18F-4F14-453B-9A7F-BDBA42C3C7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Lemma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altLang="zh-CN" dirty="0"/>
                  <a:t>be a sequence of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distribution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moments generating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 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distribution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moment generating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altLang="zh-CN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for all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, then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for all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is continuous.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35A18F-4F14-453B-9A7F-BDBA42C3C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31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EE8FB-0676-49D6-9E3B-80E7E5D1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Central limit theorem for </a:t>
            </a:r>
            <a:br>
              <a:rPr lang="en-US" altLang="zh-CN" dirty="0"/>
            </a:br>
            <a:r>
              <a:rPr lang="en-US" altLang="zh-CN" dirty="0"/>
              <a:t>independent </a:t>
            </a:r>
            <a:r>
              <a:rPr lang="en-US" altLang="zh-CN" dirty="0" err="1"/>
              <a:t>r.v.s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8D5A7E-B1A9-4323-814D-61BC79E39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altLang="zh-CN" sz="2400" dirty="0"/>
                  <a:t>be a sequence of independent </a:t>
                </a:r>
                <a:r>
                  <a:rPr lang="en-US" altLang="zh-CN" sz="2400" dirty="0" err="1"/>
                  <a:t>r.v.</a:t>
                </a:r>
                <a:r>
                  <a:rPr lang="en-US" altLang="zh-CN" sz="2400" dirty="0"/>
                  <a:t> with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and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is uniformly bounded: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/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=∞</m:t>
                        </m:r>
                      </m:e>
                    </m:nary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Then the distribution of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rad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300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300" dirty="0"/>
                  <a:t> </a:t>
                </a:r>
                <a:r>
                  <a:rPr lang="en-US" altLang="zh-CN" sz="2300" dirty="0"/>
                  <a:t>as </a:t>
                </a:r>
                <a14:m>
                  <m:oMath xmlns:m="http://schemas.openxmlformats.org/officeDocument/2006/math"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8D5A7E-B1A9-4323-814D-61BC79E39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52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EB1B7-6E8D-4279-B987-3D4BC099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inequalities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289FCF-6275-46F3-BA54-095E5DF500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Known: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Not known: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Proposition. One-sided Chebyshev inequality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mean 0 and finite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, then for any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289FCF-6275-46F3-BA54-095E5DF500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409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E4A462-FBC1-40BF-AC17-65258FDADA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609600"/>
                <a:ext cx="8229600" cy="5638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Corollary: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var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, then for any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en-US" altLang="zh-CN" dirty="0"/>
                  <a:t>Example: If the number of items produced in a factory during a week is a random variable with mean 100 and variance 400, compute an upper bound on the probability that this week’s </a:t>
                </a:r>
                <a:r>
                  <a:rPr lang="en-US" altLang="zh-CN"/>
                  <a:t>production will be at least 120.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E4A462-FBC1-40BF-AC17-65258FDADA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09600"/>
                <a:ext cx="8229600" cy="5638800"/>
              </a:xfrm>
              <a:blipFill>
                <a:blip r:embed="rId2"/>
                <a:stretch>
                  <a:fillRect l="-1852" t="-1297" r="-296" b="-2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2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76385</TotalTime>
  <Words>624</Words>
  <Application>Microsoft Office PowerPoint</Application>
  <PresentationFormat>全屏显示(4:3)</PresentationFormat>
  <Paragraphs>49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宋体</vt:lpstr>
      <vt:lpstr>Arial</vt:lpstr>
      <vt:lpstr>Calibri</vt:lpstr>
      <vt:lpstr>Cambria Math</vt:lpstr>
      <vt:lpstr>Office Theme</vt:lpstr>
      <vt:lpstr>Limit theorems</vt:lpstr>
      <vt:lpstr>Markov inequality</vt:lpstr>
      <vt:lpstr>Chebyshev inequality</vt:lpstr>
      <vt:lpstr>Example 1</vt:lpstr>
      <vt:lpstr>Example 2</vt:lpstr>
      <vt:lpstr>Example 3</vt:lpstr>
      <vt:lpstr>The central limit theorem</vt:lpstr>
      <vt:lpstr>Example 4</vt:lpstr>
      <vt:lpstr>PowerPoint 演示文稿</vt:lpstr>
      <vt:lpstr>Central limit theorem for  independent r.v.s</vt:lpstr>
      <vt:lpstr>Other inequalities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298</cp:revision>
  <cp:lastPrinted>2026-05-22T04:00:15Z</cp:lastPrinted>
  <dcterms:created xsi:type="dcterms:W3CDTF">2013-08-27T21:54:20Z</dcterms:created>
  <dcterms:modified xsi:type="dcterms:W3CDTF">2026-06-08T10:08:09Z</dcterms:modified>
</cp:coreProperties>
</file>