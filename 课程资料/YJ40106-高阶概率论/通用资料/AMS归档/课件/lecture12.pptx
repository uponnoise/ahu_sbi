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73" r:id="rId2"/>
    <p:sldId id="474" r:id="rId3"/>
    <p:sldId id="475" r:id="rId4"/>
    <p:sldId id="476" r:id="rId5"/>
    <p:sldId id="477" r:id="rId6"/>
    <p:sldId id="478" r:id="rId7"/>
    <p:sldId id="479" r:id="rId8"/>
    <p:sldId id="480" r:id="rId9"/>
    <p:sldId id="481" r:id="rId10"/>
    <p:sldId id="482" r:id="rId11"/>
    <p:sldId id="483" r:id="rId12"/>
    <p:sldId id="484" r:id="rId13"/>
    <p:sldId id="485" r:id="rId14"/>
    <p:sldId id="486" r:id="rId15"/>
  </p:sldIdLst>
  <p:sldSz cx="9144000" cy="6858000" type="screen4x3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E3EB8-04E6-4A39-BB6F-A624F76A5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7.2.2 The Maximum-Minimums </a:t>
            </a:r>
            <a:r>
              <a:rPr lang="en-US" altLang="zh-CN" dirty="0" err="1"/>
              <a:t>Idetity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39B283-FD4A-4B50-9E77-B3F6A707E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Proposition For arbitrary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6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6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6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Step 1: Assume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Step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Step 3: Shift for negative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39B283-FD4A-4B50-9E77-B3F6A707E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b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878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CBBE9-73A9-4CE8-B25A-AF3DBC34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CD4CA4-05E2-42EB-8928-7494E95F1D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Coupon collecting with unequal probabilities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Suppose there are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types of coupons and that each time one collects a coupon, it is, independently of previous coupons collected, a type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coupon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 Find the expected number of coupons one needs to collect to obtain a complete set of at least one of each type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Define: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is the number of coupons one needs to collect to obtain a type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. Then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CD4CA4-05E2-42EB-8928-7494E95F1D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504" r="-1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98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48919-EB21-4D32-AFCC-EACFFC6D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Moments of a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EB92496-D9E6-46B9-864E-8B841E541B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Definition. For a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a positive integer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,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-moment is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Special case: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indicator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for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EB92496-D9E6-46B9-864E-8B841E541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180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AA9CF-5D4E-4915-8851-AB83A68F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09BDE3-5BC0-4407-B293-3C7A0AEFA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Moments of Binomial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09BDE3-5BC0-4407-B293-3C7A0AEFA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47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D3A7E-CBB7-4285-B304-00AD4203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553DAA-ED35-49D4-ABAC-ACE37A58A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Moments of hypergeometric random variables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Suppose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balls are randomly selected from an urn containing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balls, of which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white.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number white balls selected.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−1 )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553DAA-ED35-49D4-ABAC-ACE37A58A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150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EBF5C-E761-417E-929D-E489AD70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2E04794-B5AB-4C93-A7FE-D8A8EF999E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Moments in the match problem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number of people who selects his own hat. 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2E04794-B5AB-4C93-A7FE-D8A8EF999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604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6DE97-E769-4931-A131-3B09B268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82D390-09AE-4ED1-983E-054B2580F3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Another coupon-collecting problem.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Suppose there are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types of coupons and that each time one collects a coupon, it is, independently of previous coupons collected, a type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coupon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 Find the expected value and variance of the number of distinct types of coupons that appear among the first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collected.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82D390-09AE-4ED1-983E-054B2580F3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2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49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4444-E369-4E41-9782-44186304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7.4 Variance and correlations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B3F01C5-E943-4F4F-A1F4-BEF3F83772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Proposition.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independent, then for any functions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B3F01C5-E943-4F4F-A1F4-BEF3F8377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3968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FD544-1F72-45C8-8958-47F019C16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Covariance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DECE4D-3608-4BDB-99FB-6A6C4C0558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Definition: </a:t>
                </a:r>
              </a:p>
              <a:p>
                <a:pPr marL="0" indent="0">
                  <a:buNone/>
                </a:pPr>
                <a:r>
                  <a:rPr lang="en-US" altLang="zh-CN" dirty="0" err="1"/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Properties: 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 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Cov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(ii) 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Var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(iii) 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(iv)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Cov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DECE4D-3608-4BDB-99FB-6A6C4C0558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473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4908B-CDD6-4B69-8A34-B146350A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Variance versus covariance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F40675-ADBC-4DF6-A830-2A4D3B60E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+∑∑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dirty="0"/>
                  <a:t>Here,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independent, then </a:t>
                </a:r>
                <a:r>
                  <a:rPr lang="en-US" altLang="zh-CN" sz="2600" dirty="0" err="1"/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sz="26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600" dirty="0"/>
                  <a:t>Var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6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6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600" dirty="0"/>
              </a:p>
              <a:p>
                <a:pPr marL="0" indent="0">
                  <a:buNone/>
                </a:pPr>
                <a:r>
                  <a:rPr lang="en-US" altLang="zh-CN" dirty="0"/>
                  <a:t>The convers is not true.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=−1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 sz="2800" b="0" dirty="0"/>
              </a:p>
              <a:p>
                <a:pPr marL="0" indent="0">
                  <a:buNone/>
                </a:pPr>
                <a:r>
                  <a:rPr lang="en-US" altLang="zh-CN" dirty="0"/>
                  <a:t>Define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F40675-ADBC-4DF6-A830-2A4D3B60E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53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6DF3D-FEC4-48FA-9A00-E088BECD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16F92A4-2FA9-4C8C-8362-7EF76ED93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independent and identically distributed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having mean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 and the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. The quantity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sample mean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deviation. The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is the sample variance. Find (a) Var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and (b)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16F92A4-2FA9-4C8C-8362-7EF76ED93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49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0D80CA-9FA7-4652-9A50-E7E65E14A3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838200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Example 2. Variance of a binomial random variable is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Example 3. Two indicator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Example 4.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</a:t>
                </a:r>
                <a:r>
                  <a:rPr lang="en-US" altLang="zh-CN" dirty="0" err="1"/>
                  <a:t>i.i.d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having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.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Show </a:t>
                </a:r>
                <a:r>
                  <a:rPr lang="en-US" altLang="zh-CN" dirty="0" err="1"/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0D80CA-9FA7-4652-9A50-E7E65E14A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838200"/>
                <a:ext cx="8229600" cy="4525963"/>
              </a:xfrm>
              <a:blipFill>
                <a:blip r:embed="rId2"/>
                <a:stretch>
                  <a:fillRect l="-1852" t="-1752" b="-1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067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73436-FBE8-4FDB-B51E-7F0481A5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BA404C-E895-4306-BF1B-969BFA2335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Consider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independent trials, each of which results in any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possible outcomes with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 If we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/>
                  <a:t>, denote the number of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trials that result in outcome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have the multinomial distribution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3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3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=1,…, </m:t>
                        </m:r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3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sSubPr>
                            <m:ctrlPr>
                              <a:rPr lang="en-US" altLang="zh-CN" sz="3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!⋯</m:t>
                        </m:r>
                        <m:sSub>
                          <m:sSubPr>
                            <m:ctrlPr>
                              <a:rPr lang="en-US" altLang="zh-CN" sz="3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bSup>
                      <m:sSubSupPr>
                        <m:ctrlPr>
                          <a:rPr lang="en-US" altLang="zh-CN" sz="3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altLang="zh-CN" sz="3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altLang="zh-CN" sz="3100" i="1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31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sSub>
                          <m:sSubPr>
                            <m:ctrlPr>
                              <a:rPr lang="en-US" altLang="zh-CN" sz="3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1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zh-CN" sz="3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1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3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1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310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negatively correlated.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BA404C-E895-4306-BF1B-969BFA2335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504" b="-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339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938A5-7F3D-427A-BF82-BB641B2A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correlation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2F769E7-A693-4A28-870F-65C203EF9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Var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Var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Property: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 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2F769E7-A693-4A28-870F-65C203EF9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42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76110</TotalTime>
  <Words>747</Words>
  <Application>Microsoft Office PowerPoint</Application>
  <PresentationFormat>全屏显示(4:3)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宋体</vt:lpstr>
      <vt:lpstr>Arial</vt:lpstr>
      <vt:lpstr>Calibri</vt:lpstr>
      <vt:lpstr>Cambria Math</vt:lpstr>
      <vt:lpstr>Office Theme</vt:lpstr>
      <vt:lpstr>7.2.2 The Maximum-Minimums Idetity</vt:lpstr>
      <vt:lpstr>Example 1</vt:lpstr>
      <vt:lpstr>7.3 Moments of a r.v.</vt:lpstr>
      <vt:lpstr>Example 1</vt:lpstr>
      <vt:lpstr>Example 2</vt:lpstr>
      <vt:lpstr>Example 3</vt:lpstr>
      <vt:lpstr>Example 4</vt:lpstr>
      <vt:lpstr>7.4 Variance and correlations</vt:lpstr>
      <vt:lpstr>Covariance</vt:lpstr>
      <vt:lpstr>Variance versus covariance</vt:lpstr>
      <vt:lpstr>Example 1</vt:lpstr>
      <vt:lpstr>PowerPoint 演示文稿</vt:lpstr>
      <vt:lpstr>Example 5</vt:lpstr>
      <vt:lpstr>The correlation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255</cp:revision>
  <cp:lastPrinted>2026-05-10T06:30:12Z</cp:lastPrinted>
  <dcterms:created xsi:type="dcterms:W3CDTF">2013-08-27T21:54:20Z</dcterms:created>
  <dcterms:modified xsi:type="dcterms:W3CDTF">2026-05-22T02:39:40Z</dcterms:modified>
</cp:coreProperties>
</file>