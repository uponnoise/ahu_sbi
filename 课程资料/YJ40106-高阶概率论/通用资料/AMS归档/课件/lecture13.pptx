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81" r:id="rId2"/>
    <p:sldId id="482" r:id="rId3"/>
    <p:sldId id="483" r:id="rId4"/>
    <p:sldId id="486" r:id="rId5"/>
    <p:sldId id="487" r:id="rId6"/>
    <p:sldId id="489" r:id="rId7"/>
    <p:sldId id="488" r:id="rId8"/>
    <p:sldId id="490" r:id="rId9"/>
    <p:sldId id="491" r:id="rId10"/>
    <p:sldId id="492" r:id="rId11"/>
    <p:sldId id="493" r:id="rId12"/>
    <p:sldId id="494" r:id="rId13"/>
    <p:sldId id="495" r:id="rId14"/>
    <p:sldId id="496" r:id="rId15"/>
    <p:sldId id="497" r:id="rId16"/>
  </p:sldIdLst>
  <p:sldSz cx="9144000" cy="6858000" type="screen4x3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7A5C3-0C48-4A28-9B54-580079D6ADAF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47487-FE42-471D-BE12-B804E3F12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8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47487-FE42-471D-BE12-B804E3F127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51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5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2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3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8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4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8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9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7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A0228-ABE1-4604-A714-F25D34DAF5C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CD53E-91A7-4750-8DAF-FC98E89A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9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FD544-1F72-45C8-8958-47F019C16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Covariance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DECE4D-3608-4BDB-99FB-6A6C4C0558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Definition: </a:t>
                </a:r>
              </a:p>
              <a:p>
                <a:pPr marL="0" indent="0">
                  <a:buNone/>
                </a:pPr>
                <a:r>
                  <a:rPr lang="en-US" altLang="zh-CN" dirty="0" err="1"/>
                  <a:t>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Properties: (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) 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Cov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   (ii) 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Var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   (iii) 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(iv) </a:t>
                </a:r>
                <a:r>
                  <a:rPr lang="en-US" altLang="zh-CN" sz="3000" dirty="0" err="1"/>
                  <a:t>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pitchFamily="18" charset="0"/>
                              </a:rPr>
                              <m:t>Cov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altLang="zh-CN" sz="3000" dirty="0"/>
                  <a:t> </a:t>
                </a:r>
                <a:endParaRPr lang="zh-CN" altLang="en-US" sz="3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DECE4D-3608-4BDB-99FB-6A6C4C0558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473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4908B-CDD6-4B69-8A34-B146350A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Variance versus covariance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7F40675-ADBC-4DF6-A830-2A4D3B60E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+∑∑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dirty="0"/>
                  <a:t>Here,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independent, then </a:t>
                </a:r>
                <a:r>
                  <a:rPr lang="en-US" altLang="zh-CN" sz="2600" dirty="0" err="1"/>
                  <a:t>Cov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sz="26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sz="2600" dirty="0"/>
                  <a:t>Var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6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6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600" dirty="0"/>
              </a:p>
              <a:p>
                <a:pPr marL="0" indent="0">
                  <a:buNone/>
                </a:pPr>
                <a:r>
                  <a:rPr lang="en-US" altLang="zh-CN" dirty="0"/>
                  <a:t>The convers is not true.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=−1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altLang="zh-CN" sz="2800" b="0" dirty="0"/>
              </a:p>
              <a:p>
                <a:pPr marL="0" indent="0">
                  <a:buNone/>
                </a:pPr>
                <a:r>
                  <a:rPr lang="en-US" altLang="zh-CN" dirty="0"/>
                  <a:t>Define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7F40675-ADBC-4DF6-A830-2A4D3B60E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53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6DF3D-FEC4-48FA-9A00-E088BECDD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16F92A4-2FA9-4C8C-8362-7EF76ED933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independent and identically distributed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having mean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 and the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. The quantity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sample mean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deviation. The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is the sample variance. Find (a) Var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and (b)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16F92A4-2FA9-4C8C-8362-7EF76ED93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49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938A5-7F3D-427A-BF82-BB641B2A6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correlation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2F769E7-A693-4A28-870F-65C203EF9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Var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Var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Property: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        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2F769E7-A693-4A28-870F-65C203EF9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425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7F768-C2F4-435A-8089-614473563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Conditional Expectation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6C5B68-9A5C-4BB2-8888-68D7654644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Recall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2-dimentional discrete </a:t>
                </a:r>
                <a:r>
                  <a:rPr lang="en-US" altLang="zh-CN" dirty="0" err="1"/>
                  <a:t>r.v.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The </a:t>
                </a:r>
                <a:r>
                  <a:rPr lang="en-US" altLang="zh-CN" dirty="0" err="1"/>
                  <a:t>pmf</a:t>
                </a:r>
                <a:r>
                  <a:rPr lang="en-US" altLang="zh-CN" dirty="0"/>
                  <a:t>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given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View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/>
                  <a:t> as a new random variable.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     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6C5B68-9A5C-4BB2-8888-68D765464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>
                <a:blip r:embed="rId2"/>
                <a:stretch>
                  <a:fillRect l="-1852" t="-1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36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B1D1A7-9445-4B30-BF33-6C551B211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19104A-04D1-4219-840B-680BD0C2D2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CN" sz="30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3000" dirty="0"/>
                  <a:t> </a:t>
                </a:r>
                <a:r>
                  <a:rPr lang="en-US" altLang="zh-CN" sz="30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3000" dirty="0"/>
                  <a:t> </a:t>
                </a:r>
                <a:r>
                  <a:rPr lang="en-US" altLang="zh-CN" sz="3000" dirty="0"/>
                  <a:t>are independent binomial </a:t>
                </a:r>
                <a:r>
                  <a:rPr lang="en-US" altLang="zh-CN" sz="3000" dirty="0" err="1"/>
                  <a:t>r.v.</a:t>
                </a:r>
                <a:r>
                  <a:rPr lang="en-US" altLang="zh-CN" sz="3000" dirty="0"/>
                  <a:t> with identical parameters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/>
                  <a:t> </a:t>
                </a:r>
                <a:r>
                  <a:rPr lang="en-US" altLang="zh-CN" sz="30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000" dirty="0"/>
                  <a:t> </a:t>
                </a:r>
                <a:r>
                  <a:rPr lang="en-US" altLang="zh-CN" sz="3000" dirty="0"/>
                  <a:t>calculate the conditional expected value of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3000" dirty="0"/>
                  <a:t> </a:t>
                </a:r>
                <a:r>
                  <a:rPr lang="en-US" altLang="zh-CN" sz="3000" dirty="0"/>
                  <a:t>given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zh-CN" altLang="en-US" sz="3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19104A-04D1-4219-840B-680BD0C2D2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 r="-1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64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98326E-F1B5-43F1-8A54-9EF4A08CED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81000"/>
                <a:ext cx="8763000" cy="574516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Assume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2-dimentional continuous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and the joint pdf is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then the conditional pdf of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given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𝑑𝑖𝑠𝑐𝑟𝑒𝑡𝑒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nary>
                                <m:nary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𝑐𝑜𝑛𝑡𝑖𝑛𝑢𝑜𝑢𝑠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98326E-F1B5-43F1-8A54-9EF4A08CED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81000"/>
                <a:ext cx="8763000" cy="5745163"/>
              </a:xfrm>
              <a:blipFill>
                <a:blip r:embed="rId2"/>
                <a:stretch>
                  <a:fillRect l="-1599" t="-1274" r="-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803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73C91-E61E-47F9-A22D-0753DCABA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1FE55D-BB93-4302-BBB8-BE376DF3E8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that the joint density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,0&lt;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Compute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Fact: It is a function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treat it as a new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and consider the expectation.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1FE55D-BB93-4302-BBB8-BE376DF3E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891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9AC28-AB95-45D2-8D38-59551749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Proposition 5.1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BBB5C4-3B4C-40A6-81F6-BDBC5958C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The conditional expectation formula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BBB5C4-3B4C-40A6-81F6-BDBC5958C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754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893A9-A2B0-45D6-A4F8-2CBD981F5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990600"/>
          </a:xfrm>
        </p:spPr>
        <p:txBody>
          <a:bodyPr/>
          <a:lstStyle/>
          <a:p>
            <a:r>
              <a:rPr lang="en-US" altLang="zh-CN" dirty="0"/>
              <a:t>Example 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0F82FD-4662-41CB-AD87-726C6AE0E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541734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CN" sz="3000" dirty="0"/>
                  <a:t>A miner is trapped in a mine containing 3 doors. The first door leads to a tunnel that will take him to safety after 3 hours of travel. The second door leads to a tunnel that will return him to the mine after 5 hours of travel. The third door leads to a tunnel that will return him to the mine after 7 hours. If we assume that the miner is at all times equally likely to choose any one of the doors, what is the expected length of time until he reaches safety?</a:t>
                </a:r>
              </a:p>
              <a:p>
                <a:pPr marL="0" indent="0">
                  <a:buNone/>
                </a:pPr>
                <a:endParaRPr lang="en-US" altLang="zh-CN" sz="3000" dirty="0"/>
              </a:p>
              <a:p>
                <a:pPr marL="0" indent="0">
                  <a:buNone/>
                </a:pPr>
                <a:r>
                  <a:rPr lang="en-US" altLang="zh-CN" sz="30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3000" dirty="0"/>
                  <a:t> be the </a:t>
                </a:r>
                <a:r>
                  <a:rPr lang="en-US" altLang="zh-CN" sz="3000" dirty="0" err="1"/>
                  <a:t>r.v.</a:t>
                </a:r>
                <a:r>
                  <a:rPr lang="en-US" altLang="zh-CN" sz="3000" dirty="0"/>
                  <a:t> which is the time until the miner reaches safety. Let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3000" dirty="0"/>
                  <a:t> denote the door he initially chooses.</a:t>
                </a:r>
              </a:p>
              <a:p>
                <a:pPr marL="0" indent="0">
                  <a:buNone/>
                </a:pPr>
                <a:endParaRPr lang="en-US" altLang="zh-CN" sz="300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0F82FD-4662-41CB-AD87-726C6AE0E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5417344"/>
              </a:xfrm>
              <a:blipFill>
                <a:blip r:embed="rId2"/>
                <a:stretch>
                  <a:fillRect l="-1481" t="-1914" r="-444" b="-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149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31A5CAC-0445-46E6-82BB-20FBB3B87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6096000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altLang="zh-CN" sz="2800" dirty="0"/>
                  <a:t>Example 4: </a:t>
                </a:r>
                <a:r>
                  <a:rPr lang="en-US" altLang="zh-CN" sz="3000" dirty="0"/>
                  <a:t>Suppose that the number of people entering a department store on a given day is a </a:t>
                </a:r>
                <a:r>
                  <a:rPr lang="en-US" altLang="zh-CN" sz="3000" dirty="0" err="1"/>
                  <a:t>r.v.</a:t>
                </a:r>
                <a:r>
                  <a:rPr lang="en-US" altLang="zh-CN" sz="3000" dirty="0"/>
                  <a:t> with mean 50. Suppose further that the amounts of money spent by these customers are independent </a:t>
                </a:r>
                <a:r>
                  <a:rPr lang="en-US" altLang="zh-CN" sz="3000" dirty="0" err="1"/>
                  <a:t>r.v.</a:t>
                </a:r>
                <a:r>
                  <a:rPr lang="en-US" altLang="zh-CN" sz="3000" dirty="0"/>
                  <a:t> having a common mean of $8. Finally, suppose also that the amount of money spent by a customer is also independent of the total number of customers who enter the store. What is the expected amount of money spent in the store on a given day?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the number of customers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/>
                  <a:t>the amount of money spent by the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3000" dirty="0"/>
                  <a:t>-</a:t>
                </a:r>
                <a:r>
                  <a:rPr lang="en-US" altLang="zh-CN" sz="3000" dirty="0" err="1"/>
                  <a:t>th</a:t>
                </a:r>
                <a:r>
                  <a:rPr lang="en-US" altLang="zh-CN" sz="3000" dirty="0"/>
                  <a:t> customer</a:t>
                </a:r>
              </a:p>
              <a:p>
                <a:pPr marL="0" indent="0" algn="just">
                  <a:buNone/>
                </a:pPr>
                <a:endParaRPr lang="zh-CN" altLang="en-US" sz="3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31A5CAC-0445-46E6-82BB-20FBB3B87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6096000"/>
              </a:xfrm>
              <a:blipFill>
                <a:blip r:embed="rId3"/>
                <a:stretch>
                  <a:fillRect l="-1704" t="-2000" r="-1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981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FBCEB-F761-46A5-9288-A5A84BCE4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5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A79B31-72F2-48B5-9C2E-FA7F4AE88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Variance of the geometric distribution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Independent trials, each resulting in a success with probability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dirty="0"/>
                  <a:t>, are successively performed. Let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be the time of the first success. Find Var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To compute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 Consider a 0-1 </a:t>
                </a:r>
                <a:r>
                  <a:rPr lang="en-US" altLang="zh-CN" dirty="0" err="1"/>
                  <a:t>r.v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for the first trial 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A79B31-72F2-48B5-9C2E-FA7F4AE88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83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D3E91-55E5-459A-BEF1-22BC4C38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4F3191-04F0-4E13-943C-118305B8F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 </m:t>
                    </m:r>
                  </m:oMath>
                </a14:m>
                <a:r>
                  <a:rPr lang="en-US" altLang="zh-CN" dirty="0"/>
                  <a:t>be a sequence of independent uniform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 err="1"/>
                  <a:t>r.v.</a:t>
                </a:r>
                <a:r>
                  <a:rPr lang="en-US" altLang="zh-CN" dirty="0"/>
                  <a:t> Find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&gt;1}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Consider a general problem,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altLang="zh-CN" dirty="0"/>
                  <a:t>, let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: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Conditional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4F3191-04F0-4E13-943C-118305B8F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052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A8F5E-C19C-4AF1-95F9-FB470357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7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FD5F50-4F0A-437D-8FBB-A5148FD9CB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3100" dirty="0"/>
                  <a:t>Consider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100" dirty="0"/>
                  <a:t> </a:t>
                </a:r>
                <a:r>
                  <a:rPr lang="en-US" altLang="zh-CN" sz="3100" dirty="0"/>
                  <a:t>independent trials, each of which results in one of the outcomes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3100" dirty="0"/>
                  <a:t>, with 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100" dirty="0"/>
                  <a:t> </a:t>
                </a:r>
                <a:r>
                  <a:rPr lang="en-US" altLang="zh-CN" sz="3100" dirty="0"/>
                  <a:t>respectively,</a:t>
                </a:r>
                <a:r>
                  <a:rPr lang="zh-CN" altLang="en-US" sz="3100" dirty="0"/>
                  <a:t> </a:t>
                </a:r>
                <a:r>
                  <a:rPr lang="en-US" altLang="zh-CN" sz="31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3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3100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100" dirty="0"/>
                  <a:t> </a:t>
                </a:r>
                <a:r>
                  <a:rPr lang="en-US" altLang="zh-CN" sz="3100" dirty="0"/>
                  <a:t>denote the number of trials that result in outcome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3100" dirty="0"/>
                  <a:t>. For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3100" dirty="0"/>
                  <a:t>, find</a:t>
                </a:r>
              </a:p>
              <a:p>
                <a:pPr marL="0" indent="0">
                  <a:buNone/>
                </a:pPr>
                <a:r>
                  <a:rPr lang="en-US" altLang="zh-CN" sz="3100" dirty="0"/>
                  <a:t>(a) </a:t>
                </a:r>
                <a14:m>
                  <m:oMath xmlns:m="http://schemas.openxmlformats.org/officeDocument/2006/math"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zh-CN" altLang="en-US" sz="3100" dirty="0"/>
                  <a:t> </a:t>
                </a:r>
                <a:r>
                  <a:rPr lang="en-US" altLang="zh-CN" sz="3100" dirty="0"/>
                  <a:t>and (b) </a:t>
                </a:r>
                <a14:m>
                  <m:oMath xmlns:m="http://schemas.openxmlformats.org/officeDocument/2006/math">
                    <m:r>
                      <a:rPr lang="en-US" altLang="zh-CN" sz="31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1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1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31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100" dirty="0"/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7FD5F50-4F0A-437D-8FBB-A5148FD9CB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8" t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470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73958-ECC7-4D86-B4CC-49E3E593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8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699D8D-AD33-4B2A-AB45-5471BAA01C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Show the correlation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 is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Recall: marginal distribution is normal.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dirty="0"/>
                  <a:t> is normal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To compute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699D8D-AD33-4B2A-AB45-5471BAA01C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423D73-C213-497C-990E-B6F075A9C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8229600" cy="296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9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76221</TotalTime>
  <Words>904</Words>
  <Application>Microsoft Office PowerPoint</Application>
  <PresentationFormat>全屏显示(4:3)</PresentationFormat>
  <Paragraphs>77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宋体</vt:lpstr>
      <vt:lpstr>Arial</vt:lpstr>
      <vt:lpstr>Calibri</vt:lpstr>
      <vt:lpstr>Cambria Math</vt:lpstr>
      <vt:lpstr>Office Theme</vt:lpstr>
      <vt:lpstr>Covariance</vt:lpstr>
      <vt:lpstr>Variance versus covariance</vt:lpstr>
      <vt:lpstr>Example 1</vt:lpstr>
      <vt:lpstr>The correlation</vt:lpstr>
      <vt:lpstr>7.5 Conditional Expectation</vt:lpstr>
      <vt:lpstr>Example 1</vt:lpstr>
      <vt:lpstr>PowerPoint 演示文稿</vt:lpstr>
      <vt:lpstr>Example 2</vt:lpstr>
      <vt:lpstr>Proposition 5.1</vt:lpstr>
      <vt:lpstr>Example 3</vt:lpstr>
      <vt:lpstr>PowerPoint 演示文稿</vt:lpstr>
      <vt:lpstr>Example 5</vt:lpstr>
      <vt:lpstr>Example 6</vt:lpstr>
      <vt:lpstr>Example 7</vt:lpstr>
      <vt:lpstr>Example 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311</dc:title>
  <dc:creator>Joe</dc:creator>
  <cp:lastModifiedBy>xing</cp:lastModifiedBy>
  <cp:revision>274</cp:revision>
  <cp:lastPrinted>2026-05-22T04:00:15Z</cp:lastPrinted>
  <dcterms:created xsi:type="dcterms:W3CDTF">2013-08-27T21:54:20Z</dcterms:created>
  <dcterms:modified xsi:type="dcterms:W3CDTF">2026-05-22T04:05:16Z</dcterms:modified>
</cp:coreProperties>
</file>