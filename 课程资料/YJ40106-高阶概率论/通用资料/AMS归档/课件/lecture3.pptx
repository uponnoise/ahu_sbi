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365" r:id="rId2"/>
    <p:sldId id="367" r:id="rId3"/>
    <p:sldId id="347" r:id="rId4"/>
    <p:sldId id="366" r:id="rId5"/>
    <p:sldId id="348" r:id="rId6"/>
    <p:sldId id="368" r:id="rId7"/>
    <p:sldId id="349" r:id="rId8"/>
    <p:sldId id="350" r:id="rId9"/>
    <p:sldId id="370" r:id="rId10"/>
    <p:sldId id="371" r:id="rId11"/>
    <p:sldId id="351" r:id="rId12"/>
    <p:sldId id="369" r:id="rId13"/>
    <p:sldId id="352" r:id="rId14"/>
    <p:sldId id="353" r:id="rId15"/>
    <p:sldId id="354" r:id="rId16"/>
    <p:sldId id="355" r:id="rId17"/>
    <p:sldId id="356" r:id="rId18"/>
    <p:sldId id="357" r:id="rId19"/>
    <p:sldId id="358" r:id="rId20"/>
    <p:sldId id="359" r:id="rId21"/>
    <p:sldId id="360" r:id="rId22"/>
    <p:sldId id="361" r:id="rId23"/>
    <p:sldId id="362"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47A5C3-0C48-4A28-9B54-580079D6ADAF}" type="datetimeFigureOut">
              <a:rPr lang="en-US" smtClean="0"/>
              <a:t>3/10/2026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947487-FE42-471D-BE12-B804E3F12713}" type="slidenum">
              <a:rPr lang="en-US" smtClean="0"/>
              <a:t>‹#›</a:t>
            </a:fld>
            <a:endParaRPr lang="en-US"/>
          </a:p>
        </p:txBody>
      </p:sp>
    </p:spTree>
    <p:extLst>
      <p:ext uri="{BB962C8B-B14F-4D97-AF65-F5344CB8AC3E}">
        <p14:creationId xmlns:p14="http://schemas.microsoft.com/office/powerpoint/2010/main" val="1130188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Example 4h, Ross</a:t>
            </a:r>
            <a:endParaRPr lang="en-US" dirty="0"/>
          </a:p>
        </p:txBody>
      </p:sp>
      <p:sp>
        <p:nvSpPr>
          <p:cNvPr id="4" name="Slide Number Placeholder 3"/>
          <p:cNvSpPr>
            <a:spLocks noGrp="1"/>
          </p:cNvSpPr>
          <p:nvPr>
            <p:ph type="sldNum" sz="quarter" idx="10"/>
          </p:nvPr>
        </p:nvSpPr>
        <p:spPr/>
        <p:txBody>
          <a:bodyPr/>
          <a:lstStyle/>
          <a:p>
            <a:fld id="{24947487-FE42-471D-BE12-B804E3F12713}" type="slidenum">
              <a:rPr lang="en-US" smtClean="0"/>
              <a:t>5</a:t>
            </a:fld>
            <a:endParaRPr lang="en-US"/>
          </a:p>
        </p:txBody>
      </p:sp>
    </p:spTree>
    <p:extLst>
      <p:ext uri="{BB962C8B-B14F-4D97-AF65-F5344CB8AC3E}">
        <p14:creationId xmlns:p14="http://schemas.microsoft.com/office/powerpoint/2010/main" val="388349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Example 4h, Ross</a:t>
            </a:r>
            <a:endParaRPr lang="en-US" dirty="0"/>
          </a:p>
        </p:txBody>
      </p:sp>
      <p:sp>
        <p:nvSpPr>
          <p:cNvPr id="4" name="Slide Number Placeholder 3"/>
          <p:cNvSpPr>
            <a:spLocks noGrp="1"/>
          </p:cNvSpPr>
          <p:nvPr>
            <p:ph type="sldNum" sz="quarter" idx="10"/>
          </p:nvPr>
        </p:nvSpPr>
        <p:spPr/>
        <p:txBody>
          <a:bodyPr/>
          <a:lstStyle/>
          <a:p>
            <a:fld id="{24947487-FE42-471D-BE12-B804E3F12713}" type="slidenum">
              <a:rPr lang="en-US" smtClean="0"/>
              <a:t>6</a:t>
            </a:fld>
            <a:endParaRPr lang="en-US"/>
          </a:p>
        </p:txBody>
      </p:sp>
    </p:spTree>
    <p:extLst>
      <p:ext uri="{BB962C8B-B14F-4D97-AF65-F5344CB8AC3E}">
        <p14:creationId xmlns:p14="http://schemas.microsoft.com/office/powerpoint/2010/main" val="2269415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Example 4h, Ross</a:t>
            </a:r>
            <a:endParaRPr lang="en-US"/>
          </a:p>
        </p:txBody>
      </p:sp>
      <p:sp>
        <p:nvSpPr>
          <p:cNvPr id="4" name="Slide Number Placeholder 3"/>
          <p:cNvSpPr>
            <a:spLocks noGrp="1"/>
          </p:cNvSpPr>
          <p:nvPr>
            <p:ph type="sldNum" sz="quarter" idx="10"/>
          </p:nvPr>
        </p:nvSpPr>
        <p:spPr/>
        <p:txBody>
          <a:bodyPr/>
          <a:lstStyle/>
          <a:p>
            <a:fld id="{24947487-FE42-471D-BE12-B804E3F12713}" type="slidenum">
              <a:rPr lang="en-US" smtClean="0"/>
              <a:t>7</a:t>
            </a:fld>
            <a:endParaRPr lang="en-US"/>
          </a:p>
        </p:txBody>
      </p:sp>
    </p:spTree>
    <p:extLst>
      <p:ext uri="{BB962C8B-B14F-4D97-AF65-F5344CB8AC3E}">
        <p14:creationId xmlns:p14="http://schemas.microsoft.com/office/powerpoint/2010/main" val="388349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ABA0228-ABE1-4604-A714-F25D34DAF5CE}"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118655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BA0228-ABE1-4604-A714-F25D34DAF5CE}"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1851925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BA0228-ABE1-4604-A714-F25D34DAF5CE}"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3043333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ABA0228-ABE1-4604-A714-F25D34DAF5CE}"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1303681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ABA0228-ABE1-4604-A714-F25D34DAF5CE}"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660546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ABA0228-ABE1-4604-A714-F25D34DAF5CE}" type="datetimeFigureOut">
              <a:rPr lang="en-US" smtClean="0"/>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452165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BA0228-ABE1-4604-A714-F25D34DAF5CE}" type="datetimeFigureOut">
              <a:rPr lang="en-US" smtClean="0"/>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375938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BA0228-ABE1-4604-A714-F25D34DAF5CE}"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3706197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BA0228-ABE1-4604-A714-F25D34DAF5CE}"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2051362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BA0228-ABE1-4604-A714-F25D34DAF5CE}"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1071619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BA0228-ABE1-4604-A714-F25D34DAF5CE}"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CCD53E-91A7-4750-8DAF-FC98E89A8DF6}" type="slidenum">
              <a:rPr lang="en-US" smtClean="0"/>
              <a:t>‹#›</a:t>
            </a:fld>
            <a:endParaRPr lang="en-US"/>
          </a:p>
        </p:txBody>
      </p:sp>
    </p:spTree>
    <p:extLst>
      <p:ext uri="{BB962C8B-B14F-4D97-AF65-F5344CB8AC3E}">
        <p14:creationId xmlns:p14="http://schemas.microsoft.com/office/powerpoint/2010/main" val="1992071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BA0228-ABE1-4604-A714-F25D34DAF5CE}" type="datetimeFigureOut">
              <a:rPr lang="en-US" smtClean="0"/>
              <a:t>3/10/2026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CCD53E-91A7-4750-8DAF-FC98E89A8DF6}" type="slidenum">
              <a:rPr lang="en-US" smtClean="0"/>
              <a:t>‹#›</a:t>
            </a:fld>
            <a:endParaRPr lang="en-US"/>
          </a:p>
        </p:txBody>
      </p:sp>
    </p:spTree>
    <p:extLst>
      <p:ext uri="{BB962C8B-B14F-4D97-AF65-F5344CB8AC3E}">
        <p14:creationId xmlns:p14="http://schemas.microsoft.com/office/powerpoint/2010/main" val="1821098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a:t>
            </a:r>
            <a:endParaRPr lang="en-US" dirty="0"/>
          </a:p>
        </p:txBody>
      </p:sp>
      <p:sp>
        <p:nvSpPr>
          <p:cNvPr id="3" name="Content Placeholder 2"/>
          <p:cNvSpPr>
            <a:spLocks noGrp="1"/>
          </p:cNvSpPr>
          <p:nvPr>
            <p:ph idx="1"/>
          </p:nvPr>
        </p:nvSpPr>
        <p:spPr/>
        <p:txBody>
          <a:bodyPr/>
          <a:lstStyle/>
          <a:p>
            <a:r>
              <a:rPr lang="en-US" dirty="0" smtClean="0"/>
              <a:t>More examples: conditional probability, </a:t>
            </a:r>
          </a:p>
          <a:p>
            <a:r>
              <a:rPr lang="en-US" dirty="0" smtClean="0"/>
              <a:t>Bayes formula</a:t>
            </a:r>
          </a:p>
          <a:p>
            <a:r>
              <a:rPr lang="en-US" dirty="0" smtClean="0"/>
              <a:t>Independent events</a:t>
            </a:r>
          </a:p>
          <a:p>
            <a:r>
              <a:rPr lang="en-US" dirty="0" smtClean="0"/>
              <a:t>P( |F) is a probability</a:t>
            </a:r>
            <a:endParaRPr lang="en-US" dirty="0" smtClean="0"/>
          </a:p>
          <a:p>
            <a:pPr marL="0" indent="0">
              <a:buNone/>
            </a:pPr>
            <a:endParaRPr lang="en-US" dirty="0"/>
          </a:p>
        </p:txBody>
      </p:sp>
    </p:spTree>
    <p:extLst>
      <p:ext uri="{BB962C8B-B14F-4D97-AF65-F5344CB8AC3E}">
        <p14:creationId xmlns:p14="http://schemas.microsoft.com/office/powerpoint/2010/main" val="38470872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2</a:t>
            </a:fld>
            <a:endParaRPr lang="en-US">
              <a:solidFill>
                <a:srgbClr val="FFFFFF"/>
              </a:solidFill>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213" y="1295400"/>
            <a:ext cx="650557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65517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3</a:t>
            </a:fld>
            <a:endParaRPr lang="en-US">
              <a:solidFill>
                <a:srgbClr val="FFFFFF"/>
              </a:solidFill>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213" y="1295400"/>
            <a:ext cx="650557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8263" y="2362200"/>
            <a:ext cx="646747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5888" y="3429000"/>
            <a:ext cx="6372225"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4463" y="4267200"/>
            <a:ext cx="63150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0288" y="4724400"/>
            <a:ext cx="4543425"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2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7788" y="5829300"/>
            <a:ext cx="6448425"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509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en-US" altLang="zh-CN" sz="2800" dirty="0" smtClean="0">
                <a:latin typeface="Times New Roman" panose="02020603050405020304" pitchFamily="18" charset="0"/>
                <a:cs typeface="Times New Roman" panose="02020603050405020304" pitchFamily="18" charset="0"/>
              </a:rPr>
              <a:t>Example</a:t>
            </a:r>
            <a:r>
              <a:rPr lang="en-US" altLang="zh-CN" sz="2800" dirty="0" smtClean="0"/>
              <a:t>: In the card game, the 52 cards are dealt out equally to 4 players-called East, South, West, North. If North and South have a total of 8 spades, then what is the probability that East has 3 of the remaining 5 spades? (see Page 60 in the textbook).</a:t>
            </a:r>
          </a:p>
          <a:p>
            <a:pPr marL="0" indent="0">
              <a:buNone/>
            </a:pPr>
            <a:endParaRPr lang="zh-CN" altLang="en-US" dirty="0"/>
          </a:p>
        </p:txBody>
      </p:sp>
    </p:spTree>
    <p:extLst>
      <p:ext uri="{BB962C8B-B14F-4D97-AF65-F5344CB8AC3E}">
        <p14:creationId xmlns:p14="http://schemas.microsoft.com/office/powerpoint/2010/main" val="574651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Conditioning: Example</a:t>
            </a:r>
            <a:endParaRPr lang="en-US" dirty="0"/>
          </a:p>
        </p:txBody>
      </p:sp>
      <p:sp>
        <p:nvSpPr>
          <p:cNvPr id="3" name="Content Placeholder 2"/>
          <p:cNvSpPr>
            <a:spLocks noGrp="1"/>
          </p:cNvSpPr>
          <p:nvPr>
            <p:ph idx="1"/>
          </p:nvPr>
        </p:nvSpPr>
        <p:spPr/>
        <p:txBody>
          <a:bodyPr>
            <a:normAutofit/>
          </a:bodyPr>
          <a:lstStyle/>
          <a:p>
            <a:r>
              <a:rPr lang="en-US" dirty="0" smtClean="0"/>
              <a:t>Independent Trials: Roll a pair of </a:t>
            </a:r>
            <a:r>
              <a:rPr lang="en-US" dirty="0" smtClean="0"/>
              <a:t>distinct dice </a:t>
            </a:r>
            <a:r>
              <a:rPr lang="en-US" dirty="0" smtClean="0"/>
              <a:t>over and over.  Find P(“sum of 5 before a sum of 7”)</a:t>
            </a:r>
          </a:p>
          <a:p>
            <a:r>
              <a:rPr lang="en-US" dirty="0" smtClean="0"/>
              <a:t>Let E = “sum of 5 before a sum of 7”, and let p=P(E).</a:t>
            </a:r>
          </a:p>
          <a:p>
            <a:r>
              <a:rPr lang="en-US" dirty="0" smtClean="0"/>
              <a:t>Want p=P(E</a:t>
            </a:r>
            <a:r>
              <a:rPr lang="en-US" dirty="0" smtClean="0"/>
              <a:t>)</a:t>
            </a:r>
            <a:endParaRPr lang="en-US" dirty="0" smtClean="0"/>
          </a:p>
        </p:txBody>
      </p:sp>
    </p:spTree>
    <p:extLst>
      <p:ext uri="{BB962C8B-B14F-4D97-AF65-F5344CB8AC3E}">
        <p14:creationId xmlns:p14="http://schemas.microsoft.com/office/powerpoint/2010/main" val="37465866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Conditioning: Example</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Independent Trials: Roll a pair of </a:t>
            </a:r>
            <a:r>
              <a:rPr lang="en-US" dirty="0" smtClean="0"/>
              <a:t>distinct dice </a:t>
            </a:r>
            <a:r>
              <a:rPr lang="en-US" dirty="0" smtClean="0"/>
              <a:t>over and over.  Find P(“sum of 5 before a sum of 7”)</a:t>
            </a:r>
          </a:p>
          <a:p>
            <a:r>
              <a:rPr lang="en-US" dirty="0" smtClean="0"/>
              <a:t>Let E = “sum of 5 before a sum of 7”, and let p=P(E).</a:t>
            </a:r>
          </a:p>
          <a:p>
            <a:r>
              <a:rPr lang="en-US" dirty="0" smtClean="0"/>
              <a:t>Want p=P(E)</a:t>
            </a:r>
          </a:p>
          <a:p>
            <a:r>
              <a:rPr lang="en-US" dirty="0" smtClean="0"/>
              <a:t>Method 1: Condition on result of first roll:</a:t>
            </a:r>
          </a:p>
          <a:p>
            <a:pPr marL="0" indent="0">
              <a:buNone/>
            </a:pPr>
            <a:r>
              <a:rPr lang="en-US" dirty="0" smtClean="0"/>
              <a:t>P=P(E)=P(E|1</a:t>
            </a:r>
            <a:r>
              <a:rPr lang="en-US" baseline="30000" dirty="0" smtClean="0"/>
              <a:t>st</a:t>
            </a:r>
            <a:r>
              <a:rPr lang="en-US" dirty="0" smtClean="0"/>
              <a:t>=5)P(1</a:t>
            </a:r>
            <a:r>
              <a:rPr lang="en-US" baseline="30000" dirty="0" smtClean="0"/>
              <a:t>st</a:t>
            </a:r>
            <a:r>
              <a:rPr lang="en-US" dirty="0" smtClean="0"/>
              <a:t>=5)+P(E|1</a:t>
            </a:r>
            <a:r>
              <a:rPr lang="en-US" baseline="30000" dirty="0" smtClean="0"/>
              <a:t>st</a:t>
            </a:r>
            <a:r>
              <a:rPr lang="en-US" dirty="0" smtClean="0"/>
              <a:t>=7)P(1</a:t>
            </a:r>
            <a:r>
              <a:rPr lang="en-US" baseline="30000" dirty="0" smtClean="0"/>
              <a:t>st</a:t>
            </a:r>
            <a:r>
              <a:rPr lang="en-US" dirty="0" smtClean="0"/>
              <a:t>=7) + P(E|1</a:t>
            </a:r>
            <a:r>
              <a:rPr lang="en-US" baseline="30000" dirty="0" smtClean="0"/>
              <a:t>st</a:t>
            </a:r>
            <a:r>
              <a:rPr lang="en-US" dirty="0" smtClean="0"/>
              <a:t> ≠ 5,7)P(1</a:t>
            </a:r>
            <a:r>
              <a:rPr lang="en-US" baseline="30000" dirty="0" smtClean="0"/>
              <a:t>st</a:t>
            </a:r>
            <a:r>
              <a:rPr lang="en-US" dirty="0" smtClean="0"/>
              <a:t> ≠ 5,7)</a:t>
            </a:r>
          </a:p>
          <a:p>
            <a:pPr marL="0" indent="0">
              <a:buNone/>
            </a:pPr>
            <a:r>
              <a:rPr lang="en-US" dirty="0" smtClean="0"/>
              <a:t>= 1 * (4/36) + 0 * (6/36) + p * (1-(4/36)-(6/36))</a:t>
            </a:r>
          </a:p>
          <a:p>
            <a:pPr marL="0" indent="0">
              <a:buNone/>
            </a:pPr>
            <a:r>
              <a:rPr lang="en-US" dirty="0" smtClean="0"/>
              <a:t>Thus, p = (4/36) + (26/36)p, so 10p=4, so p=2/5</a:t>
            </a:r>
            <a:endParaRPr lang="en-US" dirty="0"/>
          </a:p>
        </p:txBody>
      </p:sp>
    </p:spTree>
    <p:extLst>
      <p:ext uri="{BB962C8B-B14F-4D97-AF65-F5344CB8AC3E}">
        <p14:creationId xmlns:p14="http://schemas.microsoft.com/office/powerpoint/2010/main" val="3444397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Conditioning: Example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US" dirty="0" smtClean="0"/>
                  <a:t>Method 2: write </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𝐸</m:t>
                      </m:r>
                      <m:r>
                        <a:rPr lang="en-US" b="0" i="1" smtClean="0">
                          <a:latin typeface="Cambria Math"/>
                        </a:rPr>
                        <m:t>=</m:t>
                      </m:r>
                      <m:nary>
                        <m:naryPr>
                          <m:chr m:val="⋃"/>
                          <m:ctrlPr>
                            <a:rPr lang="en-US" b="0" i="1" smtClean="0">
                              <a:latin typeface="Cambria Math" panose="02040503050406030204" pitchFamily="18" charset="0"/>
                            </a:rPr>
                          </m:ctrlPr>
                        </m:naryPr>
                        <m:sub>
                          <m:r>
                            <m:rPr>
                              <m:brk m:alnAt="23"/>
                            </m:rPr>
                            <a:rPr lang="en-US" b="0" i="1" smtClean="0">
                              <a:latin typeface="Cambria Math"/>
                            </a:rPr>
                            <m:t>𝑛</m:t>
                          </m:r>
                          <m:r>
                            <a:rPr lang="en-US" b="0" i="1" smtClean="0">
                              <a:latin typeface="Cambria Math"/>
                            </a:rPr>
                            <m:t>=1</m:t>
                          </m:r>
                        </m:sub>
                        <m:sup>
                          <m:r>
                            <a:rPr lang="en-US" b="0" i="1" smtClean="0">
                              <a:latin typeface="Cambria Math"/>
                              <a:ea typeface="Cambria Math"/>
                            </a:rPr>
                            <m:t>∞</m:t>
                          </m:r>
                        </m:sup>
                        <m:e>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𝑛</m:t>
                              </m:r>
                            </m:sub>
                          </m:sSub>
                          <m:r>
                            <a:rPr lang="en-US" b="0" i="1" smtClean="0">
                              <a:latin typeface="Cambria Math"/>
                            </a:rPr>
                            <m:t>,  </m:t>
                          </m:r>
                        </m:e>
                      </m:nary>
                    </m:oMath>
                  </m:oMathPara>
                </a14:m>
                <a:endParaRPr lang="en-US" b="0" dirty="0" smtClean="0"/>
              </a:p>
              <a:p>
                <a:pPr marL="457200" lvl="1" indent="0">
                  <a:buNone/>
                </a:pPr>
                <a:r>
                  <a:rPr lang="en-US" dirty="0" smtClean="0"/>
                  <a:t>For disjoint events </a:t>
                </a:r>
                <a:r>
                  <a:rPr lang="en-US" i="1" dirty="0" smtClean="0">
                    <a:latin typeface="Times New Roman" pitchFamily="18" charset="0"/>
                    <a:cs typeface="Times New Roman" pitchFamily="18" charset="0"/>
                  </a:rPr>
                  <a:t>E</a:t>
                </a:r>
                <a:r>
                  <a:rPr lang="en-US" i="1" baseline="-25000" dirty="0" smtClean="0">
                    <a:latin typeface="Times New Roman" pitchFamily="18" charset="0"/>
                    <a:cs typeface="Times New Roman" pitchFamily="18" charset="0"/>
                  </a:rPr>
                  <a:t>n</a:t>
                </a:r>
                <a:r>
                  <a:rPr lang="en-US" dirty="0" smtClean="0"/>
                  <a:t> = “no 5,7 in first n-1 rolls; 5 on roll n”</a:t>
                </a:r>
              </a:p>
              <a:p>
                <a:r>
                  <a:rPr lang="en-US" b="0" dirty="0" smtClean="0"/>
                  <a:t>Thus, by Axiom (3):</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𝐸</m:t>
                          </m:r>
                        </m:e>
                      </m:d>
                      <m:r>
                        <a:rPr lang="en-US" b="0" i="1" smtClean="0">
                          <a:latin typeface="Cambria Math"/>
                        </a:rPr>
                        <m:t>=</m:t>
                      </m:r>
                      <m:nary>
                        <m:naryPr>
                          <m:chr m:val="∑"/>
                          <m:ctrlPr>
                            <a:rPr lang="en-US" b="0" i="1" smtClean="0">
                              <a:latin typeface="Cambria Math" panose="02040503050406030204" pitchFamily="18" charset="0"/>
                            </a:rPr>
                          </m:ctrlPr>
                        </m:naryPr>
                        <m:sub>
                          <m:r>
                            <m:rPr>
                              <m:brk m:alnAt="23"/>
                            </m:rPr>
                            <a:rPr lang="en-US" b="0" i="1" smtClean="0">
                              <a:latin typeface="Cambria Math"/>
                            </a:rPr>
                            <m:t>𝑛</m:t>
                          </m:r>
                          <m:r>
                            <a:rPr lang="en-US" b="0" i="1" smtClean="0">
                              <a:latin typeface="Cambria Math"/>
                            </a:rPr>
                            <m:t>=1</m:t>
                          </m:r>
                        </m:sub>
                        <m:sup>
                          <m:r>
                            <a:rPr lang="en-US" b="0" i="1" smtClean="0">
                              <a:latin typeface="Cambria Math"/>
                              <a:ea typeface="Cambria Math"/>
                            </a:rPr>
                            <m:t>∞</m:t>
                          </m:r>
                        </m:sup>
                        <m:e>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𝑛</m:t>
                                  </m:r>
                                </m:sub>
                              </m:sSub>
                            </m:e>
                          </m:d>
                          <m:r>
                            <a:rPr lang="en-US" b="0" i="1" smtClean="0">
                              <a:latin typeface="Cambria Math"/>
                            </a:rPr>
                            <m:t>= </m:t>
                          </m:r>
                          <m:nary>
                            <m:naryPr>
                              <m:chr m:val="∑"/>
                              <m:ctrlPr>
                                <a:rPr lang="en-US" b="0" i="1" smtClean="0">
                                  <a:latin typeface="Cambria Math" panose="02040503050406030204" pitchFamily="18" charset="0"/>
                                </a:rPr>
                              </m:ctrlPr>
                            </m:naryPr>
                            <m:sub>
                              <m:r>
                                <m:rPr>
                                  <m:brk m:alnAt="23"/>
                                </m:rPr>
                                <a:rPr lang="en-US" b="0" i="1" smtClean="0">
                                  <a:latin typeface="Cambria Math"/>
                                </a:rPr>
                                <m:t>𝑛</m:t>
                              </m:r>
                              <m:r>
                                <a:rPr lang="en-US" b="0" i="1" smtClean="0">
                                  <a:latin typeface="Cambria Math"/>
                                </a:rPr>
                                <m:t>=1</m:t>
                              </m:r>
                            </m:sub>
                            <m:sup>
                              <m:r>
                                <a:rPr lang="en-US" b="0" i="1" smtClean="0">
                                  <a:latin typeface="Cambria Math"/>
                                  <a:ea typeface="Cambria Math"/>
                                </a:rPr>
                                <m:t>∞</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1−</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10</m:t>
                                              </m:r>
                                            </m:num>
                                            <m:den>
                                              <m:r>
                                                <a:rPr lang="en-US" b="0" i="1" smtClean="0">
                                                  <a:latin typeface="Cambria Math"/>
                                                </a:rPr>
                                                <m:t>36</m:t>
                                              </m:r>
                                            </m:den>
                                          </m:f>
                                        </m:e>
                                      </m:d>
                                    </m:e>
                                  </m:d>
                                </m:e>
                                <m:sup>
                                  <m:r>
                                    <a:rPr lang="en-US" b="0" i="1" smtClean="0">
                                      <a:latin typeface="Cambria Math"/>
                                    </a:rPr>
                                    <m:t>𝑛</m:t>
                                  </m:r>
                                  <m:r>
                                    <a:rPr lang="en-US" b="0" i="1" smtClean="0">
                                      <a:latin typeface="Cambria Math"/>
                                    </a:rPr>
                                    <m:t>−1</m:t>
                                  </m:r>
                                </m:sup>
                              </m:sSup>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4</m:t>
                                      </m:r>
                                    </m:num>
                                    <m:den>
                                      <m:r>
                                        <a:rPr lang="en-US" b="0" i="1" smtClean="0">
                                          <a:latin typeface="Cambria Math"/>
                                        </a:rPr>
                                        <m:t>36</m:t>
                                      </m:r>
                                    </m:den>
                                  </m:f>
                                </m:e>
                              </m:d>
                            </m:e>
                          </m:nary>
                        </m:e>
                      </m:nary>
                    </m:oMath>
                  </m:oMathPara>
                </a14:m>
                <a:endParaRPr lang="en-US" b="0" dirty="0" smtClean="0"/>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4</m:t>
                              </m:r>
                            </m:num>
                            <m:den>
                              <m:r>
                                <a:rPr lang="en-US" b="0" i="1" smtClean="0">
                                  <a:latin typeface="Cambria Math"/>
                                </a:rPr>
                                <m:t>36</m:t>
                              </m:r>
                            </m:den>
                          </m:f>
                        </m:e>
                      </m:d>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1−</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26</m:t>
                                  </m:r>
                                </m:num>
                                <m:den>
                                  <m:r>
                                    <a:rPr lang="en-US" b="0" i="1" smtClean="0">
                                      <a:latin typeface="Cambria Math"/>
                                    </a:rPr>
                                    <m:t>36</m:t>
                                  </m:r>
                                </m:den>
                              </m:f>
                            </m:e>
                          </m:d>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2</m:t>
                          </m:r>
                        </m:num>
                        <m:den>
                          <m:r>
                            <a:rPr lang="en-US" b="0" i="1" smtClean="0">
                              <a:latin typeface="Cambria Math"/>
                            </a:rPr>
                            <m:t>5</m:t>
                          </m:r>
                        </m:den>
                      </m:f>
                      <m:r>
                        <a:rPr lang="en-US" b="0" i="1" smtClean="0">
                          <a:latin typeface="Cambria Math"/>
                        </a:rPr>
                        <m:t> </m:t>
                      </m:r>
                    </m:oMath>
                  </m:oMathPara>
                </a14:m>
                <a:endParaRPr lang="en-US" b="0" dirty="0" smtClean="0"/>
              </a:p>
              <a:p>
                <a:pPr marL="457200" lvl="1" indent="0">
                  <a:buNone/>
                </a:pP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1185" t="-2022"/>
                </a:stretch>
              </a:blipFill>
            </p:spPr>
            <p:txBody>
              <a:bodyPr/>
              <a:lstStyle/>
              <a:p>
                <a:r>
                  <a:rPr lang="en-US">
                    <a:noFill/>
                  </a:rPr>
                  <a:t> </a:t>
                </a:r>
              </a:p>
            </p:txBody>
          </p:sp>
        </mc:Fallback>
      </mc:AlternateContent>
    </p:spTree>
    <p:extLst>
      <p:ext uri="{BB962C8B-B14F-4D97-AF65-F5344CB8AC3E}">
        <p14:creationId xmlns:p14="http://schemas.microsoft.com/office/powerpoint/2010/main" val="1141311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Bayes’s</a:t>
            </a:r>
            <a:r>
              <a:rPr lang="en-US" dirty="0" smtClean="0"/>
              <a:t> </a:t>
            </a:r>
            <a:r>
              <a:rPr lang="en-US" dirty="0" smtClean="0"/>
              <a:t>Formula</a:t>
            </a:r>
            <a:endParaRPr lang="en-US" dirty="0"/>
          </a:p>
        </p:txBody>
      </p:sp>
      <p:sp>
        <p:nvSpPr>
          <p:cNvPr id="3" name="Content Placeholder 2"/>
          <p:cNvSpPr>
            <a:spLocks noGrp="1"/>
          </p:cNvSpPr>
          <p:nvPr>
            <p:ph idx="1"/>
          </p:nvPr>
        </p:nvSpPr>
        <p:spPr/>
        <p:txBody>
          <a:bodyPr/>
          <a:lstStyle/>
          <a:p>
            <a:r>
              <a:rPr lang="en-US" dirty="0" smtClean="0"/>
              <a:t>Recall: For a partition of S into F</a:t>
            </a:r>
            <a:r>
              <a:rPr lang="en-US" baseline="-25000" dirty="0" smtClean="0"/>
              <a:t>1</a:t>
            </a:r>
            <a:r>
              <a:rPr lang="en-US" dirty="0" smtClean="0"/>
              <a:t> , F</a:t>
            </a:r>
            <a:r>
              <a:rPr lang="en-US" baseline="-25000" dirty="0" smtClean="0"/>
              <a:t>2</a:t>
            </a:r>
            <a:r>
              <a:rPr lang="en-US" dirty="0" smtClean="0"/>
              <a:t> , F</a:t>
            </a:r>
            <a:r>
              <a:rPr lang="en-US" baseline="-25000" dirty="0" smtClean="0"/>
              <a:t>3</a:t>
            </a:r>
            <a:r>
              <a:rPr lang="en-US" dirty="0" smtClean="0"/>
              <a:t> ,…, and P(E)&gt;0,</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8</a:t>
            </a:fld>
            <a:endParaRPr lang="en-US">
              <a:solidFill>
                <a:srgbClr val="FFFFFF"/>
              </a:solidFill>
            </a:endParaRP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1838" y="2667000"/>
            <a:ext cx="26003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3013" y="3505200"/>
            <a:ext cx="6657975"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5029200"/>
            <a:ext cx="3505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267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Example</a:t>
            </a:r>
            <a:endParaRPr lang="zh-CN" altLang="en-US" dirty="0"/>
          </a:p>
        </p:txBody>
      </p:sp>
      <p:sp>
        <p:nvSpPr>
          <p:cNvPr id="3" name="内容占位符 2"/>
          <p:cNvSpPr>
            <a:spLocks noGrp="1"/>
          </p:cNvSpPr>
          <p:nvPr>
            <p:ph idx="1"/>
          </p:nvPr>
        </p:nvSpPr>
        <p:spPr/>
        <p:txBody>
          <a:bodyPr>
            <a:normAutofit/>
          </a:bodyPr>
          <a:lstStyle/>
          <a:p>
            <a:pPr marL="0" indent="0" algn="just">
              <a:buNone/>
            </a:pPr>
            <a:r>
              <a:rPr lang="en-US" altLang="zh-CN" sz="2800" dirty="0" smtClean="0"/>
              <a:t>In answering a question on a multiple-choice test, a student either knows the answer or guesses. Let p be the probability that the student knows the answer and 1-p be the probability that the student guesses. Assume that a student who guesses at the answer will be correct with probability 1/m. What is the conditional probability that a student knew the answer to a question that he or she answered it correctly? (see Page 66 in the textbook)</a:t>
            </a:r>
            <a:endParaRPr lang="zh-CN" altLang="en-US" sz="2800" dirty="0"/>
          </a:p>
        </p:txBody>
      </p:sp>
    </p:spTree>
    <p:extLst>
      <p:ext uri="{BB962C8B-B14F-4D97-AF65-F5344CB8AC3E}">
        <p14:creationId xmlns:p14="http://schemas.microsoft.com/office/powerpoint/2010/main" val="477692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Example</a:t>
            </a:r>
            <a:endParaRPr lang="zh-CN" altLang="en-US" dirty="0"/>
          </a:p>
        </p:txBody>
      </p:sp>
      <p:sp>
        <p:nvSpPr>
          <p:cNvPr id="3" name="内容占位符 2"/>
          <p:cNvSpPr>
            <a:spLocks noGrp="1"/>
          </p:cNvSpPr>
          <p:nvPr>
            <p:ph idx="1"/>
          </p:nvPr>
        </p:nvSpPr>
        <p:spPr/>
        <p:txBody>
          <a:bodyPr>
            <a:normAutofit/>
          </a:bodyPr>
          <a:lstStyle/>
          <a:p>
            <a:pPr marL="0" indent="0" algn="just">
              <a:buNone/>
            </a:pPr>
            <a:r>
              <a:rPr lang="en-US" altLang="zh-CN" sz="2800" dirty="0" smtClean="0"/>
              <a:t>Suppose that we have 3 cards that are identical in form, except that both sides of the first card are colored red, both sides of the second card are colored black, and one side of the third card is colored red and the other side black. The 3 cards are mixed up in a hat and one card is randomly selected and put down. If the upper side of the chosen card is colored red, what is the probability that the other side is colored black? (see Page 73 of the textbook).</a:t>
            </a:r>
            <a:endParaRPr lang="zh-CN" altLang="en-US" sz="2800" dirty="0"/>
          </a:p>
        </p:txBody>
      </p:sp>
    </p:spTree>
    <p:extLst>
      <p:ext uri="{BB962C8B-B14F-4D97-AF65-F5344CB8AC3E}">
        <p14:creationId xmlns:p14="http://schemas.microsoft.com/office/powerpoint/2010/main" val="3742788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11</a:t>
            </a:fld>
            <a:endParaRPr lang="en-US">
              <a:solidFill>
                <a:srgbClr val="FFFFFF"/>
              </a:solidFill>
            </a:endParaRP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6838" y="1276350"/>
            <a:ext cx="6410325"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2550" y="3648075"/>
            <a:ext cx="6438900"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ounded Rectangle 4"/>
          <p:cNvSpPr/>
          <p:nvPr/>
        </p:nvSpPr>
        <p:spPr bwMode="auto">
          <a:xfrm>
            <a:off x="76200" y="1276350"/>
            <a:ext cx="1200150" cy="1619250"/>
          </a:xfrm>
          <a:prstGeom prst="round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1" u="none" strike="noStrike" cap="none" normalizeH="0" baseline="0" dirty="0" smtClean="0">
                <a:ln>
                  <a:noFill/>
                </a:ln>
                <a:solidFill>
                  <a:schemeClr val="tx1"/>
                </a:solidFill>
                <a:effectLst/>
                <a:latin typeface="Comic Sans MS" pitchFamily="66" charset="0"/>
              </a:rPr>
              <a:t>Urn 1</a:t>
            </a:r>
          </a:p>
        </p:txBody>
      </p:sp>
      <p:sp>
        <p:nvSpPr>
          <p:cNvPr id="6" name="Oval 5"/>
          <p:cNvSpPr/>
          <p:nvPr/>
        </p:nvSpPr>
        <p:spPr bwMode="auto">
          <a:xfrm>
            <a:off x="533400" y="1981200"/>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2" name="Oval 11"/>
          <p:cNvSpPr/>
          <p:nvPr/>
        </p:nvSpPr>
        <p:spPr bwMode="auto">
          <a:xfrm>
            <a:off x="685800" y="2133600"/>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3" name="Oval 12"/>
          <p:cNvSpPr/>
          <p:nvPr/>
        </p:nvSpPr>
        <p:spPr bwMode="auto">
          <a:xfrm>
            <a:off x="228600" y="1846118"/>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4" name="Oval 13"/>
          <p:cNvSpPr/>
          <p:nvPr/>
        </p:nvSpPr>
        <p:spPr bwMode="auto">
          <a:xfrm>
            <a:off x="295274" y="2156114"/>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5" name="Oval 14"/>
          <p:cNvSpPr/>
          <p:nvPr/>
        </p:nvSpPr>
        <p:spPr bwMode="auto">
          <a:xfrm>
            <a:off x="900544" y="1909762"/>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6" name="Oval 15"/>
          <p:cNvSpPr/>
          <p:nvPr/>
        </p:nvSpPr>
        <p:spPr bwMode="auto">
          <a:xfrm>
            <a:off x="447674" y="2308514"/>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7" name="Oval 16"/>
          <p:cNvSpPr/>
          <p:nvPr/>
        </p:nvSpPr>
        <p:spPr bwMode="auto">
          <a:xfrm>
            <a:off x="600074" y="2460914"/>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8" name="Oval 17"/>
          <p:cNvSpPr/>
          <p:nvPr/>
        </p:nvSpPr>
        <p:spPr bwMode="auto">
          <a:xfrm>
            <a:off x="752474" y="2613314"/>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9" name="Oval 18"/>
          <p:cNvSpPr/>
          <p:nvPr/>
        </p:nvSpPr>
        <p:spPr bwMode="auto">
          <a:xfrm>
            <a:off x="245912" y="2379951"/>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0" name="Oval 19"/>
          <p:cNvSpPr/>
          <p:nvPr/>
        </p:nvSpPr>
        <p:spPr bwMode="auto">
          <a:xfrm>
            <a:off x="364113" y="2603789"/>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1" name="Oval 20"/>
          <p:cNvSpPr/>
          <p:nvPr/>
        </p:nvSpPr>
        <p:spPr bwMode="auto">
          <a:xfrm>
            <a:off x="964619" y="2331028"/>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2" name="Oval 21"/>
          <p:cNvSpPr/>
          <p:nvPr/>
        </p:nvSpPr>
        <p:spPr bwMode="auto">
          <a:xfrm>
            <a:off x="976311" y="2541876"/>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3" name="Rounded Rectangle 22"/>
          <p:cNvSpPr/>
          <p:nvPr/>
        </p:nvSpPr>
        <p:spPr bwMode="auto">
          <a:xfrm>
            <a:off x="7867650" y="1276350"/>
            <a:ext cx="1200150" cy="1619250"/>
          </a:xfrm>
          <a:prstGeom prst="round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1" u="none" strike="noStrike" cap="none" normalizeH="0" baseline="0" dirty="0" smtClean="0">
                <a:ln>
                  <a:noFill/>
                </a:ln>
                <a:solidFill>
                  <a:schemeClr val="tx1"/>
                </a:solidFill>
                <a:effectLst/>
                <a:latin typeface="Comic Sans MS" pitchFamily="66" charset="0"/>
              </a:rPr>
              <a:t>Urn 2</a:t>
            </a:r>
          </a:p>
        </p:txBody>
      </p:sp>
      <p:sp>
        <p:nvSpPr>
          <p:cNvPr id="24" name="Oval 23"/>
          <p:cNvSpPr/>
          <p:nvPr/>
        </p:nvSpPr>
        <p:spPr bwMode="auto">
          <a:xfrm>
            <a:off x="8324850" y="1981200"/>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5" name="Oval 24"/>
          <p:cNvSpPr/>
          <p:nvPr/>
        </p:nvSpPr>
        <p:spPr bwMode="auto">
          <a:xfrm>
            <a:off x="8477250" y="2133600"/>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6" name="Oval 25"/>
          <p:cNvSpPr/>
          <p:nvPr/>
        </p:nvSpPr>
        <p:spPr bwMode="auto">
          <a:xfrm>
            <a:off x="8020050" y="1846118"/>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7" name="Oval 26"/>
          <p:cNvSpPr/>
          <p:nvPr/>
        </p:nvSpPr>
        <p:spPr bwMode="auto">
          <a:xfrm>
            <a:off x="8086724" y="2156114"/>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8" name="Oval 27"/>
          <p:cNvSpPr/>
          <p:nvPr/>
        </p:nvSpPr>
        <p:spPr bwMode="auto">
          <a:xfrm>
            <a:off x="8691994" y="1909762"/>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9" name="Oval 28"/>
          <p:cNvSpPr/>
          <p:nvPr/>
        </p:nvSpPr>
        <p:spPr bwMode="auto">
          <a:xfrm>
            <a:off x="8239124" y="2308514"/>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0" name="Oval 29"/>
          <p:cNvSpPr/>
          <p:nvPr/>
        </p:nvSpPr>
        <p:spPr bwMode="auto">
          <a:xfrm>
            <a:off x="8391524" y="2460914"/>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1" name="Oval 30"/>
          <p:cNvSpPr/>
          <p:nvPr/>
        </p:nvSpPr>
        <p:spPr bwMode="auto">
          <a:xfrm>
            <a:off x="8543924" y="2613314"/>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2" name="Oval 31"/>
          <p:cNvSpPr/>
          <p:nvPr/>
        </p:nvSpPr>
        <p:spPr bwMode="auto">
          <a:xfrm>
            <a:off x="8037362" y="2379951"/>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3" name="Oval 32"/>
          <p:cNvSpPr/>
          <p:nvPr/>
        </p:nvSpPr>
        <p:spPr bwMode="auto">
          <a:xfrm>
            <a:off x="8155563" y="2603789"/>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4" name="Oval 33"/>
          <p:cNvSpPr/>
          <p:nvPr/>
        </p:nvSpPr>
        <p:spPr bwMode="auto">
          <a:xfrm>
            <a:off x="8848725" y="2331028"/>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5" name="Oval 34"/>
          <p:cNvSpPr/>
          <p:nvPr/>
        </p:nvSpPr>
        <p:spPr bwMode="auto">
          <a:xfrm>
            <a:off x="8767761" y="2541876"/>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6" name="Oval 35"/>
          <p:cNvSpPr/>
          <p:nvPr/>
        </p:nvSpPr>
        <p:spPr bwMode="auto">
          <a:xfrm>
            <a:off x="8629650" y="2286000"/>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7" name="Oval 36"/>
          <p:cNvSpPr/>
          <p:nvPr/>
        </p:nvSpPr>
        <p:spPr bwMode="auto">
          <a:xfrm>
            <a:off x="7934325" y="2600325"/>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8" name="Oval 37"/>
          <p:cNvSpPr/>
          <p:nvPr/>
        </p:nvSpPr>
        <p:spPr bwMode="auto">
          <a:xfrm>
            <a:off x="8763000" y="2133600"/>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Tree>
    <p:extLst>
      <p:ext uri="{BB962C8B-B14F-4D97-AF65-F5344CB8AC3E}">
        <p14:creationId xmlns:p14="http://schemas.microsoft.com/office/powerpoint/2010/main" val="381327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12</a:t>
            </a:fld>
            <a:endParaRPr lang="en-US">
              <a:solidFill>
                <a:srgbClr val="FFFFFF"/>
              </a:solidFill>
            </a:endParaRP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6838" y="1276350"/>
            <a:ext cx="6410325"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2550" y="3648075"/>
            <a:ext cx="6438900"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2075" y="4953000"/>
            <a:ext cx="641985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6038" y="5800725"/>
            <a:ext cx="3971925"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ounded Rectangle 4"/>
          <p:cNvSpPr/>
          <p:nvPr/>
        </p:nvSpPr>
        <p:spPr bwMode="auto">
          <a:xfrm>
            <a:off x="76200" y="1276350"/>
            <a:ext cx="1200150" cy="1619250"/>
          </a:xfrm>
          <a:prstGeom prst="round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1" u="none" strike="noStrike" cap="none" normalizeH="0" baseline="0" dirty="0" smtClean="0">
                <a:ln>
                  <a:noFill/>
                </a:ln>
                <a:solidFill>
                  <a:schemeClr val="tx1"/>
                </a:solidFill>
                <a:effectLst/>
                <a:latin typeface="Comic Sans MS" pitchFamily="66" charset="0"/>
              </a:rPr>
              <a:t>Urn 1</a:t>
            </a:r>
          </a:p>
        </p:txBody>
      </p:sp>
      <p:sp>
        <p:nvSpPr>
          <p:cNvPr id="6" name="Oval 5"/>
          <p:cNvSpPr/>
          <p:nvPr/>
        </p:nvSpPr>
        <p:spPr bwMode="auto">
          <a:xfrm>
            <a:off x="533400" y="1981200"/>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2" name="Oval 11"/>
          <p:cNvSpPr/>
          <p:nvPr/>
        </p:nvSpPr>
        <p:spPr bwMode="auto">
          <a:xfrm>
            <a:off x="685800" y="2133600"/>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3" name="Oval 12"/>
          <p:cNvSpPr/>
          <p:nvPr/>
        </p:nvSpPr>
        <p:spPr bwMode="auto">
          <a:xfrm>
            <a:off x="228600" y="1846118"/>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4" name="Oval 13"/>
          <p:cNvSpPr/>
          <p:nvPr/>
        </p:nvSpPr>
        <p:spPr bwMode="auto">
          <a:xfrm>
            <a:off x="295274" y="2156114"/>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5" name="Oval 14"/>
          <p:cNvSpPr/>
          <p:nvPr/>
        </p:nvSpPr>
        <p:spPr bwMode="auto">
          <a:xfrm>
            <a:off x="900544" y="1909762"/>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6" name="Oval 15"/>
          <p:cNvSpPr/>
          <p:nvPr/>
        </p:nvSpPr>
        <p:spPr bwMode="auto">
          <a:xfrm>
            <a:off x="447674" y="2308514"/>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7" name="Oval 16"/>
          <p:cNvSpPr/>
          <p:nvPr/>
        </p:nvSpPr>
        <p:spPr bwMode="auto">
          <a:xfrm>
            <a:off x="600074" y="2460914"/>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8" name="Oval 17"/>
          <p:cNvSpPr/>
          <p:nvPr/>
        </p:nvSpPr>
        <p:spPr bwMode="auto">
          <a:xfrm>
            <a:off x="752474" y="2613314"/>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19" name="Oval 18"/>
          <p:cNvSpPr/>
          <p:nvPr/>
        </p:nvSpPr>
        <p:spPr bwMode="auto">
          <a:xfrm>
            <a:off x="245912" y="2379951"/>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0" name="Oval 19"/>
          <p:cNvSpPr/>
          <p:nvPr/>
        </p:nvSpPr>
        <p:spPr bwMode="auto">
          <a:xfrm>
            <a:off x="364113" y="2603789"/>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1" name="Oval 20"/>
          <p:cNvSpPr/>
          <p:nvPr/>
        </p:nvSpPr>
        <p:spPr bwMode="auto">
          <a:xfrm>
            <a:off x="964619" y="2331028"/>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2" name="Oval 21"/>
          <p:cNvSpPr/>
          <p:nvPr/>
        </p:nvSpPr>
        <p:spPr bwMode="auto">
          <a:xfrm>
            <a:off x="976311" y="2541876"/>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3" name="Rounded Rectangle 22"/>
          <p:cNvSpPr/>
          <p:nvPr/>
        </p:nvSpPr>
        <p:spPr bwMode="auto">
          <a:xfrm>
            <a:off x="7867650" y="1276350"/>
            <a:ext cx="1200150" cy="1619250"/>
          </a:xfrm>
          <a:prstGeom prst="round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1" u="none" strike="noStrike" cap="none" normalizeH="0" baseline="0" dirty="0" smtClean="0">
                <a:ln>
                  <a:noFill/>
                </a:ln>
                <a:solidFill>
                  <a:schemeClr val="tx1"/>
                </a:solidFill>
                <a:effectLst/>
                <a:latin typeface="Comic Sans MS" pitchFamily="66" charset="0"/>
              </a:rPr>
              <a:t>Urn 2</a:t>
            </a:r>
          </a:p>
        </p:txBody>
      </p:sp>
      <p:sp>
        <p:nvSpPr>
          <p:cNvPr id="24" name="Oval 23"/>
          <p:cNvSpPr/>
          <p:nvPr/>
        </p:nvSpPr>
        <p:spPr bwMode="auto">
          <a:xfrm>
            <a:off x="8324850" y="1981200"/>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5" name="Oval 24"/>
          <p:cNvSpPr/>
          <p:nvPr/>
        </p:nvSpPr>
        <p:spPr bwMode="auto">
          <a:xfrm>
            <a:off x="8477250" y="2133600"/>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6" name="Oval 25"/>
          <p:cNvSpPr/>
          <p:nvPr/>
        </p:nvSpPr>
        <p:spPr bwMode="auto">
          <a:xfrm>
            <a:off x="8020050" y="1846118"/>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7" name="Oval 26"/>
          <p:cNvSpPr/>
          <p:nvPr/>
        </p:nvSpPr>
        <p:spPr bwMode="auto">
          <a:xfrm>
            <a:off x="8086724" y="2156114"/>
            <a:ext cx="142875" cy="142875"/>
          </a:xfrm>
          <a:prstGeom prst="ellipse">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8" name="Oval 27"/>
          <p:cNvSpPr/>
          <p:nvPr/>
        </p:nvSpPr>
        <p:spPr bwMode="auto">
          <a:xfrm>
            <a:off x="8691994" y="1909762"/>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29" name="Oval 28"/>
          <p:cNvSpPr/>
          <p:nvPr/>
        </p:nvSpPr>
        <p:spPr bwMode="auto">
          <a:xfrm>
            <a:off x="8239124" y="2308514"/>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0" name="Oval 29"/>
          <p:cNvSpPr/>
          <p:nvPr/>
        </p:nvSpPr>
        <p:spPr bwMode="auto">
          <a:xfrm>
            <a:off x="8391524" y="2460914"/>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1" name="Oval 30"/>
          <p:cNvSpPr/>
          <p:nvPr/>
        </p:nvSpPr>
        <p:spPr bwMode="auto">
          <a:xfrm>
            <a:off x="8543924" y="2613314"/>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2" name="Oval 31"/>
          <p:cNvSpPr/>
          <p:nvPr/>
        </p:nvSpPr>
        <p:spPr bwMode="auto">
          <a:xfrm>
            <a:off x="8037362" y="2379951"/>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3" name="Oval 32"/>
          <p:cNvSpPr/>
          <p:nvPr/>
        </p:nvSpPr>
        <p:spPr bwMode="auto">
          <a:xfrm>
            <a:off x="8155563" y="2603789"/>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4" name="Oval 33"/>
          <p:cNvSpPr/>
          <p:nvPr/>
        </p:nvSpPr>
        <p:spPr bwMode="auto">
          <a:xfrm>
            <a:off x="8848725" y="2331028"/>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5" name="Oval 34"/>
          <p:cNvSpPr/>
          <p:nvPr/>
        </p:nvSpPr>
        <p:spPr bwMode="auto">
          <a:xfrm>
            <a:off x="8767761" y="2541876"/>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6" name="Oval 35"/>
          <p:cNvSpPr/>
          <p:nvPr/>
        </p:nvSpPr>
        <p:spPr bwMode="auto">
          <a:xfrm>
            <a:off x="8629650" y="2286000"/>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7" name="Oval 36"/>
          <p:cNvSpPr/>
          <p:nvPr/>
        </p:nvSpPr>
        <p:spPr bwMode="auto">
          <a:xfrm>
            <a:off x="7934325" y="2600325"/>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
        <p:nvSpPr>
          <p:cNvPr id="38" name="Oval 37"/>
          <p:cNvSpPr/>
          <p:nvPr/>
        </p:nvSpPr>
        <p:spPr bwMode="auto">
          <a:xfrm>
            <a:off x="8763000" y="2133600"/>
            <a:ext cx="142875" cy="142875"/>
          </a:xfrm>
          <a:prstGeom prst="ellipse">
            <a:avLst/>
          </a:prstGeom>
          <a:solidFill>
            <a:schemeClr val="bg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Comic Sans MS" pitchFamily="66" charset="0"/>
            </a:endParaRPr>
          </a:p>
        </p:txBody>
      </p:sp>
    </p:spTree>
    <p:extLst>
      <p:ext uri="{BB962C8B-B14F-4D97-AF65-F5344CB8AC3E}">
        <p14:creationId xmlns:p14="http://schemas.microsoft.com/office/powerpoint/2010/main" val="3420425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Independence</a:t>
            </a:r>
            <a:endParaRPr lang="en-US" dirty="0"/>
          </a:p>
        </p:txBody>
      </p:sp>
      <p:sp>
        <p:nvSpPr>
          <p:cNvPr id="3" name="Content Placeholder 2"/>
          <p:cNvSpPr>
            <a:spLocks noGrp="1"/>
          </p:cNvSpPr>
          <p:nvPr>
            <p:ph idx="1"/>
          </p:nvPr>
        </p:nvSpPr>
        <p:spPr>
          <a:xfrm>
            <a:off x="457200" y="1717675"/>
            <a:ext cx="8229600" cy="4530725"/>
          </a:xfrm>
        </p:spPr>
        <p:txBody>
          <a:bodyPr/>
          <a:lstStyle/>
          <a:p>
            <a:r>
              <a:rPr lang="en-US" dirty="0" smtClean="0"/>
              <a:t>Recall:</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13</a:t>
            </a:fld>
            <a:endParaRPr lang="en-US">
              <a:solidFill>
                <a:srgbClr val="FFFFFF"/>
              </a:solidFill>
            </a:endParaRP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2571750"/>
            <a:ext cx="6429375"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89262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14</a:t>
            </a:fld>
            <a:endParaRPr lang="en-US">
              <a:solidFill>
                <a:srgbClr val="FFFFFF"/>
              </a:solidFill>
            </a:endParaRPr>
          </a:p>
        </p:txBody>
      </p:sp>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6825" y="1371600"/>
            <a:ext cx="6610350"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6838" y="2514600"/>
            <a:ext cx="6410325"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3276600"/>
            <a:ext cx="6400800"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9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950" y="4648200"/>
            <a:ext cx="7658100"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9406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15</a:t>
            </a:fld>
            <a:endParaRPr lang="en-US">
              <a:solidFill>
                <a:srgbClr val="FFFFFF"/>
              </a:solidFill>
            </a:endParaRP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1524000"/>
            <a:ext cx="6429375"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2550" y="3248025"/>
            <a:ext cx="643890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410200" y="3886200"/>
            <a:ext cx="2381250" cy="369332"/>
          </a:xfrm>
          <a:prstGeom prst="rect">
            <a:avLst/>
          </a:prstGeom>
          <a:solidFill>
            <a:schemeClr val="bg1"/>
          </a:solidFill>
          <a:ln>
            <a:noFill/>
          </a:ln>
        </p:spPr>
        <p:txBody>
          <a:bodyPr wrap="square" rtlCol="0">
            <a:spAutoFit/>
          </a:bodyPr>
          <a:lstStyle/>
          <a:p>
            <a:endParaRPr lang="en-US" dirty="0"/>
          </a:p>
        </p:txBody>
      </p:sp>
      <p:pic>
        <p:nvPicPr>
          <p:cNvPr id="174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4381500"/>
            <a:ext cx="239077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0375" y="4362450"/>
            <a:ext cx="5562600"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 y="4819650"/>
            <a:ext cx="1038225"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5"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0239" y="4843462"/>
            <a:ext cx="676275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6"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15200" y="4872037"/>
            <a:ext cx="15240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7"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2400" y="5314950"/>
            <a:ext cx="50482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8"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57750" y="5324475"/>
            <a:ext cx="367665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8564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4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4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4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4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16</a:t>
            </a:fld>
            <a:endParaRPr lang="en-US">
              <a:solidFill>
                <a:srgbClr val="FFFFFF"/>
              </a:solidFill>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550" y="1447800"/>
            <a:ext cx="643890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352550" y="1366837"/>
            <a:ext cx="1905000" cy="369332"/>
          </a:xfrm>
          <a:prstGeom prst="rect">
            <a:avLst/>
          </a:prstGeom>
          <a:solidFill>
            <a:srgbClr val="FFFF00"/>
          </a:solidFill>
        </p:spPr>
        <p:txBody>
          <a:bodyPr wrap="square" rtlCol="0">
            <a:spAutoFit/>
          </a:bodyPr>
          <a:lstStyle/>
          <a:p>
            <a:r>
              <a:rPr lang="en-US" dirty="0" smtClean="0">
                <a:solidFill>
                  <a:srgbClr val="7030A0"/>
                </a:solidFill>
              </a:rPr>
              <a:t>Example</a:t>
            </a:r>
            <a:endParaRPr lang="en-US" dirty="0">
              <a:solidFill>
                <a:srgbClr val="7030A0"/>
              </a:solidFill>
            </a:endParaRP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2550" y="2776538"/>
            <a:ext cx="6438900"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5260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17</a:t>
            </a:fld>
            <a:endParaRPr lang="en-US">
              <a:solidFill>
                <a:srgbClr val="FFFFFF"/>
              </a:solidFill>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550" y="1447800"/>
            <a:ext cx="643890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295400" y="1371600"/>
            <a:ext cx="1905000" cy="369332"/>
          </a:xfrm>
          <a:prstGeom prst="rect">
            <a:avLst/>
          </a:prstGeom>
          <a:solidFill>
            <a:srgbClr val="FFFF00"/>
          </a:solidFill>
        </p:spPr>
        <p:txBody>
          <a:bodyPr wrap="square" rtlCol="0">
            <a:spAutoFit/>
          </a:bodyPr>
          <a:lstStyle/>
          <a:p>
            <a:r>
              <a:rPr lang="en-US" dirty="0" smtClean="0">
                <a:solidFill>
                  <a:srgbClr val="7030A0"/>
                </a:solidFill>
              </a:rPr>
              <a:t>Example</a:t>
            </a:r>
            <a:endParaRPr lang="en-US" dirty="0">
              <a:solidFill>
                <a:srgbClr val="7030A0"/>
              </a:solidFill>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4191000"/>
            <a:ext cx="64008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0237" y="2971800"/>
            <a:ext cx="52625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3657600" y="3505200"/>
            <a:ext cx="1600200" cy="584775"/>
          </a:xfrm>
          <a:prstGeom prst="rect">
            <a:avLst/>
          </a:prstGeom>
          <a:solidFill>
            <a:srgbClr val="FF0000"/>
          </a:solidFill>
        </p:spPr>
        <p:txBody>
          <a:bodyPr wrap="square" rtlCol="0">
            <a:spAutoFit/>
          </a:bodyPr>
          <a:lstStyle/>
          <a:p>
            <a:r>
              <a:rPr lang="en-US" sz="3200" dirty="0" smtClean="0"/>
              <a:t>FALSE</a:t>
            </a:r>
            <a:endParaRPr lang="en-US" sz="3200" dirty="0"/>
          </a:p>
        </p:txBody>
      </p:sp>
    </p:spTree>
    <p:extLst>
      <p:ext uri="{BB962C8B-B14F-4D97-AF65-F5344CB8AC3E}">
        <p14:creationId xmlns:p14="http://schemas.microsoft.com/office/powerpoint/2010/main" val="3282261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18</a:t>
            </a:fld>
            <a:endParaRPr lang="en-US">
              <a:solidFill>
                <a:srgbClr val="FFFFFF"/>
              </a:solidFill>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550" y="1447800"/>
            <a:ext cx="643890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295400" y="1371600"/>
            <a:ext cx="1905000" cy="369332"/>
          </a:xfrm>
          <a:prstGeom prst="rect">
            <a:avLst/>
          </a:prstGeom>
          <a:solidFill>
            <a:srgbClr val="FFFF00"/>
          </a:solidFill>
        </p:spPr>
        <p:txBody>
          <a:bodyPr wrap="square" rtlCol="0">
            <a:spAutoFit/>
          </a:bodyPr>
          <a:lstStyle/>
          <a:p>
            <a:r>
              <a:rPr lang="en-US" dirty="0" smtClean="0">
                <a:solidFill>
                  <a:srgbClr val="7030A0"/>
                </a:solidFill>
              </a:rPr>
              <a:t>Example</a:t>
            </a:r>
            <a:endParaRPr lang="en-US" dirty="0">
              <a:solidFill>
                <a:srgbClr val="7030A0"/>
              </a:solidFill>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2548" y="2971800"/>
            <a:ext cx="5240252"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7788" y="4114800"/>
            <a:ext cx="6448425"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3657600" y="3505200"/>
            <a:ext cx="1600200" cy="584775"/>
          </a:xfrm>
          <a:prstGeom prst="rect">
            <a:avLst/>
          </a:prstGeom>
          <a:solidFill>
            <a:srgbClr val="FF0000"/>
          </a:solidFill>
        </p:spPr>
        <p:txBody>
          <a:bodyPr wrap="square" rtlCol="0">
            <a:spAutoFit/>
          </a:bodyPr>
          <a:lstStyle/>
          <a:p>
            <a:r>
              <a:rPr lang="en-US" sz="3200" dirty="0" smtClean="0"/>
              <a:t>FALSE</a:t>
            </a:r>
            <a:endParaRPr lang="en-US" sz="3200" dirty="0"/>
          </a:p>
        </p:txBody>
      </p:sp>
    </p:spTree>
    <p:extLst>
      <p:ext uri="{BB962C8B-B14F-4D97-AF65-F5344CB8AC3E}">
        <p14:creationId xmlns:p14="http://schemas.microsoft.com/office/powerpoint/2010/main" val="3597865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19</a:t>
            </a:fld>
            <a:endParaRPr lang="en-US">
              <a:solidFill>
                <a:srgbClr val="FFFFFF"/>
              </a:solidFill>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550" y="1447800"/>
            <a:ext cx="643890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295400" y="1383268"/>
            <a:ext cx="1905000" cy="369332"/>
          </a:xfrm>
          <a:prstGeom prst="rect">
            <a:avLst/>
          </a:prstGeom>
          <a:solidFill>
            <a:srgbClr val="FFFF00"/>
          </a:solidFill>
        </p:spPr>
        <p:txBody>
          <a:bodyPr wrap="square" rtlCol="0">
            <a:spAutoFit/>
          </a:bodyPr>
          <a:lstStyle/>
          <a:p>
            <a:r>
              <a:rPr lang="en-US" b="1" dirty="0" smtClean="0">
                <a:solidFill>
                  <a:srgbClr val="7030A0"/>
                </a:solidFill>
              </a:rPr>
              <a:t>Example</a:t>
            </a:r>
            <a:endParaRPr lang="en-US" b="1" dirty="0">
              <a:solidFill>
                <a:srgbClr val="7030A0"/>
              </a:solidFill>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7037" y="2895600"/>
            <a:ext cx="381616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7788" y="4105275"/>
            <a:ext cx="6448425"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3657600" y="3429000"/>
            <a:ext cx="1600200" cy="584775"/>
          </a:xfrm>
          <a:prstGeom prst="rect">
            <a:avLst/>
          </a:prstGeom>
          <a:solidFill>
            <a:srgbClr val="FF0000"/>
          </a:solidFill>
        </p:spPr>
        <p:txBody>
          <a:bodyPr wrap="square" rtlCol="0">
            <a:spAutoFit/>
          </a:bodyPr>
          <a:lstStyle/>
          <a:p>
            <a:r>
              <a:rPr lang="en-US" sz="3200" dirty="0" smtClean="0"/>
              <a:t>FALSE</a:t>
            </a:r>
            <a:endParaRPr lang="en-US" sz="3200" dirty="0"/>
          </a:p>
        </p:txBody>
      </p:sp>
    </p:spTree>
    <p:extLst>
      <p:ext uri="{BB962C8B-B14F-4D97-AF65-F5344CB8AC3E}">
        <p14:creationId xmlns:p14="http://schemas.microsoft.com/office/powerpoint/2010/main" val="288383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20</a:t>
            </a:fld>
            <a:endParaRPr lang="en-US">
              <a:solidFill>
                <a:srgbClr val="FFFFFF"/>
              </a:solidFill>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550" y="1447800"/>
            <a:ext cx="643890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295400" y="1371600"/>
            <a:ext cx="1905000" cy="369332"/>
          </a:xfrm>
          <a:prstGeom prst="rect">
            <a:avLst/>
          </a:prstGeom>
          <a:solidFill>
            <a:srgbClr val="FFFF00"/>
          </a:solidFill>
        </p:spPr>
        <p:txBody>
          <a:bodyPr wrap="square" rtlCol="0">
            <a:spAutoFit/>
          </a:bodyPr>
          <a:lstStyle/>
          <a:p>
            <a:r>
              <a:rPr lang="en-US" dirty="0" smtClean="0">
                <a:solidFill>
                  <a:srgbClr val="7030A0"/>
                </a:solidFill>
              </a:rPr>
              <a:t>Example</a:t>
            </a:r>
            <a:endParaRPr lang="en-US" dirty="0">
              <a:solidFill>
                <a:srgbClr val="7030A0"/>
              </a:solidFill>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895600"/>
            <a:ext cx="4795707"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1125" y="4010025"/>
            <a:ext cx="6381750"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3657600" y="3377625"/>
            <a:ext cx="1600200" cy="584775"/>
          </a:xfrm>
          <a:prstGeom prst="rect">
            <a:avLst/>
          </a:prstGeom>
          <a:solidFill>
            <a:srgbClr val="FF0000"/>
          </a:solidFill>
        </p:spPr>
        <p:txBody>
          <a:bodyPr wrap="square" rtlCol="0">
            <a:spAutoFit/>
          </a:bodyPr>
          <a:lstStyle/>
          <a:p>
            <a:r>
              <a:rPr lang="en-US" sz="3200" dirty="0" smtClean="0"/>
              <a:t>TRUE</a:t>
            </a:r>
            <a:endParaRPr lang="en-US" sz="3200" dirty="0"/>
          </a:p>
        </p:txBody>
      </p:sp>
    </p:spTree>
    <p:extLst>
      <p:ext uri="{BB962C8B-B14F-4D97-AF65-F5344CB8AC3E}">
        <p14:creationId xmlns:p14="http://schemas.microsoft.com/office/powerpoint/2010/main" val="421633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21</a:t>
            </a:fld>
            <a:endParaRPr lang="en-US">
              <a:solidFill>
                <a:srgbClr val="FFFFFF"/>
              </a:solidFill>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550" y="1447800"/>
            <a:ext cx="643890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295400" y="1371600"/>
            <a:ext cx="1905000" cy="369332"/>
          </a:xfrm>
          <a:prstGeom prst="rect">
            <a:avLst/>
          </a:prstGeom>
          <a:solidFill>
            <a:srgbClr val="FFFF00"/>
          </a:solidFill>
        </p:spPr>
        <p:txBody>
          <a:bodyPr wrap="square" rtlCol="0">
            <a:spAutoFit/>
          </a:bodyPr>
          <a:lstStyle/>
          <a:p>
            <a:r>
              <a:rPr lang="en-US" dirty="0" smtClean="0">
                <a:solidFill>
                  <a:srgbClr val="7030A0"/>
                </a:solidFill>
              </a:rPr>
              <a:t>Example</a:t>
            </a:r>
            <a:endParaRPr lang="en-US" dirty="0">
              <a:solidFill>
                <a:srgbClr val="7030A0"/>
              </a:solidFill>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7825" y="2895600"/>
            <a:ext cx="32543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9700" y="4143375"/>
            <a:ext cx="632460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3657600" y="3429000"/>
            <a:ext cx="1600200" cy="584775"/>
          </a:xfrm>
          <a:prstGeom prst="rect">
            <a:avLst/>
          </a:prstGeom>
          <a:solidFill>
            <a:srgbClr val="FF0000"/>
          </a:solidFill>
        </p:spPr>
        <p:txBody>
          <a:bodyPr wrap="square" rtlCol="0">
            <a:spAutoFit/>
          </a:bodyPr>
          <a:lstStyle/>
          <a:p>
            <a:r>
              <a:rPr lang="en-US" sz="3200" dirty="0" smtClean="0"/>
              <a:t>TRUE</a:t>
            </a:r>
            <a:endParaRPr lang="en-US" sz="3200" dirty="0"/>
          </a:p>
        </p:txBody>
      </p:sp>
    </p:spTree>
    <p:extLst>
      <p:ext uri="{BB962C8B-B14F-4D97-AF65-F5344CB8AC3E}">
        <p14:creationId xmlns:p14="http://schemas.microsoft.com/office/powerpoint/2010/main" val="3710851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371600"/>
            <a:ext cx="649605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22</a:t>
            </a:fld>
            <a:endParaRPr lang="en-US">
              <a:solidFill>
                <a:srgbClr val="FFFFFF"/>
              </a:solidFill>
            </a:endParaRPr>
          </a:p>
        </p:txBody>
      </p:sp>
      <p:sp>
        <p:nvSpPr>
          <p:cNvPr id="5" name="TextBox 4"/>
          <p:cNvSpPr txBox="1"/>
          <p:nvPr/>
        </p:nvSpPr>
        <p:spPr>
          <a:xfrm>
            <a:off x="1143000" y="1371600"/>
            <a:ext cx="1905000" cy="369332"/>
          </a:xfrm>
          <a:prstGeom prst="rect">
            <a:avLst/>
          </a:prstGeom>
          <a:solidFill>
            <a:srgbClr val="FFFF00"/>
          </a:solidFill>
        </p:spPr>
        <p:txBody>
          <a:bodyPr wrap="square" rtlCol="0">
            <a:spAutoFit/>
          </a:bodyPr>
          <a:lstStyle/>
          <a:p>
            <a:r>
              <a:rPr lang="en-US" dirty="0" smtClean="0">
                <a:solidFill>
                  <a:srgbClr val="7030A0"/>
                </a:solidFill>
              </a:rPr>
              <a:t>Example</a:t>
            </a:r>
            <a:endParaRPr lang="en-US" dirty="0">
              <a:solidFill>
                <a:srgbClr val="7030A0"/>
              </a:solidFill>
            </a:endParaRPr>
          </a:p>
        </p:txBody>
      </p:sp>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2550" y="2957513"/>
            <a:ext cx="643890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6705600" y="3581400"/>
            <a:ext cx="1085850" cy="369332"/>
          </a:xfrm>
          <a:prstGeom prst="rect">
            <a:avLst/>
          </a:prstGeom>
          <a:solidFill>
            <a:schemeClr val="bg1"/>
          </a:solidFill>
        </p:spPr>
        <p:txBody>
          <a:bodyPr wrap="square" rtlCol="0">
            <a:spAutoFit/>
          </a:bodyPr>
          <a:lstStyle/>
          <a:p>
            <a:endParaRPr lang="en-US" dirty="0"/>
          </a:p>
        </p:txBody>
      </p:sp>
      <p:sp>
        <p:nvSpPr>
          <p:cNvPr id="7" name="TextBox 6"/>
          <p:cNvSpPr txBox="1"/>
          <p:nvPr/>
        </p:nvSpPr>
        <p:spPr>
          <a:xfrm>
            <a:off x="1352550" y="4038600"/>
            <a:ext cx="6438900" cy="369332"/>
          </a:xfrm>
          <a:prstGeom prst="rect">
            <a:avLst/>
          </a:prstGeom>
          <a:solidFill>
            <a:srgbClr val="FFC000"/>
          </a:solidFill>
        </p:spPr>
        <p:txBody>
          <a:bodyPr wrap="square" rtlCol="0">
            <a:spAutoFit/>
          </a:bodyPr>
          <a:lstStyle/>
          <a:p>
            <a:r>
              <a:rPr lang="en-US" dirty="0" smtClean="0"/>
              <a:t>Let x be the number of sophomore girls</a:t>
            </a:r>
            <a:endParaRPr lang="en-US" dirty="0"/>
          </a:p>
        </p:txBody>
      </p:sp>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2075" y="4533900"/>
            <a:ext cx="641985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7259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4" name="Slide Number Placeholder 3"/>
          <p:cNvSpPr>
            <a:spLocks noGrp="1"/>
          </p:cNvSpPr>
          <p:nvPr>
            <p:ph type="sldNum" sz="quarter" idx="12"/>
          </p:nvPr>
        </p:nvSpPr>
        <p:spPr/>
        <p:txBody>
          <a:bodyPr/>
          <a:lstStyle/>
          <a:p>
            <a:pPr>
              <a:defRPr/>
            </a:pPr>
            <a:fld id="{C28CE7B8-74C5-4EE3-8B40-8D944C5F28E6}" type="slidenum">
              <a:rPr lang="en-US" smtClean="0">
                <a:solidFill>
                  <a:srgbClr val="FFFFFF"/>
                </a:solidFill>
              </a:rPr>
              <a:pPr>
                <a:defRPr/>
              </a:pPr>
              <a:t>23</a:t>
            </a:fld>
            <a:endParaRPr lang="en-US">
              <a:solidFill>
                <a:srgbClr val="FFFFFF"/>
              </a:solidFill>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363" y="1371600"/>
            <a:ext cx="6391275"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2867025"/>
            <a:ext cx="64770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5888" y="4476750"/>
            <a:ext cx="6372225"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5664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14013</TotalTime>
  <Words>533</Words>
  <Application>Microsoft Office PowerPoint</Application>
  <PresentationFormat>全屏显示(4:3)</PresentationFormat>
  <Paragraphs>86</Paragraphs>
  <Slides>23</Slides>
  <Notes>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23</vt:i4>
      </vt:variant>
    </vt:vector>
  </HeadingPairs>
  <TitlesOfParts>
    <vt:vector size="30" baseType="lpstr">
      <vt:lpstr>宋体</vt:lpstr>
      <vt:lpstr>Arial</vt:lpstr>
      <vt:lpstr>Calibri</vt:lpstr>
      <vt:lpstr>Cambria Math</vt:lpstr>
      <vt:lpstr>Comic Sans MS</vt:lpstr>
      <vt:lpstr>Times New Roman</vt:lpstr>
      <vt:lpstr>Office Theme</vt:lpstr>
      <vt:lpstr>Today</vt:lpstr>
      <vt:lpstr>Example</vt:lpstr>
      <vt:lpstr>Example</vt:lpstr>
      <vt:lpstr>PowerPoint 演示文稿</vt:lpstr>
      <vt:lpstr>Conditioning: Example</vt:lpstr>
      <vt:lpstr>Conditioning: Example</vt:lpstr>
      <vt:lpstr>Conditioning: Example</vt:lpstr>
      <vt:lpstr>Bayes’s Formula</vt:lpstr>
      <vt:lpstr>Example</vt:lpstr>
      <vt:lpstr>Example</vt:lpstr>
      <vt:lpstr>Example</vt:lpstr>
      <vt:lpstr>Example</vt:lpstr>
      <vt:lpstr>Independence</vt:lpstr>
      <vt:lpstr>Example</vt:lpstr>
      <vt:lpstr>Example</vt:lpstr>
      <vt:lpstr>Example</vt:lpstr>
      <vt:lpstr>Example</vt:lpstr>
      <vt:lpstr>Example</vt:lpstr>
      <vt:lpstr>Example</vt:lpstr>
      <vt:lpstr>Example</vt:lpstr>
      <vt:lpstr>Example</vt:lpstr>
      <vt:lpstr>Example</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AMS 311</dc:title>
  <dc:creator>Joe</dc:creator>
  <cp:lastModifiedBy>xing</cp:lastModifiedBy>
  <cp:revision>72</cp:revision>
  <dcterms:created xsi:type="dcterms:W3CDTF">2013-08-27T21:54:20Z</dcterms:created>
  <dcterms:modified xsi:type="dcterms:W3CDTF">2026-03-10T14:18:08Z</dcterms:modified>
</cp:coreProperties>
</file>