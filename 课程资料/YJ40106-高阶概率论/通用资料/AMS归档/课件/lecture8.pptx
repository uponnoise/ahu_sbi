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416" r:id="rId2"/>
    <p:sldId id="417" r:id="rId3"/>
    <p:sldId id="419" r:id="rId4"/>
    <p:sldId id="422" r:id="rId5"/>
    <p:sldId id="420" r:id="rId6"/>
    <p:sldId id="423" r:id="rId7"/>
    <p:sldId id="424" r:id="rId8"/>
    <p:sldId id="425" r:id="rId9"/>
    <p:sldId id="421" r:id="rId10"/>
    <p:sldId id="426" r:id="rId11"/>
    <p:sldId id="427" r:id="rId12"/>
    <p:sldId id="428" r:id="rId13"/>
    <p:sldId id="429" r:id="rId14"/>
    <p:sldId id="430" r:id="rId15"/>
    <p:sldId id="431" r:id="rId16"/>
    <p:sldId id="432" r:id="rId17"/>
    <p:sldId id="433" r:id="rId18"/>
    <p:sldId id="434" r:id="rId19"/>
    <p:sldId id="435" r:id="rId20"/>
    <p:sldId id="436" r:id="rId21"/>
    <p:sldId id="437" r:id="rId22"/>
    <p:sldId id="443" r:id="rId23"/>
    <p:sldId id="438" r:id="rId24"/>
    <p:sldId id="439" r:id="rId25"/>
    <p:sldId id="440" r:id="rId26"/>
    <p:sldId id="441" r:id="rId27"/>
    <p:sldId id="442" r:id="rId2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1704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47A5C3-0C48-4A28-9B54-580079D6ADAF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947487-FE42-471D-BE12-B804E3F12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1881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http://www.braingle.com/brainteasers/41777/the-game.html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947487-FE42-471D-BE12-B804E3F1271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6444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Got to here, 10/22/13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947487-FE42-471D-BE12-B804E3F1271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0047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228-ABE1-4604-A714-F25D34DAF5CE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556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228-ABE1-4604-A714-F25D34DAF5CE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925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228-ABE1-4604-A714-F25D34DAF5CE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333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228-ABE1-4604-A714-F25D34DAF5CE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681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228-ABE1-4604-A714-F25D34DAF5CE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5463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228-ABE1-4604-A714-F25D34DAF5CE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165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228-ABE1-4604-A714-F25D34DAF5CE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389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228-ABE1-4604-A714-F25D34DAF5CE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197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228-ABE1-4604-A714-F25D34DAF5CE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362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228-ABE1-4604-A714-F25D34DAF5CE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619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228-ABE1-4604-A714-F25D34DAF5CE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071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BA0228-ABE1-4604-A714-F25D34DAF5CE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098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Puzzle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Mike and James are arguing over who gets the last cookie in the jar, so their dad decides to create a game to settle their dispute. First, Mike flips a coin twice, and each time James calls heads or tails in the air. If James gets both calls right, he gets the last cookie. If not, Mike picks a number between one and six and then rolls a die. If he gets the number right, he gets the last cookie. If not, James picks two numbers between one and five, then spins a spinner with numbers one through five on it. If the spinner lands on one of James' two numbers, he gets the last cookie. If not, Mike does.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Who is more likely to win the last cookie, Mike or James? And what is the probability that person wins 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5943600"/>
            <a:ext cx="411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[braingle.com]</a:t>
            </a:r>
          </a:p>
        </p:txBody>
      </p:sp>
    </p:spTree>
    <p:extLst>
      <p:ext uri="{BB962C8B-B14F-4D97-AF65-F5344CB8AC3E}">
        <p14:creationId xmlns:p14="http://schemas.microsoft.com/office/powerpoint/2010/main" val="8453052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Distribution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Definitions: Joint discrete, continuous </a:t>
            </a:r>
          </a:p>
          <a:p>
            <a:r>
              <a:rPr lang="en-US" dirty="0"/>
              <a:t>Joint </a:t>
            </a:r>
            <a:r>
              <a:rPr lang="en-US" dirty="0" err="1"/>
              <a:t>pmf</a:t>
            </a:r>
            <a:r>
              <a:rPr lang="en-US" dirty="0"/>
              <a:t>, </a:t>
            </a:r>
            <a:r>
              <a:rPr lang="en-US" dirty="0" err="1"/>
              <a:t>pdf</a:t>
            </a:r>
            <a:r>
              <a:rPr lang="en-US" dirty="0"/>
              <a:t>, </a:t>
            </a:r>
            <a:r>
              <a:rPr lang="en-US" dirty="0" err="1"/>
              <a:t>cdf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09619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</a:t>
            </a:r>
            <a:r>
              <a:rPr lang="en-US" dirty="0" err="1"/>
              <a:t>cdf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The joint cumulative distribution function</a:t>
                </a:r>
                <a:endParaRPr lang="en-US" b="0" dirty="0"/>
              </a:p>
              <a:p>
                <a:pPr marL="0" indent="0">
                  <a:buNone/>
                </a:pPr>
                <a:r>
                  <a:rPr lang="en-US" dirty="0"/>
                  <a:t> is defined to be</a:t>
                </a:r>
              </a:p>
              <a:p>
                <a:pPr marL="0" indent="0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d>
                      <m:d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sz="3000" dirty="0"/>
                  <a:t> </a:t>
                </a:r>
                <a:r>
                  <a:rPr lang="en-US" dirty="0"/>
                  <a:t>for any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dirty="0"/>
                  <a:t>How to express: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1. </m:t>
                    </m:r>
                    <m:r>
                      <a:rPr lang="en-US" sz="30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30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3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3000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30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3000" i="1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3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30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3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3000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3000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3000" i="1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3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3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000" i="1" dirty="0">
                    <a:latin typeface="Cambria Math" panose="02040503050406030204" pitchFamily="18" charset="0"/>
                  </a:rPr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2.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i="1" dirty="0">
                    <a:latin typeface="Cambria Math" panose="02040503050406030204" pitchFamily="18" charset="0"/>
                  </a:rPr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3. 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i="1" dirty="0">
                    <a:latin typeface="Cambria Math" panose="02040503050406030204" pitchFamily="18" charset="0"/>
                  </a:rPr>
                  <a:t> 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17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46720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D27CEB-1253-47AB-BD46-C94301A6B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Marginal </a:t>
            </a:r>
            <a:r>
              <a:rPr lang="en-US" altLang="zh-CN" dirty="0" err="1"/>
              <a:t>cdf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5C94366A-8EF2-46C5-9E90-543BAEA03F5A}"/>
                  </a:ext>
                </a:extLst>
              </p:cNvPr>
              <p:cNvSpPr/>
              <p:nvPr/>
            </p:nvSpPr>
            <p:spPr>
              <a:xfrm>
                <a:off x="228600" y="1752600"/>
                <a:ext cx="8686800" cy="345819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3200" dirty="0">
                    <a:latin typeface="+mj-lt"/>
                  </a:rPr>
                  <a:t>In general, Knowing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d>
                      <m:d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altLang="zh-CN" sz="3200" dirty="0">
                    <a:latin typeface="+mj-lt"/>
                  </a:rPr>
                  <a:t>, we can obtain the </a:t>
                </a:r>
                <a:r>
                  <a:rPr lang="en-US" altLang="zh-CN" sz="3200" dirty="0" err="1">
                    <a:latin typeface="+mj-lt"/>
                  </a:rPr>
                  <a:t>cdf</a:t>
                </a:r>
                <a:r>
                  <a:rPr lang="en-US" altLang="zh-CN" sz="3200" dirty="0">
                    <a:latin typeface="+mj-lt"/>
                  </a:rPr>
                  <a:t> of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CN" sz="3200" dirty="0">
                    <a:latin typeface="+mj-lt"/>
                  </a:rPr>
                  <a:t> ,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3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3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&lt;∞</m:t>
                        </m:r>
                      </m:e>
                    </m:d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sub>
                    </m:sSub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CN" sz="3000" dirty="0">
                    <a:latin typeface="+mj-lt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altLang="zh-CN" sz="3000" dirty="0">
                    <a:latin typeface="+mj-lt"/>
                  </a:rPr>
                  <a:t>)</a:t>
                </a:r>
              </a:p>
              <a:p>
                <a:r>
                  <a:rPr lang="en-US" altLang="zh-CN" sz="3200" dirty="0">
                    <a:latin typeface="+mj-lt"/>
                    <a:sym typeface="Symbol"/>
                  </a:rPr>
                  <a:t>(often called “marginal </a:t>
                </a:r>
                <a:r>
                  <a:rPr lang="en-US" altLang="zh-CN" sz="3200" dirty="0" err="1">
                    <a:latin typeface="+mj-lt"/>
                    <a:sym typeface="Symbol"/>
                  </a:rPr>
                  <a:t>cdf</a:t>
                </a:r>
                <a:r>
                  <a:rPr lang="en-US" altLang="zh-CN" sz="3200" dirty="0">
                    <a:latin typeface="+mj-lt"/>
                    <a:sym typeface="Symbol"/>
                  </a:rPr>
                  <a:t> of X”)</a:t>
                </a:r>
              </a:p>
              <a:p>
                <a:endParaRPr lang="en-US" altLang="zh-CN" dirty="0">
                  <a:sym typeface="Symbol"/>
                </a:endParaRPr>
              </a:p>
              <a:p>
                <a:endParaRPr lang="en-US" altLang="zh-CN" dirty="0">
                  <a:sym typeface="Symbol"/>
                </a:endParaRPr>
              </a:p>
              <a:p>
                <a:endParaRPr lang="en-US" altLang="zh-CN" dirty="0">
                  <a:sym typeface="Symbol"/>
                </a:endParaRPr>
              </a:p>
              <a:p>
                <a:endParaRPr lang="en-US" altLang="zh-CN" dirty="0">
                  <a:sym typeface="Symbol"/>
                </a:endParaRPr>
              </a:p>
              <a:p>
                <a:endParaRPr lang="en-US" altLang="zh-CN" dirty="0"/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5C94366A-8EF2-46C5-9E90-543BAEA03F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1752600"/>
                <a:ext cx="8686800" cy="3458191"/>
              </a:xfrm>
              <a:prstGeom prst="rect">
                <a:avLst/>
              </a:prstGeom>
              <a:blipFill>
                <a:blip r:embed="rId2"/>
                <a:stretch>
                  <a:fillRect l="-1825" t="-21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14123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Discrete </a:t>
            </a:r>
            <a:r>
              <a:rPr lang="en-US" dirty="0" err="1"/>
              <a:t>r.v.’s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If X and Y are both discrete, we define the joint </a:t>
                </a:r>
              </a:p>
              <a:p>
                <a:pPr marL="0" indent="0">
                  <a:buNone/>
                </a:pPr>
                <a:r>
                  <a:rPr lang="en-US" dirty="0"/>
                  <a:t>Probability mass function: p(</a:t>
                </a:r>
                <a:r>
                  <a:rPr lang="en-US" dirty="0" err="1"/>
                  <a:t>x,y</a:t>
                </a:r>
                <a:r>
                  <a:rPr lang="en-US" dirty="0"/>
                  <a:t>) = P(X=</a:t>
                </a:r>
                <a:r>
                  <a:rPr lang="en-US" dirty="0" err="1"/>
                  <a:t>x,Y</a:t>
                </a:r>
                <a:r>
                  <a:rPr lang="en-US" dirty="0"/>
                  <a:t>=y)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The </a:t>
                </a:r>
                <a:r>
                  <a:rPr lang="en-US" dirty="0" err="1"/>
                  <a:t>pmf</a:t>
                </a:r>
                <a:r>
                  <a:rPr lang="en-US" dirty="0"/>
                  <a:t> of X (all by itself) is then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sz="2800" dirty="0" err="1"/>
                  <a:t>p</a:t>
                </a:r>
                <a:r>
                  <a:rPr lang="en-US" sz="2800" baseline="-25000" dirty="0" err="1"/>
                  <a:t>X</a:t>
                </a:r>
                <a:r>
                  <a:rPr lang="en-US" sz="2800" dirty="0"/>
                  <a:t>(x)=P(X=x) = P(X=</a:t>
                </a:r>
                <a:r>
                  <a:rPr lang="en-US" sz="2800" dirty="0" err="1"/>
                  <a:t>x,Y</a:t>
                </a:r>
                <a:r>
                  <a:rPr lang="en-US" sz="2800" dirty="0"/>
                  <a:t>=y</a:t>
                </a:r>
                <a:r>
                  <a:rPr lang="en-US" sz="2800" baseline="-25000" dirty="0"/>
                  <a:t>1</a:t>
                </a:r>
                <a:r>
                  <a:rPr lang="en-US" sz="2800" dirty="0"/>
                  <a:t>) + P(X=</a:t>
                </a:r>
                <a:r>
                  <a:rPr lang="en-US" sz="2800" dirty="0" err="1"/>
                  <a:t>x,Y</a:t>
                </a:r>
                <a:r>
                  <a:rPr lang="en-US" sz="2800" dirty="0"/>
                  <a:t>=y</a:t>
                </a:r>
                <a:r>
                  <a:rPr lang="en-US" sz="2800" baseline="-25000" dirty="0"/>
                  <a:t>2</a:t>
                </a:r>
                <a:r>
                  <a:rPr lang="en-US" sz="2800" dirty="0"/>
                  <a:t>) + … =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800" b="0" i="1" smtClean="0">
                            <a:latin typeface="Cambria Math"/>
                          </a:rPr>
                          <m:t>𝑦</m:t>
                        </m:r>
                        <m:r>
                          <a:rPr lang="en-US" sz="2800" b="0" i="1" smtClean="0">
                            <a:latin typeface="Cambria Math"/>
                          </a:rPr>
                          <m:t>:</m:t>
                        </m:r>
                        <m:r>
                          <a:rPr lang="en-US" sz="2800" b="0" i="1" smtClean="0">
                            <a:latin typeface="Cambria Math"/>
                          </a:rPr>
                          <m:t>𝑝</m:t>
                        </m:r>
                        <m:d>
                          <m:d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brk m:alnAt="7"/>
                              </m:rPr>
                              <a:rPr lang="en-US" sz="2800" b="0" i="1" smtClean="0">
                                <a:latin typeface="Cambria Math"/>
                              </a:rPr>
                              <m:t>𝑥</m:t>
                            </m:r>
                            <m:r>
                              <a:rPr lang="en-US" sz="2800" b="0" i="1" smtClean="0">
                                <a:latin typeface="Cambria Math"/>
                              </a:rPr>
                              <m:t>,</m:t>
                            </m:r>
                            <m:r>
                              <a:rPr lang="en-US" sz="2800" b="0" i="1" smtClean="0">
                                <a:latin typeface="Cambria Math"/>
                              </a:rPr>
                              <m:t>𝑦</m:t>
                            </m:r>
                          </m:e>
                        </m:d>
                        <m:r>
                          <m:rPr>
                            <m:brk m:alnAt="7"/>
                          </m:rPr>
                          <a:rPr lang="en-US" sz="2800" b="0" i="1" smtClean="0">
                            <a:latin typeface="Cambria Math"/>
                          </a:rPr>
                          <m:t>&gt;</m:t>
                        </m:r>
                        <m:r>
                          <a:rPr lang="en-US" sz="2800" b="0" i="1" smtClean="0">
                            <a:latin typeface="Cambria Math"/>
                          </a:rPr>
                          <m:t>0</m:t>
                        </m:r>
                      </m:sub>
                      <m:sup/>
                      <m:e>
                        <m:r>
                          <a:rPr lang="en-US" sz="2800" b="0" i="1" smtClean="0">
                            <a:latin typeface="Cambria Math"/>
                          </a:rPr>
                          <m:t>𝑝</m:t>
                        </m:r>
                        <m:r>
                          <a:rPr lang="en-US" sz="2800" b="0" i="1" smtClean="0">
                            <a:latin typeface="Cambria Math"/>
                          </a:rPr>
                          <m:t>(</m:t>
                        </m:r>
                        <m:r>
                          <a:rPr lang="en-US" sz="2800" b="0" i="1" smtClean="0">
                            <a:latin typeface="Cambria Math"/>
                          </a:rPr>
                          <m:t>𝑥</m:t>
                        </m:r>
                        <m:r>
                          <a:rPr lang="en-US" sz="2800" b="0" i="1" smtClean="0">
                            <a:latin typeface="Cambria Math"/>
                          </a:rPr>
                          <m:t>,</m:t>
                        </m:r>
                        <m:r>
                          <a:rPr lang="en-US" sz="2800" b="0" i="1" smtClean="0">
                            <a:latin typeface="Cambria Math"/>
                          </a:rPr>
                          <m:t>𝑦</m:t>
                        </m:r>
                        <m:r>
                          <a:rPr lang="en-US" sz="2800" b="0" i="1" smtClean="0">
                            <a:latin typeface="Cambria Math"/>
                          </a:rPr>
                          <m:t>)</m:t>
                        </m:r>
                      </m:e>
                    </m:nary>
                  </m:oMath>
                </a14:m>
                <a:endParaRPr lang="en-US" sz="280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(this is the “marginal </a:t>
                </a:r>
                <a:r>
                  <a:rPr lang="en-US" dirty="0" err="1"/>
                  <a:t>pmf</a:t>
                </a:r>
                <a:r>
                  <a:rPr lang="en-US" dirty="0"/>
                  <a:t> of X”)</a:t>
                </a:r>
              </a:p>
              <a:p>
                <a:pPr marL="0" indent="0">
                  <a:buNone/>
                </a:pPr>
                <a:r>
                  <a:rPr lang="en-US" dirty="0"/>
                  <a:t>Similarly, the marginal </a:t>
                </a:r>
                <a:r>
                  <a:rPr lang="en-US" dirty="0" err="1"/>
                  <a:t>pmf</a:t>
                </a:r>
                <a:r>
                  <a:rPr lang="en-US" dirty="0"/>
                  <a:t> of Y is given by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𝑌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r>
                        <a:rPr lang="en-US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/>
                            </a:rPr>
                            <m:t>𝑌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: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𝑦</m:t>
                              </m:r>
                            </m:e>
                          </m:d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/>
                            </a:rPr>
                            <m:t>&gt;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0</m:t>
                          </m:r>
                        </m:sub>
                        <m:sup/>
                        <m:e>
                          <m:r>
                            <a:rPr lang="en-US" b="0" i="1" smtClean="0">
                              <a:latin typeface="Cambria Math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85" t="-25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91997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9202AC-4476-40D2-BE27-61C7A6A14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 1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9F5F5DA-FD59-4783-839A-19E90B6C07F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417638"/>
                <a:ext cx="8229600" cy="4525963"/>
              </a:xfrm>
            </p:spPr>
            <p:txBody>
              <a:bodyPr>
                <a:normAutofit lnSpcReduction="10000"/>
              </a:bodyPr>
              <a:lstStyle/>
              <a:p>
                <a:pPr marL="0" indent="0" algn="just">
                  <a:buNone/>
                </a:pPr>
                <a:r>
                  <a:rPr lang="en-US" altLang="zh-CN" dirty="0"/>
                  <a:t>Suppose that three balls are randomly selected from an urn containing three red, four white, and five blue balls. If we let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and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denote the number of red and white balls chosen, then the joint </a:t>
                </a:r>
                <a:r>
                  <a:rPr lang="en-US" altLang="zh-CN" dirty="0" err="1"/>
                  <a:t>pmf</a:t>
                </a:r>
                <a:r>
                  <a:rPr lang="en-US" altLang="zh-CN" dirty="0"/>
                  <a:t> of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and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altLang="zh-CN" dirty="0"/>
                  <a:t>, 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</m:oMath>
                  </m:oMathPara>
                </a14:m>
                <a:endParaRPr lang="en-US" altLang="zh-CN" b="0" dirty="0"/>
              </a:p>
              <a:p>
                <a:pPr marL="0" indent="0" algn="just">
                  <a:buNone/>
                </a:pPr>
                <a:r>
                  <a:rPr lang="en-US" altLang="zh-CN" dirty="0"/>
                  <a:t>is obtained by noting that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altLang="zh-CN" dirty="0"/>
                  <a:t>, if, of the three balls selected,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are red,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are white, and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3−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are blue. Find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9F5F5DA-FD59-4783-839A-19E90B6C07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417638"/>
                <a:ext cx="8229600" cy="4525963"/>
              </a:xfrm>
              <a:blipFill>
                <a:blip r:embed="rId2"/>
                <a:stretch>
                  <a:fillRect l="-1852" t="-2830" r="-18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44668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E2094546-2E71-4510-A46D-530CFEEC9E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695" y="1065845"/>
            <a:ext cx="7632610" cy="4726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0169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422DCF-0215-48B6-8972-E0A16193B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 2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C3960C1-3064-40F5-9AEE-A793357496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CN" dirty="0"/>
                  <a:t>Consider independent trials where each trial is a success with probability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zh-CN" dirty="0"/>
                  <a:t>.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lit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altLang="zh-CN" dirty="0"/>
                  <a:t>denote the number of trials until there have been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success, and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denote the number of trials until there have been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failures. Suppose we want to derive their joint probability mass function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Assume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first. </a:t>
                </a:r>
                <a:r>
                  <a:rPr lang="zh-CN" altLang="en-US" dirty="0"/>
                  <a:t> 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C3960C1-3064-40F5-9AEE-A793357496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1752" r="-23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84198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Jointly Continuous </a:t>
            </a:r>
            <a:r>
              <a:rPr lang="en-US" dirty="0" err="1"/>
              <a:t>r.v.’s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We say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𝑋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𝑌</m:t>
                    </m:r>
                  </m:oMath>
                </a14:m>
                <a:r>
                  <a:rPr lang="en-US" dirty="0"/>
                  <a:t> are jointly continuous </a:t>
                </a:r>
                <a:r>
                  <a:rPr lang="en-US" dirty="0" err="1"/>
                  <a:t>r.v.’s</a:t>
                </a:r>
                <a:r>
                  <a:rPr lang="en-US" dirty="0"/>
                  <a:t>, if there exists a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𝑓</m:t>
                    </m:r>
                    <m:r>
                      <a:rPr lang="en-US" b="0" i="1" smtClean="0">
                        <a:latin typeface="Cambria Math"/>
                      </a:rPr>
                      <m:t>(</m:t>
                    </m:r>
                    <m:r>
                      <a:rPr lang="en-US" b="0" i="1" smtClean="0">
                        <a:latin typeface="Cambria Math"/>
                      </a:rPr>
                      <m:t>𝑥</m:t>
                    </m:r>
                    <m:r>
                      <a:rPr lang="en-US" b="0" i="1" smtClean="0">
                        <a:latin typeface="Cambria Math"/>
                      </a:rPr>
                      <m:t>,</m:t>
                    </m:r>
                    <m:r>
                      <a:rPr lang="en-US" b="0" i="1" smtClean="0">
                        <a:latin typeface="Cambria Math"/>
                      </a:rPr>
                      <m:t>𝑦</m:t>
                    </m:r>
                    <m:r>
                      <a:rPr lang="en-US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, defined for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(</m:t>
                    </m:r>
                    <m:r>
                      <a:rPr lang="en-US" b="0" i="1" smtClean="0">
                        <a:latin typeface="Cambria Math"/>
                      </a:rPr>
                      <m:t>𝑥</m:t>
                    </m:r>
                    <m:r>
                      <a:rPr lang="en-US" b="0" i="1" smtClean="0">
                        <a:latin typeface="Cambria Math"/>
                      </a:rPr>
                      <m:t>,</m:t>
                    </m:r>
                    <m:r>
                      <a:rPr lang="en-US" b="0" i="1" smtClean="0">
                        <a:latin typeface="Cambria Math"/>
                      </a:rPr>
                      <m:t>𝑦</m:t>
                    </m:r>
                    <m:r>
                      <a:rPr lang="en-US" b="0" i="1" smtClean="0">
                        <a:latin typeface="Cambria Math"/>
                      </a:rPr>
                      <m:t>)∈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, such that for any subset B of the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𝑥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𝑦</m:t>
                    </m:r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-plane, we obtain the probability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𝑋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𝑌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∈</m:t>
                          </m:r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𝐵</m:t>
                          </m:r>
                        </m:e>
                      </m:d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=</m:t>
                      </m:r>
                      <m:nary>
                        <m:naryPr>
                          <m:chr m:val="∬"/>
                          <m:limLoc m:val="undOvr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b="0" i="1" smtClean="0">
                              <a:latin typeface="Cambria Math"/>
                              <a:ea typeface="Cambria Math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)∈</m:t>
                          </m:r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𝐵</m:t>
                          </m:r>
                        </m:sub>
                        <m:sup/>
                        <m:e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/>
                                  <a:ea typeface="Cambria Math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/>
                                  <a:ea typeface="Cambria Math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/>
                                  <a:ea typeface="Cambria Math"/>
                                </a:rPr>
                                <m:t>𝑦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𝑑𝑦</m:t>
                          </m:r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𝑥</m:t>
                        </m:r>
                        <m:r>
                          <a:rPr lang="en-US" i="1">
                            <a:latin typeface="Cambria Math"/>
                          </a:rPr>
                          <m:t>,</m:t>
                        </m:r>
                        <m:r>
                          <a:rPr lang="en-US" i="1">
                            <a:latin typeface="Cambria Math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dirty="0"/>
                  <a:t> is called the </a:t>
                </a:r>
                <a:r>
                  <a:rPr lang="en-US" i="1" dirty="0"/>
                  <a:t>joint probability density function (joint </a:t>
                </a:r>
                <a:r>
                  <a:rPr lang="en-US" i="1" dirty="0" err="1"/>
                  <a:t>pdf</a:t>
                </a:r>
                <a:r>
                  <a:rPr lang="en-US" i="1" dirty="0"/>
                  <a:t>)</a:t>
                </a:r>
                <a:r>
                  <a:rPr lang="en-US" dirty="0"/>
                  <a:t>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𝑋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𝑌</m:t>
                    </m:r>
                  </m:oMath>
                </a14:m>
                <a:r>
                  <a:rPr lang="en-US" dirty="0"/>
                  <a:t>.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852" t="-2695" r="-1037" b="-16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0395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1968DB5-68EC-4E38-BACE-4BD1C4821EA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838200"/>
                <a:ext cx="8229600" cy="1371600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  <m:e>
                          <m:nary>
                            <m:nary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p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𝑑𝑥𝑑𝑦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1968DB5-68EC-4E38-BACE-4BD1C4821E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838200"/>
                <a:ext cx="8229600" cy="137160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FE38538C-5F37-4553-9E3F-06479C190345}"/>
                  </a:ext>
                </a:extLst>
              </p:cNvPr>
              <p:cNvSpPr txBox="1"/>
              <p:nvPr/>
            </p:nvSpPr>
            <p:spPr>
              <a:xfrm>
                <a:off x="1295400" y="1741780"/>
                <a:ext cx="7391400" cy="14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altLang="zh-CN" dirty="0"/>
              </a:p>
              <a:p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       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3200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2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 dirty="0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en-US" altLang="zh-CN" sz="32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3200" i="1" dirty="0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32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200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a:rPr lang="en-US" altLang="zh-CN" sz="3200" b="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3200" dirty="0"/>
              </a:p>
              <a:p>
                <a:endParaRPr lang="en-US" altLang="zh-CN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FE38538C-5F37-4553-9E3F-06479C1903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400" y="1741780"/>
                <a:ext cx="7391400" cy="146944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C13A3EB3-B526-407A-8443-DAEEAFDD3A04}"/>
                  </a:ext>
                </a:extLst>
              </p:cNvPr>
              <p:cNvSpPr txBox="1"/>
              <p:nvPr/>
            </p:nvSpPr>
            <p:spPr>
              <a:xfrm>
                <a:off x="876300" y="2209800"/>
                <a:ext cx="7391400" cy="46781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altLang="zh-CN" sz="3200" dirty="0"/>
              </a:p>
              <a:p>
                <a:r>
                  <a:rPr lang="en-US" altLang="zh-CN" sz="3200" dirty="0"/>
                  <a:t>Similarly, </a:t>
                </a:r>
              </a:p>
              <a:p>
                <a:endParaRPr lang="en-US" altLang="zh-CN" sz="3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𝑑𝑎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e>
                      </m:d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𝑑𝑎𝑑𝑏</m:t>
                      </m:r>
                    </m:oMath>
                  </m:oMathPara>
                </a14:m>
                <a:endParaRPr lang="en-US" altLang="zh-CN" sz="3200" b="0" dirty="0">
                  <a:ea typeface="Cambria Math" panose="02040503050406030204" pitchFamily="18" charset="0"/>
                </a:endParaRPr>
              </a:p>
              <a:p>
                <a:endParaRPr lang="en-US" altLang="zh-CN" dirty="0"/>
              </a:p>
              <a:p>
                <a:r>
                  <a:rPr lang="en-US" altLang="zh-CN" sz="3200" dirty="0"/>
                  <a:t>Marginal pdf: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sz="320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e>
                      </m:nary>
                    </m:oMath>
                  </m:oMathPara>
                </a14:m>
                <a:endParaRPr lang="en-US" altLang="zh-CN" sz="3200" dirty="0"/>
              </a:p>
              <a:p>
                <a:endParaRPr lang="en-US" altLang="zh-CN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C13A3EB3-B526-407A-8443-DAEEAFDD3A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300" y="2209800"/>
                <a:ext cx="7391400" cy="4678140"/>
              </a:xfrm>
              <a:prstGeom prst="rect">
                <a:avLst/>
              </a:prstGeom>
              <a:blipFill>
                <a:blip r:embed="rId4"/>
                <a:stretch>
                  <a:fillRect l="-21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45601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E19C8B-BFD8-4AE3-868E-40555B857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 3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1B20B47-3146-46D6-8DC1-A3AA12A1CE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CN" dirty="0"/>
                  <a:t>The joint density function of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and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is given by </a:t>
                </a:r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p>
                              </m:s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&gt;0, 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&gt;0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0,      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𝑜𝑡h𝑒𝑟𝑤𝑖𝑠𝑒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eqAr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dirty="0"/>
                  <a:t>Compute (a)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&gt;1,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&lt;1</m:t>
                        </m:r>
                      </m:e>
                    </m:d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dirty="0"/>
                  <a:t>                  (b)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                  (c)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1B20B47-3146-46D6-8DC1-A3AA12A1CE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1617" r="-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81081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BDECC5-AB87-46B6-B7F1-230B4B242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 4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F81090C-5B2D-43C5-8941-BD147862DC5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CN" dirty="0"/>
                  <a:t>The joint density function of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and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is given by </a:t>
                </a:r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p>
                              </m:s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&gt;0, 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&gt;0</m:t>
                              </m:r>
                            </m:e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0,      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𝑜𝑡h𝑒𝑟𝑤𝑖𝑠𝑒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Find the density function of the random variable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altLang="zh-CN" dirty="0"/>
                  <a:t>.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F81090C-5B2D-43C5-8941-BD147862DC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1617" r="-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57003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8937F5-26AB-425A-9578-B93B11E9B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 5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C7D408B-2C91-42A1-B09C-57ADE8B80D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95400"/>
                <a:ext cx="8229600" cy="4525963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US" altLang="zh-CN" sz="2800" dirty="0"/>
                  <a:t>Consider a circle of radius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zh-CN" altLang="en-US" sz="2800" dirty="0"/>
                  <a:t> </a:t>
                </a:r>
                <a:r>
                  <a:rPr lang="en-US" altLang="zh-CN" sz="2800" dirty="0"/>
                  <a:t>and suppose that a point within the circle is randomly chose in such a manner that all regions within the circle of equal area are equally likely to contain the point. If we assume the center of the circle is the origin and define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sz="2800" dirty="0"/>
                  <a:t> </a:t>
                </a:r>
                <a:r>
                  <a:rPr lang="en-US" altLang="zh-CN" sz="2800" dirty="0"/>
                  <a:t>and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zh-CN" altLang="en-US" sz="2800" dirty="0"/>
                  <a:t> </a:t>
                </a:r>
                <a:r>
                  <a:rPr lang="en-US" altLang="zh-CN" sz="2800" dirty="0"/>
                  <a:t>to be the coordinate of the point chosen. The joint density function is given by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sSup>
                                <m:s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sSup>
                                <m:s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         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𝑜𝑡h𝑒𝑟𝑖𝑠𝑒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(a) Compute the constant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altLang="zh-CN" dirty="0"/>
                  <a:t>. (b) Marginal density function of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CN" dirty="0"/>
                  <a:t>, (c) the probability that the distance from the origin to the point selected is less than or equal to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CN" dirty="0"/>
                  <a:t>, (d) Find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C7D408B-2C91-42A1-B09C-57ADE8B80D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95400"/>
                <a:ext cx="8229600" cy="4525963"/>
              </a:xfrm>
              <a:blipFill>
                <a:blip r:embed="rId2"/>
                <a:stretch>
                  <a:fillRect l="-1407" t="-2561" r="-1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01433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B0D6EE-1A6B-4B49-98D6-9DAA942A9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6.2 Independent random variables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7F49E2E-0994-457A-80C5-825AB2DE0F6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CN" dirty="0"/>
                  <a:t>Recall independent events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Similarly, two random variables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and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are said to be </a:t>
                </a:r>
                <a:r>
                  <a:rPr lang="en-US" altLang="zh-CN" i="1" dirty="0"/>
                  <a:t>independent  </a:t>
                </a:r>
                <a:r>
                  <a:rPr lang="en-US" altLang="zh-CN" dirty="0"/>
                  <a:t>if for any two sets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zh-CN" dirty="0"/>
                  <a:t> and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zh-CN" dirty="0"/>
                  <a:t>,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altLang="zh-CN" dirty="0"/>
                  <a:t>  </a:t>
                </a:r>
              </a:p>
              <a:p>
                <a:pPr marL="0" indent="0">
                  <a:buNone/>
                </a:pPr>
                <a:r>
                  <a:rPr lang="en-US" altLang="zh-CN" i="1" dirty="0"/>
                  <a:t>Sufficient to require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−∞,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=(−∞,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i="1" dirty="0"/>
              </a:p>
              <a:p>
                <a:pPr marL="0" indent="0">
                  <a:buNone/>
                </a:pPr>
                <a:r>
                  <a:rPr lang="en-US" altLang="zh-CN" dirty="0"/>
                  <a:t>Thus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7F49E2E-0994-457A-80C5-825AB2DE0F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1752" r="-2074" b="-13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4215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AB11D3-1035-4A1B-8090-46812357A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independent discrete </a:t>
            </a:r>
            <a:r>
              <a:rPr lang="en-US" altLang="zh-CN" dirty="0" err="1"/>
              <a:t>r.v.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6E9416C-F86E-4636-A861-A483C65BA1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CN" dirty="0"/>
                  <a:t>For discrete </a:t>
                </a:r>
                <a:r>
                  <a:rPr lang="en-US" altLang="zh-CN" dirty="0" err="1"/>
                  <a:t>r.v.</a:t>
                </a:r>
                <a:r>
                  <a:rPr lang="en-US" altLang="zh-CN" dirty="0"/>
                  <a:t> 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9"/>
                                </m:r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  <m:sup/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                                      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altLang="zh-CN" dirty="0"/>
                  <a:t>  </a:t>
                </a:r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6E9416C-F86E-4636-A861-A483C65BA1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16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89004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20D1E2-10AC-4105-8186-B42343DB1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 6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7804462-008D-44FC-A218-C2C1C08DE8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A man and a woman decide to meet at a certain location. If each of them independently arrives at a time uniformly distributed between 12 noon and 1 P.M., find the probability that the first to arrive has to wait longer than 10 minutes.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309655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55208A-15B0-47FB-864A-236A42958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 7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3D54B85-2428-4387-A51C-7C4406CB43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CN" dirty="0"/>
                  <a:t>Buffon’s needle problem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A table is ruled with equidistant parallel lines a distance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altLang="zh-CN" dirty="0"/>
                  <a:t> apart. A needle of length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altLang="zh-CN" dirty="0"/>
                  <a:t> where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altLang="zh-CN" dirty="0"/>
                  <a:t>, is randomly thrown on the table. What is probability that the needle will intersect one of the lines?  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3D54B85-2428-4387-A51C-7C4406CB43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1752" r="-22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96789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A9C6DD-83F7-451D-8698-C967CC00B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Continuous </a:t>
            </a:r>
            <a:r>
              <a:rPr lang="en-US" altLang="zh-CN" dirty="0" err="1"/>
              <a:t>r.v.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847B25B-66CB-4F2D-9D4A-B0B27A49E0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CN" dirty="0"/>
                  <a:t>Proposition. The  continuous (discrete) random variables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and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are independent if and only if their joint probability density (mass) function can be expressed as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𝑓𝑜𝑟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𝑎𝑙𝑙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847B25B-66CB-4F2D-9D4A-B0B27A49E0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1752" r="-8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15517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74932E-2278-42A6-8151-D49908218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 8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33223EF-60B5-48F2-A82F-513B72017F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CN" dirty="0"/>
                  <a:t>If the joint density function of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and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is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=6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−3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for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0&lt;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&lt;∞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and is equal to 0 outside this region, are the random variables independent? What if the joint density function is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=24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𝑥𝑦</m:t>
                      </m:r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for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0&lt;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&lt;1, 0&lt;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and is equal to </a:t>
                </a:r>
                <a:r>
                  <a:rPr lang="en-US" altLang="zh-CN"/>
                  <a:t>0 otherwise?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33223EF-60B5-48F2-A82F-513B72017F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1617" r="-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19172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C9EB2F-68DF-4C58-83CC-1EAA453EC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Sums of independent </a:t>
            </a:r>
            <a:r>
              <a:rPr lang="en-US" altLang="zh-CN" dirty="0" err="1"/>
              <a:t>r.v.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5DF3499-CD77-4272-A28C-AE1766F201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CN" dirty="0"/>
                  <a:t>Assume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and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are independent continuous </a:t>
                </a:r>
                <a:r>
                  <a:rPr lang="en-US" altLang="zh-CN" dirty="0" err="1"/>
                  <a:t>r.vs</a:t>
                </a:r>
                <a:r>
                  <a:rPr lang="en-US" altLang="zh-CN" dirty="0"/>
                  <a:t> having pdf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</m:oMath>
                </a14:m>
                <a:r>
                  <a:rPr lang="en-US" altLang="zh-CN" dirty="0"/>
                  <a:t>.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d>
                        <m:d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∬"/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sSub>
                            <m:sSubPr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𝑑𝑥𝑑𝑦</m:t>
                          </m:r>
                        </m:e>
                      </m:nary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nary>
                            <m:naryPr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b>
                            <m:sup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𝑑𝑥𝑑𝑦</m:t>
                              </m:r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nary>
                                <m:naryPr>
                                  <m:ctrlPr>
                                    <a:rPr lang="en-US" altLang="zh-CN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CN" sz="22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</a:rPr>
                                    <m:t>∞</m:t>
                                  </m:r>
                                </m:sub>
                                <m:sup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</a:rPr>
                                    <m:t>∞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altLang="zh-CN" sz="2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200" b="0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altLang="zh-CN" sz="2200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CN" sz="2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2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  <m:sSub>
                                    <m:sSubPr>
                                      <m:ctrlPr>
                                        <a:rPr lang="en-US" altLang="zh-CN" sz="2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200" b="0" i="1" smtClean="0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  <m:sub>
                                      <m:r>
                                        <a:rPr lang="en-US" altLang="zh-CN" sz="2200" b="0" i="1" smtClean="0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CN" sz="2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200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  <m:r>
                                        <a:rPr lang="en-US" altLang="zh-CN" sz="22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CN" sz="22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</a:rPr>
                                    <m:t>𝑑𝑥</m:t>
                                  </m:r>
                                </m:e>
                              </m:nary>
                            </m:e>
                          </m:nary>
                        </m:e>
                      </m:nary>
                    </m:oMath>
                  </m:oMathPara>
                </a14:m>
                <a:endParaRPr lang="en-US" altLang="zh-CN" sz="2200" b="0" dirty="0"/>
              </a:p>
              <a:p>
                <a:pPr marL="0" indent="0">
                  <a:buNone/>
                </a:pPr>
                <a:r>
                  <a:rPr lang="en-US" altLang="zh-CN" b="0" dirty="0"/>
                  <a:t>Thus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d>
                        <m:d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2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sSub>
                            <m:sSub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altLang="zh-CN" sz="2200" b="0" dirty="0"/>
              </a:p>
              <a:p>
                <a:pPr marL="0" indent="0">
                  <a:buNone/>
                </a:pPr>
                <a:r>
                  <a:rPr lang="en-US" altLang="zh-CN" dirty="0"/>
                  <a:t>convolution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5DF3499-CD77-4272-A28C-AE1766F201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1617" b="-4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73602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BD9ED9-3962-4B95-A88A-EFE5C7337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 9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C903666-427D-4C93-AE71-4D91AB7FD78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CN" dirty="0"/>
                  <a:t>If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and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are independent </a:t>
                </a:r>
                <a:r>
                  <a:rPr lang="en-US" altLang="zh-CN" dirty="0" err="1"/>
                  <a:t>r.v.</a:t>
                </a:r>
                <a:r>
                  <a:rPr lang="en-US" altLang="zh-CN" dirty="0"/>
                  <a:t> both uniformly distributed on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(0,1)</m:t>
                    </m:r>
                  </m:oMath>
                </a14:m>
                <a:r>
                  <a:rPr lang="en-US" altLang="zh-CN" dirty="0"/>
                  <a:t>, calculate the probability density function of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altLang="zh-CN" dirty="0"/>
                  <a:t>. </a:t>
                </a:r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In general,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+⋯+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for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≤1</m:t>
                    </m:r>
                  </m:oMath>
                </a14:m>
                <a:r>
                  <a:rPr lang="en-US" altLang="zh-CN" dirty="0"/>
                  <a:t>.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To show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lang="en-US" altLang="zh-CN" dirty="0"/>
                  <a:t> for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≤1</m:t>
                    </m:r>
                  </m:oMath>
                </a14:m>
                <a:r>
                  <a:rPr lang="en-US" altLang="zh-CN" dirty="0"/>
                  <a:t>.</a:t>
                </a:r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C903666-427D-4C93-AE71-4D91AB7FD7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16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21989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2CBD8E7-5031-452C-9AA5-93465416D86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CN" dirty="0"/>
                  <a:t>Assume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dirty="0"/>
                  <a:t> are independent uniform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n-US" altLang="zh-CN" dirty="0"/>
                  <a:t> random variables. Let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altLang="zh-CN" b="0" dirty="0"/>
                  <a:t> be defined as follows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: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+…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&gt;1</m:t>
                              </m:r>
                            </m:e>
                          </m:d>
                        </m:e>
                      </m:func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b="0" dirty="0"/>
                  <a:t>To compute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dirty="0"/>
                  <a:t>Observe: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endParaRPr lang="en-US" altLang="zh-CN" b="0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2CBD8E7-5031-452C-9AA5-93465416D8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16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13799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586D21-A447-472B-B599-66A00645E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Examples Gamma </a:t>
            </a:r>
            <a:r>
              <a:rPr lang="en-US" altLang="zh-CN" dirty="0" err="1"/>
              <a:t>r.v.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602A2CA-422B-4220-930E-9FF5DE70330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4800" y="1295400"/>
                <a:ext cx="8229600" cy="4525963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altLang="zh-CN" dirty="0"/>
                  <a:t>Gamma function: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Γ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e>
                    </m:nary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en-US" altLang="zh-CN" b="0" i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dt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 (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&gt;0).</m:t>
                    </m:r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Note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Γ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The pdf of a Gamma </a:t>
                </a:r>
                <a:r>
                  <a:rPr lang="en-US" altLang="zh-CN" dirty="0" err="1"/>
                  <a:t>r..v</a:t>
                </a:r>
                <a:r>
                  <a:rPr lang="en-US" altLang="zh-CN" dirty="0"/>
                  <a:t>. is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𝜆</m:t>
                          </m:r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Γ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 0&lt;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&lt;∞</m:t>
                      </m:r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Example 10:  If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CN" dirty="0"/>
                  <a:t> and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altLang="zh-CN" dirty="0"/>
                  <a:t> are independent Gamma </a:t>
                </a:r>
                <a:r>
                  <a:rPr lang="en-US" altLang="zh-CN" dirty="0" err="1"/>
                  <a:t>r.v.</a:t>
                </a:r>
                <a:r>
                  <a:rPr lang="en-US" altLang="zh-CN" dirty="0"/>
                  <a:t> with parameters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</m:oMath>
                </a14:m>
                <a:r>
                  <a:rPr lang="en-US" altLang="zh-CN" dirty="0"/>
                  <a:t>, then show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altLang="zh-CN" dirty="0"/>
                  <a:t> is also a Gamma </a:t>
                </a:r>
                <a:r>
                  <a:rPr lang="en-US" altLang="zh-CN" dirty="0" err="1"/>
                  <a:t>r.v.</a:t>
                </a:r>
                <a:r>
                  <a:rPr lang="en-US" altLang="zh-CN" dirty="0"/>
                  <a:t> with parameter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altLang="zh-CN" dirty="0"/>
                  <a:t> 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Special case: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zh-CN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+⋯+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dirty="0"/>
                  <a:t>, sum of Poisson </a:t>
                </a:r>
                <a:r>
                  <a:rPr lang="en-US" altLang="zh-CN" dirty="0" err="1"/>
                  <a:t>r.v.</a:t>
                </a:r>
                <a:r>
                  <a:rPr lang="en-US" altLang="zh-CN" dirty="0"/>
                  <a:t> </a:t>
                </a:r>
              </a:p>
              <a:p>
                <a:pPr marL="0" indent="0">
                  <a:buNone/>
                </a:pPr>
                <a:endParaRPr lang="en-US" altLang="zh-CN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602A2CA-422B-4220-930E-9FF5DE7033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295400"/>
                <a:ext cx="8229600" cy="4525963"/>
              </a:xfrm>
              <a:blipFill>
                <a:blip r:embed="rId2"/>
                <a:stretch>
                  <a:fillRect l="-1704" t="-2156" r="-2889" b="-39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54396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B44B87-FE08-4A2F-BC0D-1AF071335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Chi-squared distribution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937B8ED-F6CF-452A-A5D5-518CDB3A33F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US" altLang="zh-CN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are independent standard normal </a:t>
                </a:r>
                <a:r>
                  <a:rPr lang="en-US" altLang="zh-CN" dirty="0" err="1"/>
                  <a:t>r.v.</a:t>
                </a:r>
                <a:r>
                  <a:rPr lang="en-US" altLang="zh-CN" dirty="0"/>
                  <a:t>, then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+…+</m:t>
                    </m:r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is the chi-squared distribution with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degrees of freedom. Find the pdf of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.  </m:t>
                    </m:r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dirty="0"/>
                  <a:t>Aim: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follows a Gamma distribution with parameter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0.5,0.5</m:t>
                        </m:r>
                      </m:e>
                    </m:d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and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is also a Gamma distribution with parameter (n/2,1/2).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937B8ED-F6CF-452A-A5D5-518CDB3A33F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 t="-16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09824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9A28DF-C4D5-4D9F-A2B8-4AFA03537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Normal </a:t>
            </a:r>
            <a:r>
              <a:rPr lang="en-US" altLang="zh-CN" dirty="0" err="1"/>
              <a:t>r.v.</a:t>
            </a:r>
            <a:r>
              <a:rPr lang="en-US" altLang="zh-CN" dirty="0"/>
              <a:t> 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A60A521-FEF7-451B-A481-255B37F4BC2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CN" dirty="0"/>
                  <a:t>Proposition: For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dirty="0"/>
                  <a:t>,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are independent </a:t>
                </a:r>
                <a:r>
                  <a:rPr lang="en-US" altLang="zh-CN" dirty="0" err="1"/>
                  <a:t>r.v.</a:t>
                </a:r>
                <a:r>
                  <a:rPr lang="en-US" altLang="zh-CN" dirty="0"/>
                  <a:t> that are normally distributed with parameters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altLang="zh-CN" dirty="0"/>
                  <a:t>, then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is also normally distributed with parameters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</m:e>
                    </m:nary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and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Sup>
                          <m:sSub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nary>
                  </m:oMath>
                </a14:m>
                <a:r>
                  <a:rPr lang="en-US" altLang="zh-CN" dirty="0"/>
                  <a:t>. </a:t>
                </a:r>
                <a:r>
                  <a:rPr lang="zh-CN" altLang="en-US" dirty="0"/>
                  <a:t> 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A60A521-FEF7-451B-A481-255B37F4BC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16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54147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5FC379-9608-470C-A82D-EE89536BD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Poisson and Binomial </a:t>
            </a:r>
            <a:r>
              <a:rPr lang="en-US" altLang="zh-CN" dirty="0" err="1"/>
              <a:t>r.v.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58FFD9B-2FED-4E66-B4D7-E664E601DB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CN" dirty="0"/>
                  <a:t>Example 10. If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CN" dirty="0"/>
                  <a:t> and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altLang="zh-CN" dirty="0"/>
                  <a:t> are independent Poisson </a:t>
                </a:r>
                <a:r>
                  <a:rPr lang="en-US" altLang="zh-CN" dirty="0" err="1"/>
                  <a:t>r.v.</a:t>
                </a:r>
                <a:r>
                  <a:rPr lang="en-US" altLang="zh-CN" dirty="0"/>
                  <a:t> with parameters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dirty="0"/>
                  <a:t>, then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altLang="zh-CN" dirty="0"/>
                  <a:t> is also  a Poisson </a:t>
                </a:r>
                <a:r>
                  <a:rPr lang="en-US" altLang="zh-CN" dirty="0" err="1"/>
                  <a:t>r.v.</a:t>
                </a:r>
                <a:r>
                  <a:rPr lang="en-US" altLang="zh-CN" dirty="0"/>
                  <a:t> with parameter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dirty="0"/>
                  <a:t>.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58FFD9B-2FED-4E66-B4D7-E664E601DB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1617" r="-16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24471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0C557C-B904-46CC-9C18-BD0B24A8B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 11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D8AC1F0-BB79-4404-8A49-120040E6923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CN" dirty="0"/>
                  <a:t>Sum of independent binomial </a:t>
                </a:r>
                <a:r>
                  <a:rPr lang="en-US" altLang="zh-CN" dirty="0" err="1"/>
                  <a:t>r.v.</a:t>
                </a:r>
                <a:r>
                  <a:rPr lang="en-US" altLang="zh-CN" dirty="0"/>
                  <a:t> 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If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CN" dirty="0"/>
                  <a:t> and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altLang="zh-CN" dirty="0"/>
                  <a:t> are independent binomial </a:t>
                </a:r>
                <a:r>
                  <a:rPr lang="en-US" altLang="zh-CN" dirty="0" err="1"/>
                  <a:t>r.v.</a:t>
                </a:r>
                <a:r>
                  <a:rPr lang="en-US" altLang="zh-CN" dirty="0"/>
                  <a:t> with parameters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 and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, then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altLang="zh-CN" dirty="0"/>
                  <a:t> is also  a Binomial </a:t>
                </a:r>
                <a:r>
                  <a:rPr lang="en-US" altLang="zh-CN" dirty="0" err="1"/>
                  <a:t>r.v.</a:t>
                </a:r>
                <a:r>
                  <a:rPr lang="en-US" altLang="zh-CN" dirty="0"/>
                  <a:t> with parameter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.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D8AC1F0-BB79-4404-8A49-120040E692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1752" r="-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28243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57675</TotalTime>
  <Words>1648</Words>
  <Application>Microsoft Office PowerPoint</Application>
  <PresentationFormat>全屏显示(4:3)</PresentationFormat>
  <Paragraphs>129</Paragraphs>
  <Slides>27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3" baseType="lpstr">
      <vt:lpstr>宋体</vt:lpstr>
      <vt:lpstr>Arial</vt:lpstr>
      <vt:lpstr>Calibri</vt:lpstr>
      <vt:lpstr>Cambria Math</vt:lpstr>
      <vt:lpstr>Symbol</vt:lpstr>
      <vt:lpstr>Office Theme</vt:lpstr>
      <vt:lpstr>Puzzle</vt:lpstr>
      <vt:lpstr>Joint Distribution Functions</vt:lpstr>
      <vt:lpstr>Joint cdf</vt:lpstr>
      <vt:lpstr>Marginal cdf</vt:lpstr>
      <vt:lpstr>Joint Discrete r.v.’s</vt:lpstr>
      <vt:lpstr>Example 1</vt:lpstr>
      <vt:lpstr>PowerPoint 演示文稿</vt:lpstr>
      <vt:lpstr>Example 2</vt:lpstr>
      <vt:lpstr>Jointly Continuous r.v.’s</vt:lpstr>
      <vt:lpstr>PowerPoint 演示文稿</vt:lpstr>
      <vt:lpstr>Example 3</vt:lpstr>
      <vt:lpstr>Example 4</vt:lpstr>
      <vt:lpstr>Example 5</vt:lpstr>
      <vt:lpstr>6.2 Independent random variables</vt:lpstr>
      <vt:lpstr>independent discrete r.v.</vt:lpstr>
      <vt:lpstr>Example 6</vt:lpstr>
      <vt:lpstr>Example 7</vt:lpstr>
      <vt:lpstr>Continuous r.v.</vt:lpstr>
      <vt:lpstr>Example 8</vt:lpstr>
      <vt:lpstr>Sums of independent r.v.</vt:lpstr>
      <vt:lpstr>Example 9</vt:lpstr>
      <vt:lpstr>PowerPoint 演示文稿</vt:lpstr>
      <vt:lpstr>Examples Gamma r.v.</vt:lpstr>
      <vt:lpstr>Chi-squared distribution</vt:lpstr>
      <vt:lpstr>Normal r.v. </vt:lpstr>
      <vt:lpstr>Poisson and Binomial r.v.</vt:lpstr>
      <vt:lpstr>Example 11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AMS 311</dc:title>
  <dc:creator>Joe</dc:creator>
  <cp:lastModifiedBy>xing</cp:lastModifiedBy>
  <cp:revision>212</cp:revision>
  <dcterms:created xsi:type="dcterms:W3CDTF">2013-08-27T21:54:20Z</dcterms:created>
  <dcterms:modified xsi:type="dcterms:W3CDTF">2026-04-21T12:17:15Z</dcterms:modified>
</cp:coreProperties>
</file>